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90" r:id="rId7"/>
    <p:sldId id="276" r:id="rId8"/>
    <p:sldId id="277" r:id="rId9"/>
    <p:sldId id="278" r:id="rId10"/>
    <p:sldId id="289" r:id="rId11"/>
    <p:sldId id="275" r:id="rId12"/>
    <p:sldId id="272" r:id="rId13"/>
    <p:sldId id="273" r:id="rId14"/>
    <p:sldId id="279" r:id="rId15"/>
    <p:sldId id="292" r:id="rId16"/>
    <p:sldId id="259" r:id="rId17"/>
    <p:sldId id="260" r:id="rId18"/>
    <p:sldId id="261" r:id="rId19"/>
    <p:sldId id="280" r:id="rId20"/>
    <p:sldId id="281" r:id="rId21"/>
    <p:sldId id="282" r:id="rId22"/>
    <p:sldId id="262" r:id="rId23"/>
    <p:sldId id="284" r:id="rId24"/>
    <p:sldId id="285" r:id="rId25"/>
    <p:sldId id="286" r:id="rId26"/>
    <p:sldId id="287" r:id="rId27"/>
    <p:sldId id="288" r:id="rId28"/>
    <p:sldId id="263" r:id="rId29"/>
    <p:sldId id="264" r:id="rId30"/>
    <p:sldId id="265" r:id="rId31"/>
    <p:sldId id="266" r:id="rId32"/>
    <p:sldId id="267" r:id="rId33"/>
    <p:sldId id="291" r:id="rId34"/>
    <p:sldId id="268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47104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4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Machine-Level Programming II · Control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61320" y="6547104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4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课堂梳理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Machine-Level Programming II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1691640"/>
            <a:ext cx="8869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Control · 课堂梳理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41248" y="2633472"/>
            <a:ext cx="9692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Condition Codes 到 Branch / Loop / Switch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3273552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主线：状态 → 条件 → 控制转移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83880" y="1280160"/>
            <a:ext cx="28803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48472" y="1426464"/>
            <a:ext cx="25511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一张图看懂这一讲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48472" y="1792224"/>
            <a:ext cx="2551176" cy="2633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算术/逻辑运算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↓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Condition Codes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(CF / ZF / SF / OF)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↓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cmp / test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↓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setcc · jcc · cmovcc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↓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if · loop · switch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这节课到底在讲什么？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高级语言里的“控制结构”，在机器层面如何落地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核心主线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2331720" cy="2057400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D6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267712"/>
            <a:ext cx="658368" cy="658368"/>
          </a:xfrm>
          <a:prstGeom prst="ellipse">
            <a:avLst/>
          </a:prstGeom>
          <a:solidFill>
            <a:srgbClr val="315B8A"/>
          </a:solidFill>
          <a:ln w="12700">
            <a:solidFill>
              <a:srgbClr val="31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2404872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3063240"/>
            <a:ext cx="18196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产生状态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529584"/>
            <a:ext cx="1874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算术/逻辑指令修改 Flags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36392" y="3063240"/>
            <a:ext cx="292608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20440" y="2057400"/>
            <a:ext cx="2331720" cy="2057400"/>
          </a:xfrm>
          <a:prstGeom prst="roundRect">
            <a:avLst/>
          </a:prstGeom>
          <a:solidFill>
            <a:srgbClr val="F8ECEB"/>
          </a:solidFill>
          <a:ln w="12700">
            <a:solidFill>
              <a:srgbClr val="D6D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267712"/>
            <a:ext cx="658368" cy="658368"/>
          </a:xfrm>
          <a:prstGeom prst="ellipse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404872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76472" y="3063240"/>
            <a:ext cx="18196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读取状态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3529584"/>
            <a:ext cx="1874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cmp / test + 条件码组合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79592" y="3063240"/>
            <a:ext cx="292608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63640" y="2057400"/>
            <a:ext cx="2331720" cy="2057400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D6DC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267712"/>
            <a:ext cx="658368" cy="658368"/>
          </a:xfrm>
          <a:prstGeom prst="ellipse">
            <a:avLst/>
          </a:prstGeom>
          <a:solidFill>
            <a:srgbClr val="315B8A"/>
          </a:solidFill>
          <a:ln w="12700">
            <a:solidFill>
              <a:srgbClr val="315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2404872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9672" y="3063240"/>
            <a:ext cx="18196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改变路径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3529584"/>
            <a:ext cx="1874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jcc / cmovcc / indirect jump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22792" y="3063240"/>
            <a:ext cx="292608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06840" y="2057400"/>
            <a:ext cx="2331720" cy="2057400"/>
          </a:xfrm>
          <a:prstGeom prst="roundRect">
            <a:avLst/>
          </a:prstGeom>
          <a:solidFill>
            <a:srgbClr val="F8ECEB"/>
          </a:solidFill>
          <a:ln w="12700">
            <a:solidFill>
              <a:srgbClr val="D6D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9800" y="2267712"/>
            <a:ext cx="658368" cy="658368"/>
          </a:xfrm>
          <a:prstGeom prst="ellipse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2404872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62872" y="3063240"/>
            <a:ext cx="18196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还原结构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35440" y="3529584"/>
            <a:ext cx="1874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if · loop · switch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一句话：CPU 并不理解 if / while / switch，它只是在“根据状态选择下一条指令”。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05-machine-control.pdf, pp. 9–12, 59–60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Control 的底层基础：Processor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控制流不是抽象概念，而是由几个可见状态共同决定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Processor State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73936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%rax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67128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9424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%rbx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42616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24912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%rcx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18104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0040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%rdx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93592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675888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%rsi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151376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%rdi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80360" y="1691640"/>
            <a:ext cx="1737360" cy="347472"/>
          </a:xfrm>
          <a:prstGeom prst="roundRect">
            <a:avLst/>
          </a:prstGeom>
          <a:solidFill>
            <a:srgbClr val="F8ECEB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0088" y="1773936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%rsp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80360" y="2167128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0088" y="2249424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%rbp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80360" y="2642616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0088" y="2724912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80360" y="3118104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0088" y="320040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80360" y="3593592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0088" y="3675888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80360" y="4069080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0088" y="4151376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%r11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03520" y="1627632"/>
            <a:ext cx="2377440" cy="1188720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68112" y="1773936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5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%rip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68112" y="2139696"/>
            <a:ext cx="2048256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当前代码控制点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 Pointer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303520" y="3063240"/>
            <a:ext cx="2377440" cy="1188720"/>
          </a:xfrm>
          <a:prstGeom prst="roundRect">
            <a:avLst/>
          </a:prstGeom>
          <a:solidFill>
            <a:srgbClr val="F8ECEB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68112" y="3209544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%rsp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68112" y="3575304"/>
            <a:ext cx="2048256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运行时栈顶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Stack Pointer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412480" y="1682496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Condition Codes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321040" y="2240280"/>
            <a:ext cx="731520" cy="73152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C7D6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24048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229600" y="312724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89720" y="2240280"/>
            <a:ext cx="731520" cy="73152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C7D6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9720" y="24048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ZF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098280" y="312724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058400" y="2240280"/>
            <a:ext cx="731520" cy="73152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C7D6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0" y="24048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966960" y="312724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27080" y="2240280"/>
            <a:ext cx="731520" cy="73152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C7D6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27080" y="24048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835640" y="312724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Overflow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0" y="4572000"/>
            <a:ext cx="5806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Control 这一讲真正新增的是：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还会保存“刚才计算结果的状态”，后续分支直接读取这些状态。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p.13</a:t>
            </a:r>
            <a:endParaRPr lang="en-US" sz="7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965"/>
            <a:ext cx="5593715" cy="65239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035" y="3506470"/>
            <a:ext cx="6212205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" y="148590"/>
            <a:ext cx="7994650" cy="3568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" y="3502025"/>
            <a:ext cx="7670800" cy="324485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V="1">
            <a:off x="2748280" y="5156835"/>
            <a:ext cx="6585585" cy="37211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9427210" y="4940300"/>
            <a:ext cx="2577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%</a:t>
            </a:r>
            <a:r>
              <a:rPr lang="en-US" altLang="zh-CN"/>
              <a:t>rip -&gt; %rsp,ai</a:t>
            </a:r>
            <a:r>
              <a:rPr lang="zh-CN" altLang="en-US"/>
              <a:t>写错了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" y="248920"/>
            <a:ext cx="7480300" cy="2463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45132"/>
          <a:stretch>
            <a:fillRect/>
          </a:stretch>
        </p:blipFill>
        <p:spPr>
          <a:xfrm>
            <a:off x="96520" y="2956560"/>
            <a:ext cx="7296150" cy="7943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" y="4499610"/>
            <a:ext cx="3733800" cy="2273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b="64180"/>
          <a:stretch>
            <a:fillRect/>
          </a:stretch>
        </p:blipFill>
        <p:spPr>
          <a:xfrm>
            <a:off x="4696460" y="4448810"/>
            <a:ext cx="6725285" cy="8324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248920"/>
            <a:ext cx="5293360" cy="9563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390" y="1811020"/>
            <a:ext cx="5034280" cy="901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t="71120"/>
          <a:stretch>
            <a:fillRect/>
          </a:stretch>
        </p:blipFill>
        <p:spPr>
          <a:xfrm>
            <a:off x="4696460" y="5819140"/>
            <a:ext cx="6725285" cy="671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3540"/>
            <a:ext cx="12192000" cy="6090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825" y="1965325"/>
            <a:ext cx="5382895" cy="2628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210" y="908050"/>
            <a:ext cx="7106285" cy="3870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85" y="2267585"/>
            <a:ext cx="4843145" cy="20402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210" y="1818640"/>
            <a:ext cx="6463665" cy="2938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295" y="62865"/>
            <a:ext cx="8585200" cy="6496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25" y="1644015"/>
            <a:ext cx="5262245" cy="26955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775" y="533400"/>
            <a:ext cx="4686935" cy="52590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66165" y="728980"/>
            <a:ext cx="96405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但使用了</a:t>
            </a:r>
            <a:r>
              <a:rPr lang="en-US" altLang="zh-CN"/>
              <a:t> Og </a:t>
            </a:r>
            <a:r>
              <a:rPr lang="zh-CN" altLang="en-US"/>
              <a:t>优化后，编译器聪明地用其它方式来定位数据，大多数时候不会建立</a:t>
            </a:r>
            <a:r>
              <a:rPr lang="en-US" altLang="zh-CN"/>
              <a:t> frame-point, </a:t>
            </a:r>
            <a:r>
              <a:rPr lang="zh-CN" altLang="en-US"/>
              <a:t>从而</a:t>
            </a:r>
            <a:r>
              <a:rPr lang="en-US" altLang="zh-CN"/>
              <a:t> %rbp </a:t>
            </a:r>
            <a:r>
              <a:rPr lang="zh-CN" altLang="en-US"/>
              <a:t>更多作为通用寄存器使用了</a:t>
            </a:r>
            <a:r>
              <a:rPr lang="en-US" altLang="zh-CN"/>
              <a:t>(</a:t>
            </a:r>
            <a:r>
              <a:rPr lang="zh-CN" altLang="en-US"/>
              <a:t>被调用者保存</a:t>
            </a:r>
            <a:r>
              <a:rPr lang="en-US" altLang="zh-CN"/>
              <a:t>).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O0 </a:t>
            </a:r>
            <a:r>
              <a:rPr lang="zh-CN" altLang="en-US"/>
              <a:t>下，才容易观察到用</a:t>
            </a:r>
            <a:r>
              <a:rPr lang="en-US" altLang="zh-CN"/>
              <a:t> %rbp </a:t>
            </a:r>
            <a:r>
              <a:rPr lang="zh-CN" altLang="en-US"/>
              <a:t>作为栈帧基址。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9910" y="1277620"/>
            <a:ext cx="3929380" cy="5412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95" y="2060575"/>
            <a:ext cx="6307455" cy="3137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660" y="2759075"/>
            <a:ext cx="3472180" cy="33724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07085" y="737870"/>
            <a:ext cx="10152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但也有部分情况即便在</a:t>
            </a:r>
            <a:r>
              <a:rPr lang="en-US" altLang="zh-CN"/>
              <a:t> Og </a:t>
            </a:r>
            <a:r>
              <a:rPr lang="zh-CN" altLang="en-US"/>
              <a:t>下也仍采用</a:t>
            </a:r>
            <a:r>
              <a:rPr lang="en-US" altLang="zh-CN"/>
              <a:t> %rbp </a:t>
            </a:r>
            <a:r>
              <a:rPr lang="zh-CN" altLang="en-US"/>
              <a:t>定位，此时</a:t>
            </a:r>
            <a:r>
              <a:rPr lang="zh-CN" altLang="en-US"/>
              <a:t>可能是</a:t>
            </a:r>
            <a:r>
              <a:rPr lang="en-US" altLang="zh-CN"/>
              <a:t> %rsp </a:t>
            </a:r>
            <a:r>
              <a:rPr lang="zh-CN" altLang="en-US"/>
              <a:t>无法在编译时</a:t>
            </a:r>
            <a:r>
              <a:rPr lang="zh-CN" altLang="en-US"/>
              <a:t>确定。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005" y="2026285"/>
            <a:ext cx="4025265" cy="2396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35" y="1550670"/>
            <a:ext cx="3713480" cy="39122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四个核心 Condition Codes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把它们理解成“最近一次运算留下的 4 个 1-bit 结论”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CF · ZF · SF · OF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51760" cy="1828800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929384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5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ZF · Zero Flag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295144"/>
            <a:ext cx="2322576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结果是否为 0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ZF = 1 ⇔ result == 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20440" y="1783080"/>
            <a:ext cx="2651760" cy="182880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5032" y="1929384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7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SF · Sign Flag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85032" y="2295144"/>
            <a:ext cx="2322576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结果最高位是否为 1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有符号解释下常对应“负数”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2651760" cy="1828800"/>
          </a:xfrm>
          <a:prstGeom prst="roundRect">
            <a:avLst/>
          </a:prstGeom>
          <a:solidFill>
            <a:srgbClr val="F8F0E8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65392" y="1929384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6E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CF · Carry Flag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2295144"/>
            <a:ext cx="2322576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无符号加法的 carry / 减法的 borrow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主要服务 unsigned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81160" y="1783080"/>
            <a:ext cx="2286000" cy="1828800"/>
          </a:xfrm>
          <a:prstGeom prst="roundRect">
            <a:avLst/>
          </a:prstGeom>
          <a:solidFill>
            <a:srgbClr val="F8ECEB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45752" y="1929384"/>
            <a:ext cx="19568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 · Overflow Flag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45752" y="2295144"/>
            <a:ext cx="1956816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有符号补码溢出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正+正→负 / 负+负→正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1560" y="4069080"/>
            <a:ext cx="466344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4215384"/>
            <a:ext cx="4334256" cy="117043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addq Src, Dest   # t = Dest + Src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ZF: t ==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SF: t &lt; 0 (signed)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CF: unsigned overflow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OF: signed overflow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429768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注意：leaq 不修改 condition codes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83680" y="4846320"/>
            <a:ext cx="4251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这使它很适合“只计算地址/算术，但不破坏前面比较结果”的场景。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pp.14–18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cmp 与 test：只“算”，不保存结果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它们的目的不是得到数值，而是专门制造可供条件判断使用的 Flags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Flag Setter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257800" cy="1828800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1929384"/>
            <a:ext cx="49286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5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cmpq b,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295144"/>
            <a:ext cx="4928616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逻辑效果：计算 a - 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但不写回 a，只更新 CF / ZF / SF / OF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典型用途：大小比较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82880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1929384"/>
            <a:ext cx="49286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7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testq b,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2295144"/>
            <a:ext cx="4928616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逻辑效果：计算 a &amp; 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但不保存结果，只更新条件码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典型用途：判零 / 掩码检测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069080"/>
            <a:ext cx="374904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215384"/>
            <a:ext cx="3419856" cy="80467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testq %rax, %rax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je    .Lzero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4069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为什么能判零？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4462272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rax &amp; rax == rax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 ZF=1 ⇔ rax==0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4096512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高频易错：AT&amp;T 语法是 Src, Dest，所以 cmpq b, a 看的是 a-b。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pp.19–20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为什么 signed &lt; 要看 SF ⊕ OF？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真正理解这一点，就不用死背 jg / jl / ja / jb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Signed vs Unsigned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6916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 cmpq b, a 之后：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057400"/>
            <a:ext cx="4800600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203704"/>
            <a:ext cx="4471416" cy="43891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- b   # 结果不保存，只留下 flags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3063240"/>
            <a:ext cx="4800600" cy="1965960"/>
          </a:xfrm>
          <a:prstGeom prst="roundRect">
            <a:avLst/>
          </a:prstGeom>
          <a:solidFill>
            <a:srgbClr val="F8ECEB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" y="3209544"/>
            <a:ext cx="44714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Signed：a &lt; 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3575304"/>
            <a:ext cx="4471416" cy="1307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若没有 overflow：结果为负 ⇒ SF=1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 overflow 会把“结果符号”翻转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因此正确条件：SF ⊕ OF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97880" y="1691640"/>
            <a:ext cx="5394960" cy="1645920"/>
          </a:xfrm>
          <a:prstGeom prst="roundRect">
            <a:avLst/>
          </a:prstGeom>
          <a:solidFill>
            <a:srgbClr val="F8F0E8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62472" y="1837944"/>
            <a:ext cx="5065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6E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Unsigned：a &lt;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62472" y="2203704"/>
            <a:ext cx="5065776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减法需要 borrow 时 CF=1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因此 unsigned less 直接看 CF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25312" y="3611880"/>
            <a:ext cx="1645920" cy="384048"/>
          </a:xfrm>
          <a:prstGeom prst="rect">
            <a:avLst/>
          </a:prstGeom>
          <a:solidFill>
            <a:srgbClr val="1F2A44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694176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26680" y="3611880"/>
            <a:ext cx="1645920" cy="384048"/>
          </a:xfrm>
          <a:prstGeom prst="rect">
            <a:avLst/>
          </a:prstGeom>
          <a:solidFill>
            <a:srgbClr val="1F2A44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63256" y="3694176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Signed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55480" y="3611880"/>
            <a:ext cx="1600200" cy="384048"/>
          </a:xfrm>
          <a:prstGeom prst="rect">
            <a:avLst/>
          </a:prstGeom>
          <a:solidFill>
            <a:srgbClr val="1F2A44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2056" y="3694176"/>
            <a:ext cx="1527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Unsigned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25312" y="3995928"/>
            <a:ext cx="16459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4078224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&lt;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26680" y="3995928"/>
            <a:ext cx="16459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63256" y="4078224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jl / setl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55480" y="3995928"/>
            <a:ext cx="16002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92056" y="4078224"/>
            <a:ext cx="1527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jb / setb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25312" y="4379976"/>
            <a:ext cx="1645920" cy="384048"/>
          </a:xfrm>
          <a:prstGeom prst="rect">
            <a:avLst/>
          </a:prstGeom>
          <a:solidFill>
            <a:srgbClr val="F1F4F8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4462272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26680" y="4379976"/>
            <a:ext cx="1645920" cy="384048"/>
          </a:xfrm>
          <a:prstGeom prst="rect">
            <a:avLst/>
          </a:prstGeom>
          <a:solidFill>
            <a:srgbClr val="F1F4F8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63256" y="4462272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jle / setle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55480" y="4379976"/>
            <a:ext cx="1600200" cy="384048"/>
          </a:xfrm>
          <a:prstGeom prst="rect">
            <a:avLst/>
          </a:prstGeom>
          <a:solidFill>
            <a:srgbClr val="F1F4F8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92056" y="4462272"/>
            <a:ext cx="1527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jbe / setbe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25312" y="4764024"/>
            <a:ext cx="16459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4846320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&gt;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26680" y="4764024"/>
            <a:ext cx="16459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63256" y="4846320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jg / setg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555480" y="4764024"/>
            <a:ext cx="16002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92056" y="4846320"/>
            <a:ext cx="1527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ja / seta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925312" y="5148072"/>
            <a:ext cx="1645920" cy="384048"/>
          </a:xfrm>
          <a:prstGeom prst="rect">
            <a:avLst/>
          </a:prstGeom>
          <a:solidFill>
            <a:srgbClr val="F1F4F8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61888" y="523036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726680" y="5148072"/>
            <a:ext cx="1645920" cy="384048"/>
          </a:xfrm>
          <a:prstGeom prst="rect">
            <a:avLst/>
          </a:prstGeom>
          <a:solidFill>
            <a:srgbClr val="F1F4F8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63256" y="523036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jge / setge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555480" y="5148072"/>
            <a:ext cx="1600200" cy="384048"/>
          </a:xfrm>
          <a:prstGeom prst="rect">
            <a:avLst/>
          </a:prstGeom>
          <a:solidFill>
            <a:srgbClr val="F1F4F8"/>
          </a:solidFill>
          <a:ln w="8890">
            <a:solidFill>
              <a:srgbClr val="D5DA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92056" y="5230368"/>
            <a:ext cx="1527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jae / setae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pp.21–22, 27</a:t>
            </a:r>
            <a:endParaRPr lang="en-US" sz="7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85" y="583565"/>
            <a:ext cx="9621520" cy="554799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6763385" y="5039995"/>
            <a:ext cx="1964690" cy="23495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" y="1035050"/>
            <a:ext cx="8290560" cy="58229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" y="285750"/>
            <a:ext cx="8493760" cy="1795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2080895"/>
            <a:ext cx="8453120" cy="18865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3967480"/>
            <a:ext cx="8595995" cy="1558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495" y="5205730"/>
            <a:ext cx="4643120" cy="13912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同一组 Flags，三种读取方式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这是整节课最值得建立的统一模型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setcc · jcc · cmovcc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2880360" cy="914400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76479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Condition Codes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CF / ZF / SF / OF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40280" y="2487168"/>
            <a:ext cx="3867912" cy="576072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063240"/>
            <a:ext cx="2651760" cy="1600200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273552"/>
            <a:ext cx="23225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5B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setcc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79476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把条件变成 0 / 1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产生布尔值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9320" y="2487168"/>
            <a:ext cx="118872" cy="576072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3063240"/>
            <a:ext cx="2651760" cy="1600200"/>
          </a:xfrm>
          <a:prstGeom prst="roundRect">
            <a:avLst/>
          </a:prstGeom>
          <a:solidFill>
            <a:srgbClr val="F8ECEB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3273552"/>
            <a:ext cx="23225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41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jcc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92040" y="379476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满足条件就跳转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改变 %rip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08192" y="2487168"/>
            <a:ext cx="3630168" cy="576072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12480" y="3063240"/>
            <a:ext cx="2651760" cy="160020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D4D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3273552"/>
            <a:ext cx="23225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7A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cmovcc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41080" y="379476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满足条件才搬数据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不改变控制流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516636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同一个条件可以选择：把它“物化成值”、拿它“跳转”、或让它“控制数据选择”。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pp.21, 27, 31–32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655" y="622935"/>
            <a:ext cx="7766050" cy="5092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91995" y="5943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只会修改最低的</a:t>
            </a:r>
            <a:r>
              <a:rPr lang="en-US" altLang="zh-CN"/>
              <a:t> 1 </a:t>
            </a:r>
            <a:r>
              <a:rPr lang="zh-CN" altLang="en-US"/>
              <a:t>字节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014095"/>
            <a:ext cx="8820150" cy="31559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14295" y="45434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当然会同时将</a:t>
            </a:r>
            <a:r>
              <a:rPr lang="en-US" altLang="zh-CN"/>
              <a:t> %rax </a:t>
            </a:r>
            <a:r>
              <a:rPr lang="zh-CN" altLang="en-US"/>
              <a:t>的高</a:t>
            </a:r>
            <a:r>
              <a:rPr lang="en-US" altLang="zh-CN"/>
              <a:t>32</a:t>
            </a:r>
            <a:r>
              <a:rPr lang="zh-CN" altLang="en-US"/>
              <a:t>位</a:t>
            </a:r>
            <a:r>
              <a:rPr lang="zh-CN" altLang="en-US"/>
              <a:t>清空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160020"/>
            <a:ext cx="7372350" cy="5930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132570" y="3484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后缀跟</a:t>
            </a:r>
            <a:r>
              <a:rPr lang="en-US" altLang="zh-CN"/>
              <a:t> setX </a:t>
            </a:r>
            <a:r>
              <a:rPr lang="zh-CN" altLang="en-US"/>
              <a:t>是一套</a:t>
            </a:r>
            <a:r>
              <a:rPr lang="zh-CN" altLang="en-US"/>
              <a:t>的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80" y="381000"/>
            <a:ext cx="6788785" cy="55543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762365" y="422529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同样一套</a:t>
            </a:r>
            <a:r>
              <a:rPr lang="zh-CN" altLang="en-US"/>
              <a:t>后缀。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注意不是</a:t>
            </a:r>
            <a:r>
              <a:rPr lang="en-US" altLang="zh-CN"/>
              <a:t> c move</a:t>
            </a:r>
            <a:endParaRPr lang="en-US" altLang="zh-CN"/>
          </a:p>
          <a:p>
            <a:r>
              <a:rPr lang="zh-CN" altLang="en-US"/>
              <a:t>而是</a:t>
            </a:r>
            <a:r>
              <a:rPr lang="en-US" altLang="zh-CN"/>
              <a:t> cmov e(qual)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40" y="2226945"/>
            <a:ext cx="11446510" cy="18916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if-else：机器世界里就是“比较 + 条件跳转 + label”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把高级结构拆成 basic blocks，汇编就会非常清楚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Conditional Branch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9319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92224"/>
            <a:ext cx="3602736" cy="153619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long absdiff(long x, long y)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(x &gt; 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x-y;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else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y-x;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481328"/>
            <a:ext cx="38862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54112" y="1627632"/>
            <a:ext cx="3557016" cy="263347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cmpq %rsi, %rdi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jle  .Lelse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%rdi, %rax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subq %rsi, %rax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.Lelse: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%rsi, %rax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subq %rdi, %rax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5074920" y="1691640"/>
            <a:ext cx="1828800" cy="56692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865376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5B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cmp x, 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40680" y="2578608"/>
            <a:ext cx="1097280" cy="822960"/>
          </a:xfrm>
          <a:prstGeom prst="diamond">
            <a:avLst/>
          </a:prstGeom>
          <a:solidFill>
            <a:srgbClr val="F8ECEB"/>
          </a:solidFill>
          <a:ln w="12700">
            <a:solidFill>
              <a:srgbClr val="D8C7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3832" y="2880360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&gt; y 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2258568"/>
            <a:ext cx="0" cy="320040"/>
          </a:xfrm>
          <a:prstGeom prst="line">
            <a:avLst/>
          </a:prstGeom>
          <a:noFill/>
          <a:ln w="2032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3840480"/>
            <a:ext cx="1783080" cy="694944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CBD9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08736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7A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 - 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3840480"/>
            <a:ext cx="1783080" cy="694944"/>
          </a:xfrm>
          <a:prstGeom prst="roundRect">
            <a:avLst/>
          </a:prstGeom>
          <a:solidFill>
            <a:srgbClr val="F8F0E8"/>
          </a:solidFill>
          <a:ln w="12700">
            <a:solidFill>
              <a:srgbClr val="DED0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8736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6E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 - 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68112" y="3291840"/>
            <a:ext cx="64008" cy="548640"/>
          </a:xfrm>
          <a:prstGeom prst="line">
            <a:avLst/>
          </a:prstGeom>
          <a:noFill/>
          <a:ln w="19050">
            <a:solidFill>
              <a:srgbClr val="4C7A5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46520" y="3291840"/>
            <a:ext cx="850392" cy="548640"/>
          </a:xfrm>
          <a:prstGeom prst="line">
            <a:avLst/>
          </a:prstGeom>
          <a:noFill/>
          <a:ln w="19050">
            <a:solidFill>
              <a:srgbClr val="C2413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103120" y="5074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本质：控制流图（CFG）由 branch 把执行路径分叉。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pp.28–30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Conditional Move：有时“不跳”反而更快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branch vs branchless，本质是性能与语义安全之间的 trade-off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cmovcc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4663440" cy="2423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73936"/>
            <a:ext cx="4334256" cy="213055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%rdi, %rax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subq %rsi, %rax      # x-y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%rsi, %rdx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subq %rdi, %rdx      # y-x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cmpq %rsi, %rdi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cmovle %rdx, %rax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645920"/>
            <a:ext cx="2606040" cy="201168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71032" y="1792224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7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为什么可能更快？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71032" y="2157984"/>
            <a:ext cx="2276856" cy="1353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分支会打断流水线。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如果预测错，需要丢弃错误路径上的工作。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cmov 不发生控制转移。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0" y="1645920"/>
            <a:ext cx="2606040" cy="2011680"/>
          </a:xfrm>
          <a:prstGeom prst="roundRect">
            <a:avLst/>
          </a:prstGeom>
          <a:solidFill>
            <a:srgbClr val="F8ECEB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51392" y="1792224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为什么不总是用？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51392" y="2157984"/>
            <a:ext cx="2276856" cy="1353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两边的值可能都要提前算出来。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昂贵 / 不安全 / 有副作用时，不适合 branchless。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49884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7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 cmov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451713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简单、无副作用、分支难预测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4988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不适合 cmov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43800" y="451713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Hard1/Hard2、p ? *p : 0、带副作用表达式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828800" y="5321808"/>
            <a:ext cx="8503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关键判断：branch prediction 的代价 vs 提前计算两边的代价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pp.31–33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循环：识别“back edge”，不要寻找不存在的 while 指令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do-while / while / for 最终都落成 label + conditional jump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Loops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429000" cy="2286000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792224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5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do-while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157984"/>
            <a:ext cx="3099816" cy="162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loop: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Body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if (Test)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goto loop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特点：先执行 Body，再判断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429000" cy="228600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1792224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7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while · jump-to-middle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157984"/>
            <a:ext cx="3099816" cy="162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goto test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loop: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Body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test: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if (Test) goto loop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特点：第一次先测试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429000" cy="2286000"/>
          </a:xfrm>
          <a:prstGeom prst="roundRect">
            <a:avLst/>
          </a:prstGeom>
          <a:solidFill>
            <a:srgbClr val="F8F0E8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1792224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6E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2157984"/>
            <a:ext cx="3099816" cy="162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Init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while (Test)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Body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Update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先转成 while，再看汇编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0" y="4224528"/>
            <a:ext cx="4846320" cy="914400"/>
          </a:xfrm>
          <a:prstGeom prst="arc">
            <a:avLst/>
          </a:prstGeom>
          <a:solidFill>
            <a:srgbClr val="F6F8FB">
              <a:alpha val="0"/>
            </a:srgbClr>
          </a:solidFill>
          <a:ln w="38100">
            <a:solidFill>
              <a:srgbClr val="C2413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828800" y="502920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Back edge：向“更早的 label”跳回去，通常就是循环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pp.37–47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Loop Example：popcount 的 do-while 翻译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用一个例子把数据操作与控制操作放在一起看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Example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4160520" cy="3017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55064"/>
            <a:ext cx="3831336" cy="272491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long pcount(unsigned long x) {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long result = 0;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do {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result += x &amp; 1;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x &gt;&gt;= 1;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while (x);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result;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60" dirty="0"/>
          </a:p>
        </p:txBody>
      </p:sp>
      <p:sp>
        <p:nvSpPr>
          <p:cNvPr id="8" name="Shape 6"/>
          <p:cNvSpPr/>
          <p:nvPr/>
        </p:nvSpPr>
        <p:spPr>
          <a:xfrm>
            <a:off x="7132320" y="1508760"/>
            <a:ext cx="4389120" cy="3017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96912" y="1655064"/>
            <a:ext cx="4059936" cy="272491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movl $0, %eax        # result = 0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.L2: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movq %rdi, %rdx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andl $1, %edx         # x &amp; 1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addq %rdx, %rax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shrq %rdi             # x &gt;&gt;= 1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jne  .L2              # x != 0 ?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5074920" y="2834640"/>
            <a:ext cx="1737360" cy="0"/>
          </a:xfrm>
          <a:prstGeom prst="line">
            <a:avLst/>
          </a:prstGeom>
          <a:noFill/>
          <a:ln w="27940">
            <a:solidFill>
              <a:srgbClr val="C2413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188720" y="4937760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jne 为什么能直接判断 x？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4901184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shrq 会更新 ZF；移位后 x==0 时 ZF=1，因此 jne 不跳。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5504688"/>
            <a:ext cx="9692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读汇编时要追“谁最后修改了 flags”，不一定总是 cmp/test。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pp.37–39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Switch：密集 case 常被编译成 Jump Table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核心是“数组索引 + 间接跳转”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Switch / Jump Table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6002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视角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2926080" cy="3063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66544"/>
            <a:ext cx="2596896" cy="277063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switch (x)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case 1: 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case 2: 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case 3: 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case 5: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case 6: 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default: 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16002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机器视角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69080" y="1920240"/>
            <a:ext cx="324612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2066544"/>
            <a:ext cx="2916936" cy="117043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cmpq $6, %rdi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ja   .Ldefault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jmp  *.L4(,%rdi,8)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1600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Jump Table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1938528"/>
            <a:ext cx="2743200" cy="384048"/>
          </a:xfrm>
          <a:prstGeom prst="rect">
            <a:avLst/>
          </a:prstGeom>
          <a:solidFill>
            <a:srgbClr val="F1F4F8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029968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  →  default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237744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468880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  →  case1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01000" y="2816352"/>
            <a:ext cx="2743200" cy="384048"/>
          </a:xfrm>
          <a:prstGeom prst="rect">
            <a:avLst/>
          </a:prstGeom>
          <a:solidFill>
            <a:srgbClr val="F1F4F8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907792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  →  case2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01000" y="325526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334670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  →  case3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3694176"/>
            <a:ext cx="2743200" cy="384048"/>
          </a:xfrm>
          <a:prstGeom prst="rect">
            <a:avLst/>
          </a:prstGeom>
          <a:solidFill>
            <a:srgbClr val="F1F4F8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785616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  →  default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01000" y="413308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224528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  →  case5/6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01000" y="4572000"/>
            <a:ext cx="2743200" cy="384048"/>
          </a:xfrm>
          <a:prstGeom prst="rect">
            <a:avLst/>
          </a:prstGeom>
          <a:solidFill>
            <a:srgbClr val="F1F4F8"/>
          </a:solidFill>
          <a:ln w="12700">
            <a:solidFill>
              <a:srgbClr val="D7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4663440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  →  case5/6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11880" y="2834640"/>
            <a:ext cx="320040" cy="0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06640" y="2834640"/>
            <a:ext cx="411480" cy="0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069080" y="39319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×8？每个表项存的是 64-bit 代码地址。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069080" y="4754880"/>
            <a:ext cx="6766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同一个目标 label 可以被多个 case 共享；缺失 case 可以直接指向 default。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pp.49–58</a:t>
            </a:r>
            <a:endParaRPr lang="en-US" sz="7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45" y="5623560"/>
            <a:ext cx="8792210" cy="4895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230" y="604520"/>
            <a:ext cx="2755265" cy="52749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35710"/>
            <a:ext cx="3905250" cy="3276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105" y="741680"/>
            <a:ext cx="3634105" cy="52000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一个很典型的编译器技巧：用 unsigned range check 同时处理两端越界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 ja 的 unsigned 语义，就能看懂 switch 前的边界检查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387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Compiler Trick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56616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83664"/>
            <a:ext cx="3236976" cy="94183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cmpq $6, %rdi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ja   .Ldefault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17556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直觉上：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17556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“x &gt; 6 时去 default”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230428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 ja 是 unsigned above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3337560"/>
            <a:ext cx="3154680" cy="1463040"/>
          </a:xfrm>
          <a:prstGeom prst="roundRect">
            <a:avLst/>
          </a:prstGeom>
          <a:solidFill>
            <a:srgbClr val="F8F0E8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33272" y="3483864"/>
            <a:ext cx="28254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6E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= 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3272" y="3849624"/>
            <a:ext cx="2825496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unsigned 7 &gt; 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ja 成立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26280" y="3337560"/>
            <a:ext cx="3154680" cy="1463040"/>
          </a:xfrm>
          <a:prstGeom prst="roundRect">
            <a:avLst/>
          </a:prstGeom>
          <a:solidFill>
            <a:srgbClr val="F8ECEB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90872" y="3483864"/>
            <a:ext cx="28254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1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= -1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90872" y="3849624"/>
            <a:ext cx="2825496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unsigned 看：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0xFFFF...FFFF &gt;&gt; 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ja 也成立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3154680" cy="1463040"/>
          </a:xfrm>
          <a:prstGeom prst="roundRect">
            <a:avLst/>
          </a:prstGeom>
          <a:solidFill>
            <a:srgbClr val="EDF4EE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AAB2C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48472" y="3483864"/>
            <a:ext cx="28254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7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≤ x ≤ 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48472" y="3849624"/>
            <a:ext cx="2825496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 不成立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安全索引 Jump Table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11680" y="5257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 unsigned 比较，同时覆盖 x &lt; 0 和 x &gt; 6。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726680" y="627278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99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pp.51–53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47104"/>
            <a:ext cx="2286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B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4568</Words>
  <Application>WPS 演示</Application>
  <PresentationFormat>On-screen Show (16:9)</PresentationFormat>
  <Paragraphs>545</Paragraphs>
  <Slides>32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9" baseType="lpstr">
      <vt:lpstr>Arial</vt:lpstr>
      <vt:lpstr>宋体</vt:lpstr>
      <vt:lpstr>Wingdings</vt:lpstr>
      <vt:lpstr>Aptos</vt:lpstr>
      <vt:lpstr>Segoe UI</vt:lpstr>
      <vt:lpstr>微软雅黑</vt:lpstr>
      <vt:lpstr>微软雅黑</vt:lpstr>
      <vt:lpstr>Aptos</vt:lpstr>
      <vt:lpstr>Aptos</vt:lpstr>
      <vt:lpstr>Aptos</vt:lpstr>
      <vt:lpstr>Courier New</vt:lpstr>
      <vt:lpstr>Courier New</vt:lpstr>
      <vt:lpstr>Courier New</vt:lpstr>
      <vt:lpstr>Arial Unicode MS</vt:lpstr>
      <vt:lpstr>等线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Machine-Level Programming II: Control</dc:title>
  <dc:creator>OpenAI</dc:creator>
  <dc:subject>Machine-Level Programming II: Control 课堂梳理</dc:subject>
  <cp:lastModifiedBy>我是大兲</cp:lastModifiedBy>
  <cp:revision>57</cp:revision>
  <dcterms:created xsi:type="dcterms:W3CDTF">2026-09-21T14:14:00Z</dcterms:created>
  <dcterms:modified xsi:type="dcterms:W3CDTF">2026-09-23T06:55:41Z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D599CC9CB2624631BAAD03D8428358E7_12</vt:lpwstr>
  </property>
  <property fmtid="{D5CDD505-2E9C-101B-9397-08002B2CF9AE}" pid="3" name="KSOProductBuildVer">
    <vt:lpwstr>2052-12.1.0.28043</vt:lpwstr>
  </property>
</Properties>
</file>