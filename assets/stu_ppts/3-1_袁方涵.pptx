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-1"/>
          <p:cNvSpPr>
            <a:spLocks noGrp="1"/>
          </p:cNvSpPr>
          <p:nvPr/>
        </p:nvSpPr>
        <p:spPr>
          <a:xfrm>
            <a:off x="762000" y="1943100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480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机器级程序：基础</a:t>
            </a:r>
            <a:endParaRPr sz="480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"/>
          <p:cNvSpPr>
            <a:spLocks noGrp="1"/>
          </p:cNvSpPr>
          <p:nvPr/>
        </p:nvSpPr>
        <p:spPr>
          <a:xfrm>
            <a:off x="800100" y="30575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小班回课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"/>
          <p:cNvSpPr>
            <a:spLocks noGrp="1"/>
          </p:cNvSpPr>
          <p:nvPr/>
        </p:nvSpPr>
        <p:spPr>
          <a:xfrm>
            <a:off x="800100" y="430530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一条指令，怎样改变寄存器和内存？</a:t>
            </a:r>
            <a:endParaRPr sz="27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指令集架构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ISA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6764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8086：16 位     IA-32：32 位     x86-64：64 位</a:t>
            </a:r>
            <a:endParaRPr sz="25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4193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x86-64 由 AMD 扩展，Intel 随后采用兼容方案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4290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ISA：指令语义、寄存器、程序可见的规则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40957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微体系结构：处理器如何实现这些规则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52387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</a:t>
            </a: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x86-64、Linux、AT&amp;T 语法</a:t>
            </a:r>
            <a:endParaRPr sz="2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C、汇编与机器码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621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.c     编译     .s     汇编     .o     链接     可执行文件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314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汇编是指令的文本表示，机器码是指令的字节编码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0575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%rax, (%rbx)       48 89 03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4010025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-Og -S demo.c</a:t>
            </a:r>
            <a:endParaRPr sz="21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5905500" y="4010025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查看编译器生成的汇编</a:t>
            </a:r>
            <a:endParaRPr sz="21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455295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objdump -d demo.o</a:t>
            </a:r>
            <a:endParaRPr sz="21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5905500" y="4552950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从目标文件反汇编</a:t>
            </a:r>
            <a:endParaRPr sz="21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536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反汇编能恢复指令，通常不能恢复原来的变量名和 C 源码</a:t>
            </a:r>
            <a:endParaRPr sz="20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汇编文件中的指令与辅助信息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240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读运行逻辑时，可以暂略部分辅助信息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324100"/>
            <a:ext cx="5715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/ pushq / call / ret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905625" y="232410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编码成 CPU 执行的指令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076575"/>
            <a:ext cx="5715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.globl / .type / .size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905625" y="3076575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描述符号的可见性、类型和大小</a:t>
            </a:r>
            <a:endParaRPr sz="20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3829050"/>
            <a:ext cx="5715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.cfi_*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905625" y="38290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提供栈回溯和展开规则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4581525"/>
            <a:ext cx="5715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sumstore: / .LFB35: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6905625" y="4581525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给代码位置命名的标签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781050" y="56007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“可以暂略”仅针对当前阅读目标，不等于可以随意删除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机器可见状态与数据宽度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5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程序计数器（</a:t>
            </a: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</a:t>
            </a: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），寄存器文件，条件码，</a:t>
            </a: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1526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基本的</a:t>
            </a: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x86-64</a:t>
            </a: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模型中有 16 个通用整数寄存器，%rsp 用作栈指针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27527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内存按字节编址，</a:t>
            </a:r>
            <a:r>
              <a:rPr lang="zh-CN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地址相差</a:t>
            </a:r>
            <a:r>
              <a:rPr lang="en-US" altLang="zh-CN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表示位置相差</a:t>
            </a:r>
            <a:r>
              <a:rPr lang="en-US" altLang="zh-CN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字节</a:t>
            </a:r>
            <a:endParaRPr lang="zh-CN" altLang="en-US"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7433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8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%rax / %eax / %ax / %al</a:t>
            </a:r>
            <a:endParaRPr sz="28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43053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同一寄存器的 64 / 32 / 16 / 8 位视图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50958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/ w / l / q 对应 1 / 2 / 4 / 8 字节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81050" y="56864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</a:t>
            </a:r>
            <a:r>
              <a:rPr lang="zh-CN"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采用的</a:t>
            </a:r>
            <a:r>
              <a: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Linux 数据模型：int 为 4 字节，long 和指针为 8 字节</a:t>
            </a:r>
            <a:endParaRPr sz="18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%rsp：栈</a:t>
            </a:r>
            <a:r>
              <a:rPr 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</a:t>
            </a:r>
            <a:r>
              <a:rPr 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</a:t>
            </a:r>
            <a:endParaRPr lang="zh-CN"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5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栈是内存中的一块区域，%rsp 保存当前栈顶的地址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1526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栈按后进先出的方式使用，压栈时向较小地址增长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0861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 rsp = 0x1000，rax = 42，依次执行：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73380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pushq %rax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5286375" y="3733800"/>
            <a:ext cx="6096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rsp = 0xff8，M8[0xff8] = 42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4391025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popq %rbx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5286375" y="4391025"/>
            <a:ext cx="6096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rbx = 42，rsp 恢复为 0x1000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52863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函数调用：</a:t>
            </a: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call 保存返回地址，ret 从栈顶取出返回地址</a:t>
            </a:r>
            <a:r>
              <a:rPr lang="zh-CN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，同样用到</a:t>
            </a:r>
            <a:r>
              <a:rPr lang="en-US" altLang="zh-CN"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%rsp</a:t>
            </a:r>
            <a:endParaRPr lang="en-US" altLang="zh-CN"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5325" y="5877560"/>
            <a:ext cx="9675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因此，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%rsp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不能用来随便保存临时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计算结果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汇编语言基本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335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AT&amp;T 顺序：指令  源操作数, 目的操作数</a:t>
            </a:r>
            <a:endParaRPr sz="25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800100" y="23812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$8</a:t>
            </a:r>
            <a:endParaRPr sz="262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3286125" y="2381250"/>
            <a:ext cx="7429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立即数：常数 8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00100" y="30289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%rax</a:t>
            </a:r>
            <a:endParaRPr sz="262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286125" y="3028950"/>
            <a:ext cx="7429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寄存器：rax 中保存的值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00100" y="3676650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(%rax)</a:t>
            </a:r>
            <a:endParaRPr sz="262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3286125" y="3676650"/>
            <a:ext cx="7715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内存：把 rax 中的值作为地址</a:t>
            </a: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M[%rax]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46863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%rax, (%rdx)</a:t>
            </a:r>
            <a:endParaRPr sz="27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781050" y="53149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 8 字节到内存；普通 mov 不支持两个内存操作数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有效地址的计算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5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2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2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D(Rb, Ri, S)</a:t>
            </a:r>
            <a:endParaRPr sz="322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1907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6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有效地址 = D + R[Rb] + S × R[Ri]</a:t>
            </a:r>
            <a:endParaRPr sz="26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29432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是字节偏移，S </a:t>
            </a:r>
            <a:r>
              <a:rPr lang="zh-CN"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是比例因子，</a:t>
            </a:r>
            <a:r>
              <a:rPr lang="en-US" altLang="zh-CN"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只能取 1、2、4、8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8195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 %rdx = 0x100，%rcx = 3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44291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8(%rdx,%rcx,8)</a:t>
            </a:r>
            <a:endParaRPr sz="27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50101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0x100 + 3 × 8 + 8 = 0x120</a:t>
            </a:r>
            <a:endParaRPr sz="262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81050" y="57054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 rdx 指向 long 数组首元素，该地址对应 a[4]</a:t>
            </a:r>
            <a:endParaRPr sz="18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比例因子为什么是 1、2、4、8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5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直接原因：SIB 寻址编码用 2 位表示比例因子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45745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019425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比例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3143250" y="24574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00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228975" y="301942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5143500" y="24574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5229225" y="301942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143750" y="24574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7229475" y="301942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9144000" y="24574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11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9229725" y="301942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781050" y="39433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= 2 的 k 次方，索引乘 S 等价于左移 k 位（k = 0…3）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781050" y="45720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便于访问 1、2、4、8 字节元素的数组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14"/>
          <p:cNvSpPr>
            <a:spLocks noGrp="1"/>
          </p:cNvSpPr>
          <p:nvPr/>
        </p:nvSpPr>
        <p:spPr>
          <a:xfrm>
            <a:off x="781050" y="53435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3、12 等其他步长：先算偏移，再组成有效地址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15"/>
          <p:cNvSpPr>
            <a:spLocks noGrp="1"/>
          </p:cNvSpPr>
          <p:nvPr/>
        </p:nvSpPr>
        <p:spPr>
          <a:xfrm>
            <a:off x="781050" y="58959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只缩放索引；实际读写宽度仍由 movb / movl / movq 等决定</a:t>
            </a:r>
            <a:endParaRPr sz="18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swap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049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初始：rdi = 0x100，rsi = 0x120；两处 long 值为 123、456</a:t>
            </a:r>
            <a:endParaRPr sz="21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90575" y="2362200"/>
            <a:ext cx="5619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(%rdi), %rax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124700" y="2362200"/>
            <a:ext cx="4191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rax = 123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90575" y="3028950"/>
            <a:ext cx="5619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(%rsi), %rdx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124700" y="3028950"/>
            <a:ext cx="4191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rdx = 456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90575" y="3695700"/>
            <a:ext cx="5619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%rdx, (%rdi)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124700" y="369570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M8[0x100] = 456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90575" y="4362450"/>
            <a:ext cx="5619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%rax, (%rsi)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7124700" y="436245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M8[0x120] = 123</a:t>
            </a:r>
            <a:endParaRPr sz="240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781050" y="54102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交换了两个内存值，rdi 和 rsi 中的地址保持不变</a:t>
            </a:r>
            <a:endParaRPr sz="2325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 与 lea：值和地址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430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 %rdx = 0x100，%rcx = 3，M8[0x120] = 99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4479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8(%rdx,%rcx,8), %rax</a:t>
            </a:r>
            <a:endParaRPr sz="27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0384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计算地址，再读取该地址处的 8 字节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40195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leaq 8(%rdx,%rcx,8), %rax</a:t>
            </a:r>
            <a:endParaRPr sz="27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46101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只计算地址表达式，把结果存入寄存器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55149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两条指令分别执行后，rax 中的值是多少</a:t>
            </a: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一些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算术与逻辑指令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621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addq S, D       D = D + S</a:t>
            </a:r>
            <a:endParaRPr sz="24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1240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subq S, D       D = D - S</a:t>
            </a:r>
            <a:endParaRPr sz="24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26860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imulq S, D      D = D * S</a:t>
            </a:r>
            <a:endParaRPr sz="24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5667375" y="26860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（低 64 位）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35623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andq / orq / xorq：逐位与 / 或 / 异或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41433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incq / decq：加一 / 减一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81050" y="47244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negq / notq：取负 / 按位取反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55816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subq %rax, %rdx  表示 rdx 减去 rax，结果写回 rdx</a:t>
            </a:r>
            <a:endParaRPr sz="210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移位与符号位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5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salq / shlq：左移，低位补 0</a:t>
            </a:r>
            <a:endParaRPr sz="25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2002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sarq：算术右移，高位复制符号位</a:t>
            </a:r>
            <a:endParaRPr sz="25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28479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shrq：逻辑右移，高位补 0</a:t>
            </a:r>
            <a:endParaRPr sz="25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8100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 %rax = -8，每次独立右移 1 位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43910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sarq $1, %rax     -4</a:t>
            </a:r>
            <a:endParaRPr sz="24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49625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shrq $1, %rax     0x7ffffffffffffffc</a:t>
            </a:r>
            <a:endParaRPr sz="24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lang="en-US" alt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</a:t>
            </a:r>
            <a:r>
              <a:rPr lang="zh-CN" altLang="en-US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算术表达式的</a:t>
            </a:r>
            <a:r>
              <a:rPr 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</a:t>
            </a:r>
            <a:endParaRPr lang="zh-CN"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4287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输入：rdi = x，rsi = y，rdx = z；返回值放在 rax</a:t>
            </a:r>
            <a:endParaRPr sz="21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15265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leaq (%rdi,%rsi), %rax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715250" y="215265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 + y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266700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addq %rdx, %rax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715250" y="266700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 + y + z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318135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leaq (%rsi,%rsi,2), %rdx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715250" y="318135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3y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369570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salq $4, %rdx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7715250" y="369570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48y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781050" y="421005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leaq 4(%rdi,%rdx), %rcx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7715250" y="421005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 + 48y + 4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781050" y="472440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imulq %rcx, %rax</a:t>
            </a:r>
            <a:endParaRPr sz="22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7715250" y="472440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两项相乘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14"/>
          <p:cNvSpPr>
            <a:spLocks noGrp="1"/>
          </p:cNvSpPr>
          <p:nvPr/>
        </p:nvSpPr>
        <p:spPr>
          <a:xfrm>
            <a:off x="781050" y="55530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625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结果：(x + y + z)(x + 48y + 4)</a:t>
            </a:r>
            <a:endParaRPr sz="2625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eax 会清零高 32 位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6002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 %rax = 0xffffffffffffffff，两例独立执行</a:t>
            </a:r>
            <a:endParaRPr sz="21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619375"/>
            <a:ext cx="471487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movb $0, %al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5981700" y="2619375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0xffffffffffffff00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495675"/>
            <a:ext cx="471487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movl $0, %eax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5981700" y="3495675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0x0000000000000000</a:t>
            </a:r>
            <a:endParaRPr sz="2550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81050" y="45243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 8 / 16 位：保留其余位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81050" y="50768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 32 位通用寄存器：自动清零对应寄存器的高 32 位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81050" y="57245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需要保留负数含义时，要使用适当的符号扩展指令</a:t>
            </a:r>
            <a:endParaRPr sz="18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有符号与无符号</a:t>
            </a:r>
            <a:r>
              <a:rPr 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是否共用</a:t>
            </a:r>
            <a:r>
              <a:rPr lang="zh-CN"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</a:t>
            </a:r>
            <a:endParaRPr lang="zh-CN"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6192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固定宽度加减法：保留低 w 位，位结果可以相同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4288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8 位示意：11111111 + 00000001 = 00000000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0480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无符号解释：255 + 1     有符号解释：-1 + 1</a:t>
            </a:r>
            <a:endParaRPr sz="232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40671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需要区分的地方：右移、扩展、比较、完整乘法和除法</a:t>
            </a:r>
            <a:endParaRPr sz="225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520065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机器结果的截断规则，不能直接当成 C 有符号溢出的规则</a:t>
            </a:r>
            <a:endParaRPr sz="22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itle"/>
          <p:cNvSpPr>
            <a:spLocks noGrp="1"/>
          </p:cNvSpPr>
          <p:nvPr/>
        </p:nvSpPr>
        <p:spPr>
          <a:xfrm>
            <a:off x="762000" y="542925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</a:t>
            </a:r>
            <a:r>
              <a:rPr sz="345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3450" b="1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781050" y="15525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 %rax = 0x100，M8[0x108] = 7</a:t>
            </a:r>
            <a:endParaRPr sz="2475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781050" y="240982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leaq 8(%rax), %rdx</a:t>
            </a:r>
            <a:endParaRPr sz="27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81050" y="30480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movq (%rdx), %rcx</a:t>
            </a:r>
            <a:endParaRPr sz="27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81050" y="3686175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0">
                <a:solidFill>
                  <a:srgbClr val="17171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addq $1, %rcx</a:t>
            </a:r>
            <a:endParaRPr sz="2775" b="0">
              <a:solidFill>
                <a:srgbClr val="17171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81050" y="4648200"/>
            <a:ext cx="106299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717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 rdx、rcx、M8[0x108] 分别是多少？</a:t>
            </a:r>
            <a:endParaRPr sz="2400" b="0">
              <a:solidFill>
                <a:srgbClr val="1717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0287000" y="6391275"/>
            <a:ext cx="1333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</a:t>
            </a:r>
            <a:r>
              <a:rPr lang="en-US" sz="135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35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2921</Words>
  <Application>WPS 演示</Application>
  <PresentationFormat>Converted Presentation</PresentationFormat>
  <Paragraphs>336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WPS_1728785496</cp:lastModifiedBy>
  <cp:revision>5</cp:revision>
  <dcterms:created xsi:type="dcterms:W3CDTF">2026-09-22T16:40:00Z</dcterms:created>
  <dcterms:modified xsi:type="dcterms:W3CDTF">2026-09-23T04:13:38Z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34B381B100044B5EBEB71F315CF7BD7D_12</vt:lpwstr>
  </property>
</Properties>
</file>