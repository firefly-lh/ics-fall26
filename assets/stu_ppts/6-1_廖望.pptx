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4" r:id="rId11"/>
    <p:sldId id="265" r:id="rId12"/>
    <p:sldId id="267" r:id="rId13"/>
    <p:sldId id="268" r:id="rId14"/>
    <p:sldId id="269" r:id="rId15"/>
    <p:sldId id="270" r:id="rId16"/>
    <p:sldId id="273" r:id="rId17"/>
    <p:sldId id="271" r:id="rId18"/>
    <p:sldId id="27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225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5B5DBF-7DA2-4323-AF0D-1C9FBB660CEA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1280C3-1A00-498F-A6B2-6AD33FF630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6095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1280C3-1A00-498F-A6B2-6AD33FF630F9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10865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EC014E-32E8-BC91-190E-85B3C74C9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8" y="964075"/>
            <a:ext cx="4654297" cy="373989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0" y="4822842"/>
            <a:ext cx="4206240" cy="1380744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2603722-CE80-C718-39E9-BB79F1F68C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84C280F-E753-FE97-A722-F86168AC9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41248" y="964074"/>
            <a:ext cx="5403280" cy="5258929"/>
          </a:xfrm>
          <a:custGeom>
            <a:avLst/>
            <a:gdLst>
              <a:gd name="connsiteX0" fmla="*/ 2701640 w 5403280"/>
              <a:gd name="connsiteY0" fmla="*/ 0 h 5258929"/>
              <a:gd name="connsiteX1" fmla="*/ 5403280 w 5403280"/>
              <a:gd name="connsiteY1" fmla="*/ 2701640 h 5258929"/>
              <a:gd name="connsiteX2" fmla="*/ 5403280 w 5403280"/>
              <a:gd name="connsiteY2" fmla="*/ 5258929 h 5258929"/>
              <a:gd name="connsiteX3" fmla="*/ 0 w 5403280"/>
              <a:gd name="connsiteY3" fmla="*/ 5258929 h 5258929"/>
              <a:gd name="connsiteX4" fmla="*/ 0 w 5403280"/>
              <a:gd name="connsiteY4" fmla="*/ 2701640 h 5258929"/>
              <a:gd name="connsiteX5" fmla="*/ 2701640 w 5403280"/>
              <a:gd name="connsiteY5" fmla="*/ 0 h 525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3280" h="5258929">
                <a:moveTo>
                  <a:pt x="2701640" y="0"/>
                </a:moveTo>
                <a:cubicBezTo>
                  <a:pt x="4193715" y="0"/>
                  <a:pt x="5403280" y="1209565"/>
                  <a:pt x="5403280" y="2701640"/>
                </a:cubicBezTo>
                <a:lnTo>
                  <a:pt x="5403280" y="5258929"/>
                </a:lnTo>
                <a:lnTo>
                  <a:pt x="0" y="5258929"/>
                </a:lnTo>
                <a:lnTo>
                  <a:pt x="0" y="2701640"/>
                </a:lnTo>
                <a:cubicBezTo>
                  <a:pt x="0" y="1209565"/>
                  <a:pt x="1209565" y="0"/>
                  <a:pt x="2701640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noFill/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7A08-C834-F239-A3DF-2D1295F0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D2AC0256-7E04-4CEA-B34E-9793AD21D62F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E80C6A5-61FE-078D-49D9-31BD129401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E1B9361-32FF-4AEB-975E-F705A7C130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9739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6C4595-90D4-94E6-CEBA-82807457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658679"/>
            <a:ext cx="10780776" cy="4925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2AC0256-7E04-4CEA-B34E-9793AD21D62F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E1B9361-32FF-4AEB-975E-F705A7C130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3229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5218032"/>
            <a:ext cx="10972800" cy="78638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972629"/>
            <a:ext cx="10972800" cy="480373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8BD73-E6AB-68A9-F41B-313E0C4477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396119" y="5787191"/>
            <a:ext cx="1503444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A6162-61A3-2C41-311C-F407FC4B4D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2AC0256-7E04-4CEA-B34E-9793AD21D62F}" type="datetimeFigureOut">
              <a:rPr lang="zh-CN" altLang="en-US" smtClean="0"/>
              <a:t>2026/10/13</a:t>
            </a:fld>
            <a:endParaRPr lang="zh-CN" alt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ABF624-39B6-C7A2-98E7-26593626B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498994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B102F-64E7-9387-1F8F-DB4AC82577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1B9361-32FF-4AEB-975E-F705A7C130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96407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E84C31D-CC85-27E5-FD9F-627C926D5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8608"/>
            <a:ext cx="7879335" cy="3592629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10B934F-7AD0-6CA4-BC4D-9CC30854B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1714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6486-38AE-54F6-E2F3-8B944C3F1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41BD916-71AE-106E-105D-01655950FC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87800" y="368300"/>
            <a:ext cx="7375525" cy="1014413"/>
          </a:xfrm>
        </p:spPr>
        <p:txBody>
          <a:bodyPr anchor="ctr">
            <a:normAutofit/>
          </a:bodyPr>
          <a:lstStyle>
            <a:lvl1pPr algn="r">
              <a:defRPr sz="20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D0054-227E-4953-9BB1-7141F902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C0256-7E04-4CEA-B34E-9793AD21D62F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2E0F1-15E9-E241-9959-A6D46B69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B9361-32FF-4AEB-975E-F705A7C130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70702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842852-3CDE-22AD-D5F0-AAF8279A0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536"/>
            <a:ext cx="9546336" cy="3675885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2AC0256-7E04-4CEA-B34E-9793AD21D62F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E1B9361-32FF-4AEB-975E-F705A7C1301F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D523C5-E38D-F0DE-48C0-B6B8404B6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46786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4EF7E11-76D4-64FA-465B-16540545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947" y="1296083"/>
            <a:ext cx="4353325" cy="4265835"/>
          </a:xfrm>
          <a:custGeom>
            <a:avLst/>
            <a:gdLst>
              <a:gd name="connsiteX0" fmla="*/ 2176663 w 4353325"/>
              <a:gd name="connsiteY0" fmla="*/ 0 h 4265835"/>
              <a:gd name="connsiteX1" fmla="*/ 4353325 w 4353325"/>
              <a:gd name="connsiteY1" fmla="*/ 2176662 h 4265835"/>
              <a:gd name="connsiteX2" fmla="*/ 4353325 w 4353325"/>
              <a:gd name="connsiteY2" fmla="*/ 2712923 h 4265835"/>
              <a:gd name="connsiteX3" fmla="*/ 4353325 w 4353325"/>
              <a:gd name="connsiteY3" fmla="*/ 3733873 h 4265835"/>
              <a:gd name="connsiteX4" fmla="*/ 4353325 w 4353325"/>
              <a:gd name="connsiteY4" fmla="*/ 4265835 h 4265835"/>
              <a:gd name="connsiteX5" fmla="*/ 0 w 4353325"/>
              <a:gd name="connsiteY5" fmla="*/ 4265835 h 4265835"/>
              <a:gd name="connsiteX6" fmla="*/ 0 w 4353325"/>
              <a:gd name="connsiteY6" fmla="*/ 3733873 h 4265835"/>
              <a:gd name="connsiteX7" fmla="*/ 0 w 4353325"/>
              <a:gd name="connsiteY7" fmla="*/ 2712923 h 4265835"/>
              <a:gd name="connsiteX8" fmla="*/ 0 w 4353325"/>
              <a:gd name="connsiteY8" fmla="*/ 2176662 h 4265835"/>
              <a:gd name="connsiteX9" fmla="*/ 2176663 w 4353325"/>
              <a:gd name="connsiteY9" fmla="*/ 0 h 426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53325" h="4265835">
                <a:moveTo>
                  <a:pt x="2176663" y="0"/>
                </a:moveTo>
                <a:cubicBezTo>
                  <a:pt x="3378800" y="0"/>
                  <a:pt x="4353325" y="974525"/>
                  <a:pt x="4353325" y="2176662"/>
                </a:cubicBezTo>
                <a:lnTo>
                  <a:pt x="4353325" y="2712923"/>
                </a:lnTo>
                <a:lnTo>
                  <a:pt x="4353325" y="3733873"/>
                </a:lnTo>
                <a:lnTo>
                  <a:pt x="4353325" y="4265835"/>
                </a:lnTo>
                <a:lnTo>
                  <a:pt x="0" y="4265835"/>
                </a:lnTo>
                <a:lnTo>
                  <a:pt x="0" y="3733873"/>
                </a:lnTo>
                <a:lnTo>
                  <a:pt x="0" y="2712923"/>
                </a:lnTo>
                <a:lnTo>
                  <a:pt x="0" y="2176662"/>
                </a:lnTo>
                <a:cubicBezTo>
                  <a:pt x="0" y="974525"/>
                  <a:pt x="974525" y="0"/>
                  <a:pt x="2176663" y="0"/>
                </a:cubicBezTo>
                <a:close/>
              </a:path>
            </a:pathLst>
          </a:custGeom>
          <a:ln w="6350">
            <a:solidFill>
              <a:schemeClr val="tx1"/>
            </a:solidFill>
          </a:ln>
        </p:spPr>
        <p:txBody>
          <a:bodyPr wrap="square" lIns="182880" tIns="914400" rIns="182880" anchor="ctr" anchorCtr="0">
            <a:no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35056" y="1296083"/>
            <a:ext cx="4325112" cy="4265835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2AC0256-7E04-4CEA-B34E-9793AD21D62F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E1B9361-32FF-4AEB-975E-F705A7C130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5993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4608576"/>
            <a:ext cx="4169664" cy="1609344"/>
          </a:xfrm>
        </p:spPr>
        <p:txBody>
          <a:bodyPr anchor="t" anchorCtr="0">
            <a:no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E5AAB3D-814D-597A-6ADE-F522A8116DCD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1257301" y="1097280"/>
            <a:ext cx="3776470" cy="3168100"/>
          </a:xfrm>
          <a:custGeom>
            <a:avLst/>
            <a:gdLst>
              <a:gd name="connsiteX0" fmla="*/ 1888235 w 3776470"/>
              <a:gd name="connsiteY0" fmla="*/ 0 h 3168100"/>
              <a:gd name="connsiteX1" fmla="*/ 3776470 w 3776470"/>
              <a:gd name="connsiteY1" fmla="*/ 1888235 h 3168100"/>
              <a:gd name="connsiteX2" fmla="*/ 3776470 w 3776470"/>
              <a:gd name="connsiteY2" fmla="*/ 3168100 h 3168100"/>
              <a:gd name="connsiteX3" fmla="*/ 0 w 3776470"/>
              <a:gd name="connsiteY3" fmla="*/ 3168100 h 3168100"/>
              <a:gd name="connsiteX4" fmla="*/ 0 w 3776470"/>
              <a:gd name="connsiteY4" fmla="*/ 1888235 h 3168100"/>
              <a:gd name="connsiteX5" fmla="*/ 1888235 w 3776470"/>
              <a:gd name="connsiteY5" fmla="*/ 0 h 316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6470" h="3168100">
                <a:moveTo>
                  <a:pt x="1888235" y="0"/>
                </a:moveTo>
                <a:cubicBezTo>
                  <a:pt x="2931078" y="0"/>
                  <a:pt x="3776470" y="845392"/>
                  <a:pt x="3776470" y="1888235"/>
                </a:cubicBezTo>
                <a:lnTo>
                  <a:pt x="3776470" y="3168100"/>
                </a:lnTo>
                <a:lnTo>
                  <a:pt x="0" y="3168100"/>
                </a:lnTo>
                <a:lnTo>
                  <a:pt x="0" y="1888235"/>
                </a:lnTo>
                <a:cubicBezTo>
                  <a:pt x="0" y="845392"/>
                  <a:pt x="845392" y="0"/>
                  <a:pt x="1888235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1464" y="841248"/>
            <a:ext cx="4215384" cy="5330952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 algn="ctr">
              <a:defRPr>
                <a:solidFill>
                  <a:schemeClr val="tx1"/>
                </a:solidFill>
              </a:defRPr>
            </a:lvl3pPr>
            <a:lvl4pPr algn="ctr">
              <a:defRPr>
                <a:solidFill>
                  <a:schemeClr val="tx1"/>
                </a:solidFill>
              </a:defRPr>
            </a:lvl4pPr>
            <a:lvl5pPr algn="ctr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2AC0256-7E04-4CEA-B34E-9793AD21D62F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E1B9361-32FF-4AEB-975E-F705A7C1301F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D2C868-CE73-A5B1-1389-62A23B14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9708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56015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2615184"/>
            <a:ext cx="3813048" cy="3557016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841248"/>
            <a:ext cx="4956175" cy="355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2AC0256-7E04-4CEA-B34E-9793AD21D62F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E1B9361-32FF-4AEB-975E-F705A7C1301F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4378AB-83E7-8777-F6CD-8F19BA4FE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5016203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7594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841248"/>
            <a:ext cx="2999232" cy="5184648"/>
          </a:xfrm>
        </p:spPr>
        <p:txBody>
          <a:bodyPr anchor="t" anchorCtr="0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66926" y="841248"/>
            <a:ext cx="6260154" cy="51846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2AC0256-7E04-4CEA-B34E-9793AD21D62F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E1B9361-32FF-4AEB-975E-F705A7C1301F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8293A07-68F2-BD10-B738-E87F3F3D8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418221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4307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1152" y="990511"/>
            <a:ext cx="2565593" cy="1858941"/>
          </a:xfrm>
        </p:spPr>
        <p:txBody>
          <a:bodyPr anchor="b"/>
          <a:lstStyle>
            <a:lvl1pPr>
              <a:def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2271" y="3011335"/>
            <a:ext cx="2559977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8BD5A515-9970-0784-7927-52F94C270B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292564" y="1592958"/>
            <a:ext cx="2973522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8523CCEC-6BB2-B704-95E2-87FED823C5B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2AC0256-7E04-4CEA-B34E-9793AD21D62F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208465C-8C77-73BF-D18F-D01907BAC8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12296" y="6356350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E1B9361-32FF-4AEB-975E-F705A7C1301F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E2A219-E459-07B3-1ED3-CBF7D239B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2057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3011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0" y="548640"/>
            <a:ext cx="6093225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03520" y="1828800"/>
            <a:ext cx="6071616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F483F68-3490-71E7-A7DA-DA46BC48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9715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45FA4-0621-D8F1-73D0-046B7F4D77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D2AC0256-7E04-4CEA-B34E-9793AD21D62F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4C51678-E871-8AD4-08DA-BF7B7013A35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10292565" y="1592957"/>
            <a:ext cx="2973522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CD01CE4-E064-7D2F-7D3A-9DA85E2777F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E1B9361-32FF-4AEB-975E-F705A7C130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74000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48640"/>
            <a:ext cx="6135624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28800"/>
            <a:ext cx="6135624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C07157-DE89-FE2F-0547-2E4055913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82022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A0C5A-6673-53CC-030B-67BA133D974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D2AC0256-7E04-4CEA-B34E-9793AD21D62F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521688-F793-E4F2-732B-EEE6F58B75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DBE29E-7417-B57C-BA94-1DBC14BE46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4E1B9361-32FF-4AEB-975E-F705A7C130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24634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6858000" cy="932688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6858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626C00-7A36-46A2-880D-F484910B3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077761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F6D8B-36A2-DF79-CDB9-885694DCA71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D2AC0256-7E04-4CEA-B34E-9793AD21D62F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2396A-E38F-CC9C-7303-71F99D08208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B0E4B-031C-4F2A-1993-D824DD71F7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4E1B9361-32FF-4AEB-975E-F705A7C130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25814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83413"/>
            <a:ext cx="4361688" cy="1262639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979461"/>
            <a:ext cx="4360863" cy="43292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81977D-48BC-F135-96F9-1655E4BEE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73212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EA981C2C-E0DD-29A7-8209-50D66488152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D2AC0256-7E04-4CEA-B34E-9793AD21D62F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05369F-8CCB-402F-9055-2BF12262B5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3591F2-4BD3-37D0-B00E-B2CD5F47A36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4E1B9361-32FF-4AEB-975E-F705A7C130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3595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4572000" cy="932688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4572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8BEB48-A052-9364-6EF6-F698004CA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91172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417D8113-ECE6-D6F5-9CA4-C96A535F479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D2AC0256-7E04-4CEA-B34E-9793AD21D62F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29A0137-F97A-8194-464D-3B7D4814A8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FE5686-63A9-B1A1-5734-F96A9651465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4E1B9361-32FF-4AEB-975E-F705A7C130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56868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485E715F-A05B-F2BC-ABF4-447E9B58E0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499001" y="5684309"/>
            <a:ext cx="1709209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32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4pPr>
            <a:lvl5pPr marL="914400" indent="0"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73959" y="5435073"/>
            <a:ext cx="121073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2AC0256-7E04-4CEA-B34E-9793AD21D62F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E1B9361-32FF-4AEB-975E-F705A7C1301F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2B6090-1D21-5610-7943-4C4F96A6C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463823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14630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882896"/>
            <a:ext cx="3657603" cy="1453896"/>
          </a:xfrm>
        </p:spPr>
        <p:txBody>
          <a:bodyPr anchor="t">
            <a:norm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38F5DE0-1AA8-5320-EBEC-7B2EEF39963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0" y="548642"/>
            <a:ext cx="3490175" cy="4041647"/>
          </a:xfrm>
          <a:custGeom>
            <a:avLst/>
            <a:gdLst>
              <a:gd name="connsiteX0" fmla="*/ 1745088 w 3490175"/>
              <a:gd name="connsiteY0" fmla="*/ 0 h 4041647"/>
              <a:gd name="connsiteX1" fmla="*/ 3490175 w 3490175"/>
              <a:gd name="connsiteY1" fmla="*/ 1745088 h 4041647"/>
              <a:gd name="connsiteX2" fmla="*/ 3490175 w 3490175"/>
              <a:gd name="connsiteY2" fmla="*/ 3141232 h 4041647"/>
              <a:gd name="connsiteX3" fmla="*/ 3490175 w 3490175"/>
              <a:gd name="connsiteY3" fmla="*/ 3490175 h 4041647"/>
              <a:gd name="connsiteX4" fmla="*/ 3490175 w 3490175"/>
              <a:gd name="connsiteY4" fmla="*/ 4041647 h 4041647"/>
              <a:gd name="connsiteX5" fmla="*/ 0 w 3490175"/>
              <a:gd name="connsiteY5" fmla="*/ 4041647 h 4041647"/>
              <a:gd name="connsiteX6" fmla="*/ 0 w 3490175"/>
              <a:gd name="connsiteY6" fmla="*/ 3490175 h 4041647"/>
              <a:gd name="connsiteX7" fmla="*/ 0 w 3490175"/>
              <a:gd name="connsiteY7" fmla="*/ 3141232 h 4041647"/>
              <a:gd name="connsiteX8" fmla="*/ 0 w 3490175"/>
              <a:gd name="connsiteY8" fmla="*/ 1745088 h 4041647"/>
              <a:gd name="connsiteX9" fmla="*/ 1745088 w 3490175"/>
              <a:gd name="connsiteY9" fmla="*/ 0 h 404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90175" h="4041647">
                <a:moveTo>
                  <a:pt x="1745088" y="0"/>
                </a:moveTo>
                <a:cubicBezTo>
                  <a:pt x="2708873" y="0"/>
                  <a:pt x="3490175" y="781302"/>
                  <a:pt x="3490175" y="1745088"/>
                </a:cubicBezTo>
                <a:lnTo>
                  <a:pt x="3490175" y="3141232"/>
                </a:lnTo>
                <a:lnTo>
                  <a:pt x="3490175" y="3490175"/>
                </a:lnTo>
                <a:lnTo>
                  <a:pt x="3490175" y="4041647"/>
                </a:lnTo>
                <a:lnTo>
                  <a:pt x="0" y="4041647"/>
                </a:lnTo>
                <a:lnTo>
                  <a:pt x="0" y="3490175"/>
                </a:lnTo>
                <a:lnTo>
                  <a:pt x="0" y="3141232"/>
                </a:lnTo>
                <a:lnTo>
                  <a:pt x="0" y="1745088"/>
                </a:lnTo>
                <a:cubicBezTo>
                  <a:pt x="0" y="781302"/>
                  <a:pt x="781302" y="0"/>
                  <a:pt x="1745088" y="0"/>
                </a:cubicBezTo>
                <a:close/>
              </a:path>
            </a:pathLst>
          </a:custGeom>
          <a:blipFill dpi="0" rotWithShape="1">
            <a:blip r:embed="rId2">
              <a:alphaModFix amt="8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37760" y="549275"/>
            <a:ext cx="6561138" cy="57594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2AC0256-7E04-4CEA-B34E-9793AD21D62F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E1B9361-32FF-4AEB-975E-F705A7C1301F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9C3A72-7CAE-129F-7490-B687280EF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646117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53687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64" y="559341"/>
            <a:ext cx="10755670" cy="932688"/>
          </a:xfrm>
        </p:spPr>
        <p:txBody>
          <a:bodyPr anchor="b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3C89FBB9-2C05-A4C1-ECB4-D6A5C4219E4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BBB07A11-50DE-6BC0-0514-6E2C14A4798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 flipH="1">
            <a:off x="-997746" y="4594946"/>
            <a:ext cx="2706690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D2AC0256-7E04-4CEA-B34E-9793AD21D62F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3ED5F49-F9F7-05A9-62AC-C9C8DF2EADE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8569" y="6264201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E1B9361-32FF-4AEB-975E-F705A7C1301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1200" y="1713652"/>
            <a:ext cx="4387012" cy="461294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7" y="1713653"/>
            <a:ext cx="6533071" cy="5144347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dirty="0"/>
            </a:lvl1pPr>
          </a:lstStyle>
          <a:p>
            <a:pPr marL="285750" lvl="0" indent="-28575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894008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7BBF55A-D91F-143D-FBB6-73995F00E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937761"/>
            <a:ext cx="6987537" cy="1353312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spcBef>
                <a:spcPts val="1000"/>
              </a:spcBef>
              <a:defRPr sz="2800" cap="none" baseline="0">
                <a:latin typeface="+mn-lt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2A4B4E-0B2F-F1BB-322A-713D1FB5F2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57400" y="549021"/>
            <a:ext cx="9455150" cy="4333875"/>
          </a:xfrm>
        </p:spPr>
        <p:txBody>
          <a:bodyPr anchor="b">
            <a:normAutofit/>
          </a:bodyPr>
          <a:lstStyle>
            <a:lvl1pPr>
              <a:defRPr sz="23200"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2AC0256-7E04-4CEA-B34E-9793AD21D62F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E1B9361-32FF-4AEB-975E-F705A7C1301F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6D47F-2AE5-2705-911C-52BBD6B7D8EA}"/>
              </a:ext>
            </a:extLst>
          </p:cNvPr>
          <p:cNvCxnSpPr>
            <a:cxnSpLocks/>
          </p:cNvCxnSpPr>
          <p:nvPr/>
        </p:nvCxnSpPr>
        <p:spPr>
          <a:xfrm flipV="1">
            <a:off x="137160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68427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28126"/>
            <a:ext cx="10652760" cy="1133856"/>
          </a:xfrm>
        </p:spPr>
        <p:txBody>
          <a:bodyPr/>
          <a:lstStyle>
            <a:lvl1pPr>
              <a:defRPr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A4897F-B66E-DAD4-F56C-6152B417CC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24138" y="2268748"/>
            <a:ext cx="6943724" cy="3954255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1pPr>
            <a:lvl2pPr marL="2286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2pPr>
            <a:lvl3pPr marL="4572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3pPr>
            <a:lvl4pPr marL="6858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4pPr>
            <a:lvl5pPr marL="9144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2AC0256-7E04-4CEA-B34E-9793AD21D62F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E1B9361-32FF-4AEB-975E-F705A7C1301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Freeform: Shape 15">
            <a:extLst>
              <a:ext uri="{FF2B5EF4-FFF2-40B4-BE49-F238E27FC236}">
                <a16:creationId xmlns:a16="http://schemas.microsoft.com/office/drawing/2014/main" id="{8EFA7EFC-C6F9-B1D5-025F-824C1CE9A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057205" y="-1430380"/>
            <a:ext cx="6077590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779157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6D87B9B-22A3-322E-B7E8-223255AD09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40168" y="5669280"/>
            <a:ext cx="6311664" cy="466344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spcBef>
                <a:spcPts val="1000"/>
              </a:spcBef>
              <a:defRPr sz="1800" cap="all" baseline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6A9BC83F-8FE5-5223-2B3A-6E122D33630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97135" y="1744578"/>
            <a:ext cx="6997730" cy="3507906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000" cap="all" baseline="0"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9" name="Freeform: Shape 15">
            <a:extLst>
              <a:ext uri="{FF2B5EF4-FFF2-40B4-BE49-F238E27FC236}">
                <a16:creationId xmlns:a16="http://schemas.microsoft.com/office/drawing/2014/main" id="{9F353A57-FA3C-A68C-4908-E774A52CB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2811380" y="-1681974"/>
            <a:ext cx="6569242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2AC0256-7E04-4CEA-B34E-9793AD21D62F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E1B9361-32FF-4AEB-975E-F705A7C130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08371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72FE6B-A4D8-8ED7-89D7-5E7F2C5B8F5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103438"/>
            <a:ext cx="5181600" cy="43513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86405AE-ED31-677D-86D8-01EAD583735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84947" y="2103121"/>
            <a:ext cx="5181600" cy="43513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2AC0256-7E04-4CEA-B34E-9793AD21D62F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E1B9361-32FF-4AEB-975E-F705A7C130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68077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5A6F3D-6630-C2E0-DC0A-6D2C0AACF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C38DBB1-A1FA-A460-88C8-B05F1570CA9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743200"/>
            <a:ext cx="5157187" cy="3763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2103120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2D763CC-A010-6A2B-FEF3-388EAC8417D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09361" y="2743200"/>
            <a:ext cx="5183188" cy="3763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2AC0256-7E04-4CEA-B34E-9793AD21D62F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E1B9361-32FF-4AEB-975E-F705A7C130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898120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0796BC8-E1B7-E6D6-E86F-4A5CAECD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2AC0256-7E04-4CEA-B34E-9793AD21D62F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E1B9361-32FF-4AEB-975E-F705A7C130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15572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2AC0256-7E04-4CEA-B34E-9793AD21D62F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E1B9361-32FF-4AEB-975E-F705A7C130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4510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57200"/>
            <a:ext cx="7342307" cy="1133856"/>
          </a:xfrm>
          <a:noFill/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2624328"/>
            <a:ext cx="10424160" cy="3200400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2AC0256-7E04-4CEA-B34E-9793AD21D62F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E1B9361-32FF-4AEB-975E-F705A7C130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689125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CE8CC034-C652-239B-0064-9B0543AC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D051F68D-E2E5-C625-0273-281CE6D493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520" y="2301836"/>
            <a:ext cx="10741150" cy="3921165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2AC0256-7E04-4CEA-B34E-9793AD21D62F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E1B9361-32FF-4AEB-975E-F705A7C130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40180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35EF00-7419-DCC9-6E5B-46E0EC95E5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5381C71-8DA7-B99B-F296-1B32734801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BE07807-3E27-4923-066C-AF5729D59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C0256-7E04-4CEA-B34E-9793AD21D62F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F9181B-E4DE-AAE6-68CF-FC27546E9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A4DF376-5214-41E8-2D32-DF86FE723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B9361-32FF-4AEB-975E-F705A7C130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21940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990"/>
            <a:ext cx="10515600" cy="111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 flipH="1">
            <a:off x="-1131161" y="1592957"/>
            <a:ext cx="2973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61469"/>
            <a:ext cx="1051560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25981" y="4687095"/>
            <a:ext cx="270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fld id="{D2AC0256-7E04-4CEA-B34E-9793AD21D62F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5746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000">
                <a:solidFill>
                  <a:schemeClr val="tx1"/>
                </a:solidFill>
              </a:defRPr>
            </a:lvl1pPr>
          </a:lstStyle>
          <a:p>
            <a:fld id="{4E1B9361-32FF-4AEB-975E-F705A7C1301F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4" y="1824111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7761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6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8">
          <p15:clr>
            <a:srgbClr val="F26B43"/>
          </p15:clr>
        </p15:guide>
        <p15:guide id="2" pos="528">
          <p15:clr>
            <a:srgbClr val="F26B43"/>
          </p15:clr>
        </p15:guide>
        <p15:guide id="3" orient="horz" pos="3792">
          <p15:clr>
            <a:srgbClr val="F26B43"/>
          </p15:clr>
        </p15:guide>
        <p15:guide id="4" pos="7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54F9E4A7-B17F-DBBF-5FF8-BE868688EBD4}"/>
              </a:ext>
            </a:extLst>
          </p:cNvPr>
          <p:cNvSpPr txBox="1"/>
          <p:nvPr/>
        </p:nvSpPr>
        <p:spPr>
          <a:xfrm>
            <a:off x="274408" y="1195040"/>
            <a:ext cx="52058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/>
              <a:t>ICS, Peking Univ. (2026 Fall)</a:t>
            </a:r>
            <a:endParaRPr lang="zh-CN" altLang="en-US" sz="32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6408CB9-5399-786D-2111-3A4B24E2AEFD}"/>
              </a:ext>
            </a:extLst>
          </p:cNvPr>
          <p:cNvSpPr txBox="1"/>
          <p:nvPr/>
        </p:nvSpPr>
        <p:spPr>
          <a:xfrm>
            <a:off x="3374453" y="2721114"/>
            <a:ext cx="5443093" cy="14157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dirty="0"/>
              <a:t>Machine-Level Programming V</a:t>
            </a:r>
          </a:p>
          <a:p>
            <a:pPr algn="ctr"/>
            <a:r>
              <a:rPr lang="en-US" altLang="zh-CN" sz="5400" b="1" dirty="0"/>
              <a:t>Advanced Topics</a:t>
            </a:r>
            <a:endParaRPr lang="zh-CN" altLang="en-US" sz="5400" b="1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C11E825-C463-F415-51EC-84BE146FB20A}"/>
              </a:ext>
            </a:extLst>
          </p:cNvPr>
          <p:cNvSpPr txBox="1"/>
          <p:nvPr/>
        </p:nvSpPr>
        <p:spPr>
          <a:xfrm>
            <a:off x="9990894" y="5682781"/>
            <a:ext cx="15696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2026.10.14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624535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5B681CF-908B-036A-A8C5-D67A2CBBC19C}"/>
              </a:ext>
            </a:extLst>
          </p:cNvPr>
          <p:cNvSpPr txBox="1"/>
          <p:nvPr/>
        </p:nvSpPr>
        <p:spPr>
          <a:xfrm>
            <a:off x="564596" y="540048"/>
            <a:ext cx="180049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200" dirty="0">
                <a:latin typeface="+mj-lt"/>
                <a:ea typeface="+mj-ea"/>
              </a:rPr>
              <a:t>联合体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359ACB39-DC64-7B78-EFB5-EC595AC6E9F0}"/>
                  </a:ext>
                </a:extLst>
              </p:cNvPr>
              <p:cNvSpPr txBox="1"/>
              <p:nvPr/>
            </p:nvSpPr>
            <p:spPr>
              <a:xfrm>
                <a:off x="564596" y="1779704"/>
                <a:ext cx="10414341" cy="22382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latin typeface="+mn-ea"/>
                  </a:rPr>
                  <a:t>让多个字段覆盖在同一块存储空间上，得到</a:t>
                </a:r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同一段内存</a:t>
                </a:r>
                <a:r>
                  <a:rPr lang="zh-CN" altLang="en-US" sz="2400" dirty="0"/>
                  <a:t>的多种解释。</a:t>
                </a:r>
                <a:endParaRPr lang="en-US" altLang="zh-CN" sz="2400" dirty="0"/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400" dirty="0"/>
                  <a:t>空间大小由最大成员决定。</a:t>
                </a:r>
                <a:endParaRPr lang="en-US" altLang="zh-CN" sz="2400" dirty="0"/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400" dirty="0"/>
                  <a:t>设一个联合体含有若干成员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sz="2400" dirty="0"/>
                  <a:t>。它必须满足所有成员中最严格的对齐要求。所有成员都从联合体对象的同一个起始地址开始。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359ACB39-DC64-7B78-EFB5-EC595AC6E9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596" y="1779704"/>
                <a:ext cx="10414341" cy="2238241"/>
              </a:xfrm>
              <a:prstGeom prst="rect">
                <a:avLst/>
              </a:prstGeom>
              <a:blipFill>
                <a:blip r:embed="rId2"/>
                <a:stretch>
                  <a:fillRect l="-820" r="-878" b="-4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2626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E5B4D-AE51-8FF8-5A3D-3E6E7A857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4FA0096-92CF-F535-79EF-3005352156FB}"/>
              </a:ext>
            </a:extLst>
          </p:cNvPr>
          <p:cNvSpPr txBox="1"/>
          <p:nvPr/>
        </p:nvSpPr>
        <p:spPr>
          <a:xfrm>
            <a:off x="564596" y="540048"/>
            <a:ext cx="422423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200" dirty="0">
                <a:latin typeface="+mj-lt"/>
                <a:ea typeface="+mj-ea"/>
              </a:rPr>
              <a:t>联合体 </a:t>
            </a:r>
            <a:r>
              <a:rPr lang="en-US" altLang="zh-CN" sz="4200" dirty="0">
                <a:latin typeface="+mj-lt"/>
                <a:ea typeface="+mj-ea"/>
              </a:rPr>
              <a:t>&amp; </a:t>
            </a:r>
            <a:r>
              <a:rPr lang="zh-CN" altLang="en-US" sz="4200" dirty="0">
                <a:latin typeface="+mj-lt"/>
                <a:ea typeface="+mj-ea"/>
              </a:rPr>
              <a:t>结构体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0A086FD-289D-6EAF-55AF-646E939F2F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1292" y="1381048"/>
            <a:ext cx="3620851" cy="269512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AA9702B-C6DC-B6F5-12B0-B2E2532C9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0015" y="4654246"/>
            <a:ext cx="5923407" cy="1518996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75E07EDA-7195-D98C-B540-58E6CC09935E}"/>
              </a:ext>
            </a:extLst>
          </p:cNvPr>
          <p:cNvSpPr txBox="1"/>
          <p:nvPr/>
        </p:nvSpPr>
        <p:spPr>
          <a:xfrm>
            <a:off x="1016000" y="1836057"/>
            <a:ext cx="3432629" cy="178510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200" dirty="0">
                <a:latin typeface="Consolas" panose="020B0609020204030204" pitchFamily="49" charset="0"/>
              </a:rPr>
              <a:t>union U1 {</a:t>
            </a:r>
          </a:p>
          <a:p>
            <a:r>
              <a:rPr lang="en-US" altLang="zh-CN" sz="2200" dirty="0">
                <a:latin typeface="Consolas" panose="020B0609020204030204" pitchFamily="49" charset="0"/>
              </a:rPr>
              <a:t>  char c;</a:t>
            </a:r>
          </a:p>
          <a:p>
            <a:r>
              <a:rPr lang="en-US" altLang="zh-CN" sz="2200" dirty="0">
                <a:latin typeface="Consolas" panose="020B0609020204030204" pitchFamily="49" charset="0"/>
              </a:rPr>
              <a:t>  int </a:t>
            </a:r>
            <a:r>
              <a:rPr lang="en-US" altLang="zh-CN" sz="2200" dirty="0" err="1">
                <a:latin typeface="Consolas" panose="020B0609020204030204" pitchFamily="49" charset="0"/>
              </a:rPr>
              <a:t>i</a:t>
            </a:r>
            <a:r>
              <a:rPr lang="en-US" altLang="zh-CN" sz="2200" dirty="0">
                <a:latin typeface="Consolas" panose="020B0609020204030204" pitchFamily="49" charset="0"/>
              </a:rPr>
              <a:t>[2];</a:t>
            </a:r>
          </a:p>
          <a:p>
            <a:r>
              <a:rPr lang="en-US" altLang="zh-CN" sz="2200" dirty="0">
                <a:latin typeface="Consolas" panose="020B0609020204030204" pitchFamily="49" charset="0"/>
              </a:rPr>
              <a:t>  double v;</a:t>
            </a:r>
          </a:p>
          <a:p>
            <a:r>
              <a:rPr lang="en-US" altLang="zh-CN" sz="2200" dirty="0">
                <a:latin typeface="Consolas" panose="020B0609020204030204" pitchFamily="49" charset="0"/>
              </a:rPr>
              <a:t>};</a:t>
            </a:r>
            <a:endParaRPr lang="zh-CN" altLang="en-US" sz="2200" dirty="0">
              <a:latin typeface="Consolas" panose="020B060902020403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8973303-C93B-CE09-7CE4-AE8D739FE68D}"/>
              </a:ext>
            </a:extLst>
          </p:cNvPr>
          <p:cNvSpPr txBox="1"/>
          <p:nvPr/>
        </p:nvSpPr>
        <p:spPr>
          <a:xfrm>
            <a:off x="1016000" y="4434114"/>
            <a:ext cx="3432629" cy="178510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200" dirty="0">
                <a:latin typeface="Consolas" panose="020B0609020204030204" pitchFamily="49" charset="0"/>
              </a:rPr>
              <a:t>struct S1 {</a:t>
            </a:r>
          </a:p>
          <a:p>
            <a:r>
              <a:rPr lang="en-US" altLang="zh-CN" sz="2200" dirty="0">
                <a:latin typeface="Consolas" panose="020B0609020204030204" pitchFamily="49" charset="0"/>
              </a:rPr>
              <a:t>  char c;</a:t>
            </a:r>
          </a:p>
          <a:p>
            <a:r>
              <a:rPr lang="en-US" altLang="zh-CN" sz="2200" dirty="0">
                <a:latin typeface="Consolas" panose="020B0609020204030204" pitchFamily="49" charset="0"/>
              </a:rPr>
              <a:t>  int </a:t>
            </a:r>
            <a:r>
              <a:rPr lang="en-US" altLang="zh-CN" sz="2200" dirty="0" err="1">
                <a:latin typeface="Consolas" panose="020B0609020204030204" pitchFamily="49" charset="0"/>
              </a:rPr>
              <a:t>i</a:t>
            </a:r>
            <a:r>
              <a:rPr lang="en-US" altLang="zh-CN" sz="2200" dirty="0">
                <a:latin typeface="Consolas" panose="020B0609020204030204" pitchFamily="49" charset="0"/>
              </a:rPr>
              <a:t>[2];</a:t>
            </a:r>
          </a:p>
          <a:p>
            <a:r>
              <a:rPr lang="en-US" altLang="zh-CN" sz="2200" dirty="0">
                <a:latin typeface="Consolas" panose="020B0609020204030204" pitchFamily="49" charset="0"/>
              </a:rPr>
              <a:t>  double v;</a:t>
            </a:r>
          </a:p>
          <a:p>
            <a:r>
              <a:rPr lang="en-US" altLang="zh-CN" sz="2200" dirty="0">
                <a:latin typeface="Consolas" panose="020B0609020204030204" pitchFamily="49" charset="0"/>
              </a:rPr>
              <a:t>};</a:t>
            </a:r>
            <a:endParaRPr lang="zh-CN" altLang="en-US" sz="2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4551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9F7D5-F36D-A767-1DAC-040F571E6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B42D91B-FF1A-E380-CF00-4F77225D06B4}"/>
              </a:ext>
            </a:extLst>
          </p:cNvPr>
          <p:cNvSpPr txBox="1"/>
          <p:nvPr/>
        </p:nvSpPr>
        <p:spPr>
          <a:xfrm>
            <a:off x="564596" y="540048"/>
            <a:ext cx="180049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200" dirty="0">
                <a:latin typeface="+mj-lt"/>
                <a:ea typeface="+mj-ea"/>
              </a:rPr>
              <a:t>位模式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C096C48-BB0A-BE5E-313A-C3DF37C27ED8}"/>
              </a:ext>
            </a:extLst>
          </p:cNvPr>
          <p:cNvSpPr txBox="1"/>
          <p:nvPr/>
        </p:nvSpPr>
        <p:spPr>
          <a:xfrm>
            <a:off x="564596" y="1779704"/>
            <a:ext cx="10567861" cy="390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重新解释位模式 </a:t>
            </a:r>
            <a:r>
              <a:rPr lang="zh-CN" altLang="en-US" sz="2400" dirty="0">
                <a:latin typeface="+mj-lt"/>
              </a:rPr>
              <a:t>≠ </a:t>
            </a:r>
            <a:r>
              <a:rPr lang="zh-CN" altLang="en-US" sz="2400" dirty="0"/>
              <a:t>数值类型转换</a:t>
            </a:r>
            <a:endParaRPr lang="en-US" altLang="zh-CN" sz="2400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考</a:t>
            </a:r>
            <a:r>
              <a:rPr lang="zh-CN" altLang="en-US" sz="2400" dirty="0">
                <a:latin typeface="Consolas" panose="020B0609020204030204" pitchFamily="49" charset="0"/>
              </a:rPr>
              <a:t>虑 </a:t>
            </a:r>
            <a:r>
              <a:rPr lang="en-US" altLang="zh-CN" sz="2400" dirty="0">
                <a:latin typeface="Consolas" panose="020B0609020204030204" pitchFamily="49" charset="0"/>
              </a:rPr>
              <a:t>union </a:t>
            </a:r>
            <a:r>
              <a:rPr lang="en-US" altLang="zh-CN" sz="2400" dirty="0" err="1">
                <a:latin typeface="Consolas" panose="020B0609020204030204" pitchFamily="49" charset="0"/>
              </a:rPr>
              <a:t>bit_float_t</a:t>
            </a:r>
            <a:r>
              <a:rPr lang="en-US" altLang="zh-CN" sz="2400" dirty="0">
                <a:latin typeface="Consolas" panose="020B0609020204030204" pitchFamily="49" charset="0"/>
              </a:rPr>
              <a:t>{float f; unsigned u}; </a:t>
            </a:r>
            <a:r>
              <a:rPr lang="zh-CN" altLang="en-US" sz="2400" dirty="0">
                <a:latin typeface="Consolas" panose="020B0609020204030204" pitchFamily="49" charset="0"/>
              </a:rPr>
              <a:t>其中的 </a:t>
            </a:r>
            <a:r>
              <a:rPr lang="en-US" altLang="zh-CN" sz="2400" dirty="0">
                <a:latin typeface="Consolas" panose="020B0609020204030204" pitchFamily="49" charset="0"/>
              </a:rPr>
              <a:t>u </a:t>
            </a:r>
            <a:r>
              <a:rPr lang="zh-CN" altLang="en-US" sz="2400" dirty="0">
                <a:latin typeface="Consolas" panose="020B0609020204030204" pitchFamily="49" charset="0"/>
              </a:rPr>
              <a:t>和 </a:t>
            </a:r>
            <a:r>
              <a:rPr lang="en-US" altLang="zh-CN" sz="2400" dirty="0">
                <a:latin typeface="Consolas" panose="020B0609020204030204" pitchFamily="49" charset="0"/>
              </a:rPr>
              <a:t>f </a:t>
            </a:r>
            <a:r>
              <a:rPr lang="zh-CN" altLang="en-US" sz="2400" dirty="0">
                <a:latin typeface="Consolas" panose="020B0609020204030204" pitchFamily="49" charset="0"/>
              </a:rPr>
              <a:t>对应的是同样的</a:t>
            </a:r>
            <a:r>
              <a:rPr lang="en-US" altLang="zh-CN" sz="2400" dirty="0"/>
              <a:t> 4 </a:t>
            </a:r>
            <a:r>
              <a:rPr lang="zh-CN" altLang="en-US" sz="2400" dirty="0"/>
              <a:t>个字节。</a:t>
            </a:r>
            <a:endParaRPr lang="en-US" altLang="zh-CN" sz="2400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假设</a:t>
            </a:r>
            <a:r>
              <a:rPr lang="en-US" altLang="zh-CN" sz="2400" dirty="0"/>
              <a:t> </a:t>
            </a:r>
            <a:r>
              <a:rPr lang="en-US" altLang="zh-CN" sz="2400" dirty="0">
                <a:latin typeface="Consolas" panose="020B0609020204030204" pitchFamily="49" charset="0"/>
              </a:rPr>
              <a:t>u =</a:t>
            </a:r>
            <a:r>
              <a:rPr lang="zh-CN" altLang="en-US" sz="2400" dirty="0">
                <a:latin typeface="Consolas" panose="020B0609020204030204" pitchFamily="49" charset="0"/>
              </a:rPr>
              <a:t> </a:t>
            </a:r>
            <a:r>
              <a:rPr lang="en-US" altLang="zh-CN" sz="2400" dirty="0">
                <a:latin typeface="Consolas" panose="020B0609020204030204" pitchFamily="49" charset="0"/>
              </a:rPr>
              <a:t>0x3F800000</a:t>
            </a:r>
            <a:r>
              <a:rPr lang="zh-CN" altLang="en-US" sz="2400" dirty="0"/>
              <a:t>，则应该按 </a:t>
            </a:r>
            <a:r>
              <a:rPr lang="en-US" altLang="zh-CN" sz="2400" dirty="0"/>
              <a:t>IEEE 754 </a:t>
            </a:r>
            <a:r>
              <a:rPr lang="zh-CN" altLang="en-US" sz="2400" dirty="0"/>
              <a:t>单精度格式解释，得到 </a:t>
            </a:r>
            <a:r>
              <a:rPr lang="en-US" altLang="zh-CN" sz="2400" dirty="0">
                <a:latin typeface="Consolas" panose="020B0609020204030204" pitchFamily="49" charset="0"/>
              </a:rPr>
              <a:t>f =</a:t>
            </a:r>
            <a:r>
              <a:rPr lang="zh-CN" altLang="en-US" sz="2400" dirty="0">
                <a:latin typeface="Consolas" panose="020B0609020204030204" pitchFamily="49" charset="0"/>
              </a:rPr>
              <a:t> </a:t>
            </a:r>
            <a:r>
              <a:rPr lang="en-US" altLang="zh-CN" sz="2400" dirty="0">
                <a:latin typeface="Consolas" panose="020B0609020204030204" pitchFamily="49" charset="0"/>
              </a:rPr>
              <a:t>1.0</a:t>
            </a:r>
            <a:r>
              <a:rPr lang="zh-CN" altLang="en-US" sz="2400" dirty="0"/>
              <a:t>。</a:t>
            </a:r>
            <a:r>
              <a:rPr lang="zh-CN" altLang="en-US" sz="2400" dirty="0">
                <a:solidFill>
                  <a:srgbClr val="C00000"/>
                </a:solidFill>
              </a:rPr>
              <a:t>而不是做 </a:t>
            </a:r>
            <a:r>
              <a:rPr lang="en-US" altLang="zh-CN" sz="2400" dirty="0">
                <a:solidFill>
                  <a:srgbClr val="C00000"/>
                </a:solidFill>
                <a:latin typeface="Consolas" panose="020B0609020204030204" pitchFamily="49" charset="0"/>
              </a:rPr>
              <a:t>f = (float)u</a:t>
            </a:r>
            <a:r>
              <a:rPr lang="zh-CN" altLang="en-US" sz="2400" dirty="0">
                <a:solidFill>
                  <a:srgbClr val="C00000"/>
                </a:solidFill>
              </a:rPr>
              <a:t>，得到 </a:t>
            </a:r>
            <a:r>
              <a:rPr lang="en-US" altLang="zh-CN" sz="2400" dirty="0">
                <a:solidFill>
                  <a:srgbClr val="C00000"/>
                </a:solidFill>
              </a:rPr>
              <a:t>1065353216.0</a:t>
            </a:r>
            <a:r>
              <a:rPr lang="zh-CN" altLang="en-US" sz="2400" dirty="0">
                <a:solidFill>
                  <a:srgbClr val="C00000"/>
                </a:solidFill>
              </a:rPr>
              <a:t>。</a:t>
            </a:r>
            <a:endParaRPr lang="en-US" altLang="zh-CN" sz="2400" dirty="0">
              <a:solidFill>
                <a:srgbClr val="C00000"/>
              </a:solidFill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学习角度而言，联合体非常适合观察底层表示。</a:t>
            </a:r>
            <a:endParaRPr lang="en-US" altLang="zh-CN" sz="2400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当然也非常适合用来出考试题目（</a:t>
            </a:r>
            <a:endParaRPr lang="en-US" altLang="zh-CN" sz="24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E623E5B-7FA3-94F7-93A0-361759AA90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3475" y="453169"/>
            <a:ext cx="3486329" cy="1651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260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F8E3D-0E17-2221-6635-6E6954C7B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D57BE6C-DACD-B591-A465-E0048E877F9F}"/>
              </a:ext>
            </a:extLst>
          </p:cNvPr>
          <p:cNvSpPr txBox="1"/>
          <p:nvPr/>
        </p:nvSpPr>
        <p:spPr>
          <a:xfrm>
            <a:off x="564596" y="540048"/>
            <a:ext cx="180049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200" dirty="0">
                <a:latin typeface="+mj-lt"/>
                <a:ea typeface="+mj-ea"/>
              </a:rPr>
              <a:t>字节序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A6262AD-DF23-C875-D271-B5F7ADC59119}"/>
              </a:ext>
            </a:extLst>
          </p:cNvPr>
          <p:cNvSpPr txBox="1"/>
          <p:nvPr/>
        </p:nvSpPr>
        <p:spPr>
          <a:xfrm>
            <a:off x="564596" y="1779704"/>
            <a:ext cx="10567861" cy="2241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i="1" dirty="0"/>
              <a:t>Review</a:t>
            </a:r>
            <a:r>
              <a:rPr lang="zh-CN" altLang="en-US" sz="2400" dirty="0"/>
              <a:t>：大端序（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最高有效字节存放在最低地址</a:t>
            </a:r>
            <a:r>
              <a:rPr lang="zh-CN" altLang="en-US" sz="2400" dirty="0"/>
              <a:t>）；小端序（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最低有效字节存放在最低地址</a:t>
            </a:r>
            <a:r>
              <a:rPr lang="zh-CN" altLang="en-US" sz="2400" dirty="0"/>
              <a:t>）。</a:t>
            </a:r>
            <a:endParaRPr lang="en-US" altLang="zh-CN" sz="2400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考虑如下定义，再依次写入 </a:t>
            </a:r>
            <a:r>
              <a:rPr lang="en-US" altLang="zh-CN" sz="2400" dirty="0" err="1">
                <a:latin typeface="Consolas" panose="020B0609020204030204" pitchFamily="49" charset="0"/>
              </a:rPr>
              <a:t>dw.c</a:t>
            </a:r>
            <a:r>
              <a:rPr lang="en-US" altLang="zh-CN" sz="2400" dirty="0">
                <a:latin typeface="Consolas" panose="020B0609020204030204" pitchFamily="49" charset="0"/>
              </a:rPr>
              <a:t>[j] = 0xf0 + j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D931F91-5B97-62EF-F574-2BB1F1F2E58B}"/>
              </a:ext>
            </a:extLst>
          </p:cNvPr>
          <p:cNvSpPr txBox="1"/>
          <p:nvPr/>
        </p:nvSpPr>
        <p:spPr>
          <a:xfrm>
            <a:off x="4002277" y="3787594"/>
            <a:ext cx="4187445" cy="212365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200" dirty="0">
                <a:latin typeface="Consolas" panose="020B0609020204030204" pitchFamily="49" charset="0"/>
              </a:rPr>
              <a:t>union {</a:t>
            </a:r>
          </a:p>
          <a:p>
            <a:r>
              <a:rPr lang="en-US" altLang="zh-CN" sz="2200" dirty="0">
                <a:latin typeface="Consolas" panose="020B0609020204030204" pitchFamily="49" charset="0"/>
              </a:rPr>
              <a:t>  unsigned char  c[8];</a:t>
            </a:r>
          </a:p>
          <a:p>
            <a:r>
              <a:rPr lang="en-US" altLang="zh-CN" sz="2200" dirty="0">
                <a:latin typeface="Consolas" panose="020B0609020204030204" pitchFamily="49" charset="0"/>
              </a:rPr>
              <a:t>  unsigned short s[4];</a:t>
            </a:r>
          </a:p>
          <a:p>
            <a:r>
              <a:rPr lang="en-US" altLang="zh-CN" sz="2200" dirty="0">
                <a:latin typeface="Consolas" panose="020B0609020204030204" pitchFamily="49" charset="0"/>
              </a:rPr>
              <a:t>  unsigned int   </a:t>
            </a:r>
            <a:r>
              <a:rPr lang="en-US" altLang="zh-CN" sz="2200" dirty="0" err="1">
                <a:latin typeface="Consolas" panose="020B0609020204030204" pitchFamily="49" charset="0"/>
              </a:rPr>
              <a:t>i</a:t>
            </a:r>
            <a:r>
              <a:rPr lang="en-US" altLang="zh-CN" sz="2200" dirty="0">
                <a:latin typeface="Consolas" panose="020B0609020204030204" pitchFamily="49" charset="0"/>
              </a:rPr>
              <a:t>[2];</a:t>
            </a:r>
          </a:p>
          <a:p>
            <a:r>
              <a:rPr lang="en-US" altLang="zh-CN" sz="2200" dirty="0">
                <a:latin typeface="Consolas" panose="020B0609020204030204" pitchFamily="49" charset="0"/>
              </a:rPr>
              <a:t>  unsigned long  l[1];</a:t>
            </a:r>
          </a:p>
          <a:p>
            <a:r>
              <a:rPr lang="en-US" altLang="zh-CN" sz="2200" dirty="0">
                <a:latin typeface="Consolas" panose="020B0609020204030204" pitchFamily="49" charset="0"/>
              </a:rPr>
              <a:t>} </a:t>
            </a:r>
            <a:r>
              <a:rPr lang="en-US" altLang="zh-CN" sz="2200" dirty="0" err="1">
                <a:latin typeface="Consolas" panose="020B0609020204030204" pitchFamily="49" charset="0"/>
              </a:rPr>
              <a:t>dw</a:t>
            </a:r>
            <a:r>
              <a:rPr lang="en-US" altLang="zh-CN" sz="2200" dirty="0">
                <a:latin typeface="Consolas" panose="020B0609020204030204" pitchFamily="49" charset="0"/>
              </a:rPr>
              <a:t>;</a:t>
            </a:r>
            <a:endParaRPr lang="zh-CN" altLang="en-US" sz="2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9140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6E7D7-77EB-2BE0-0D26-5035DB9AB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4CF87E4-6D3A-AE33-98BD-3386E0DD0AF3}"/>
              </a:ext>
            </a:extLst>
          </p:cNvPr>
          <p:cNvSpPr txBox="1"/>
          <p:nvPr/>
        </p:nvSpPr>
        <p:spPr>
          <a:xfrm>
            <a:off x="564596" y="540048"/>
            <a:ext cx="180049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200" dirty="0">
                <a:latin typeface="+mj-lt"/>
                <a:ea typeface="+mj-ea"/>
              </a:rPr>
              <a:t>字节序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0419B04-1319-E3C5-1096-A95FE944EAC6}"/>
              </a:ext>
            </a:extLst>
          </p:cNvPr>
          <p:cNvSpPr txBox="1"/>
          <p:nvPr/>
        </p:nvSpPr>
        <p:spPr>
          <a:xfrm>
            <a:off x="564596" y="1779704"/>
            <a:ext cx="10567861" cy="2241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观察：端序决定“多字节数值内部”怎么落到地址上，不改变数组元素顺序。</a:t>
            </a:r>
            <a:endParaRPr lang="en-US" altLang="zh-CN" sz="2400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内存从低地址到高地址则固定为：</a:t>
            </a:r>
          </a:p>
          <a:p>
            <a:pPr algn="ctr">
              <a:lnSpc>
                <a:spcPct val="150000"/>
              </a:lnSpc>
            </a:pPr>
            <a:r>
              <a:rPr lang="en-US" altLang="zh-CN" sz="2400" dirty="0">
                <a:latin typeface="Consolas" panose="020B0609020204030204" pitchFamily="49" charset="0"/>
              </a:rPr>
              <a:t>0xf0 f1 f2 f3 f4 f5 f6 f7</a:t>
            </a:r>
            <a:endParaRPr lang="en-US" altLang="zh-CN" sz="2400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A07596D-F924-B190-A575-DF2B3AA8B2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0591" y="3913648"/>
            <a:ext cx="7175869" cy="2552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623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54B57-FC19-AED0-F5A3-45C1E04B4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A886357-E69F-7694-5DD1-235F9DC18BAB}"/>
              </a:ext>
            </a:extLst>
          </p:cNvPr>
          <p:cNvSpPr txBox="1"/>
          <p:nvPr/>
        </p:nvSpPr>
        <p:spPr>
          <a:xfrm>
            <a:off x="564596" y="540048"/>
            <a:ext cx="180049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200" dirty="0">
                <a:latin typeface="+mj-lt"/>
                <a:ea typeface="+mj-ea"/>
              </a:rPr>
              <a:t>字节序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E959616-A8ED-C2E2-6E4F-200A18107940}"/>
              </a:ext>
            </a:extLst>
          </p:cNvPr>
          <p:cNvSpPr txBox="1"/>
          <p:nvPr/>
        </p:nvSpPr>
        <p:spPr>
          <a:xfrm>
            <a:off x="564596" y="1779704"/>
            <a:ext cx="10567861" cy="579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例如，小端机器下：</a:t>
            </a:r>
            <a:endParaRPr lang="en-US" altLang="zh-CN" sz="24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30C6B8F-6394-75C0-DF81-0A5B91DD0D4E}"/>
              </a:ext>
            </a:extLst>
          </p:cNvPr>
          <p:cNvSpPr txBox="1"/>
          <p:nvPr/>
        </p:nvSpPr>
        <p:spPr>
          <a:xfrm>
            <a:off x="1321482" y="2645720"/>
            <a:ext cx="9549036" cy="178510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200" dirty="0">
                <a:latin typeface="Consolas" panose="020B0609020204030204" pitchFamily="49" charset="0"/>
              </a:rPr>
              <a:t>Shorts 0-3 = [f1f0,f3f2,f5f4,f7f6]</a:t>
            </a:r>
          </a:p>
          <a:p>
            <a:r>
              <a:rPr lang="en-US" altLang="zh-CN" sz="2200" dirty="0" err="1">
                <a:latin typeface="Consolas" panose="020B0609020204030204" pitchFamily="49" charset="0"/>
              </a:rPr>
              <a:t>Ints</a:t>
            </a:r>
            <a:r>
              <a:rPr lang="en-US" altLang="zh-CN" sz="2200" dirty="0">
                <a:latin typeface="Consolas" panose="020B0609020204030204" pitchFamily="49" charset="0"/>
              </a:rPr>
              <a:t>   0-1 = [f3f2f1f0,f7f6f5f4]</a:t>
            </a:r>
          </a:p>
          <a:p>
            <a:endParaRPr lang="en-US" altLang="zh-CN" sz="2200" dirty="0">
              <a:latin typeface="Consolas" panose="020B0609020204030204" pitchFamily="49" charset="0"/>
            </a:endParaRPr>
          </a:p>
          <a:p>
            <a:r>
              <a:rPr lang="en-US" altLang="zh-CN" sz="2200" dirty="0">
                <a:latin typeface="Consolas" panose="020B0609020204030204" pitchFamily="49" charset="0"/>
              </a:rPr>
              <a:t>Long   0   = [f3f2f1f0]          # x86-</a:t>
            </a:r>
            <a:r>
              <a:rPr lang="en-US" altLang="zh-CN" sz="2200" b="1" dirty="0">
                <a:solidFill>
                  <a:srgbClr val="C00000"/>
                </a:solidFill>
                <a:latin typeface="Consolas" panose="020B0609020204030204" pitchFamily="49" charset="0"/>
              </a:rPr>
              <a:t>32</a:t>
            </a:r>
            <a:r>
              <a:rPr lang="en-US" altLang="zh-CN" sz="2200" dirty="0">
                <a:latin typeface="Consolas" panose="020B0609020204030204" pitchFamily="49" charset="0"/>
              </a:rPr>
              <a:t> case</a:t>
            </a:r>
          </a:p>
          <a:p>
            <a:r>
              <a:rPr lang="en-US" altLang="zh-CN" sz="2200" dirty="0">
                <a:latin typeface="Consolas" panose="020B0609020204030204" pitchFamily="49" charset="0"/>
              </a:rPr>
              <a:t>Long   0   = [f7f6f5f4f3f2f1f0]  # x86-</a:t>
            </a:r>
            <a:r>
              <a:rPr lang="en-US" altLang="zh-CN" sz="2200" b="1" dirty="0">
                <a:solidFill>
                  <a:srgbClr val="C00000"/>
                </a:solidFill>
                <a:latin typeface="Consolas" panose="020B0609020204030204" pitchFamily="49" charset="0"/>
              </a:rPr>
              <a:t>64</a:t>
            </a:r>
            <a:r>
              <a:rPr lang="en-US" altLang="zh-CN" sz="2200" dirty="0">
                <a:latin typeface="Consolas" panose="020B0609020204030204" pitchFamily="49" charset="0"/>
              </a:rPr>
              <a:t>, Linux / LP64 case</a:t>
            </a:r>
            <a:endParaRPr lang="zh-CN" altLang="en-US" sz="2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81847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C1E43-6131-7C4D-B4A5-C9E8EEFF5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117C7E6-94BD-D17E-E690-4BDDF8E9E8D2}"/>
              </a:ext>
            </a:extLst>
          </p:cNvPr>
          <p:cNvSpPr txBox="1"/>
          <p:nvPr/>
        </p:nvSpPr>
        <p:spPr>
          <a:xfrm>
            <a:off x="564596" y="540048"/>
            <a:ext cx="563647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200" dirty="0">
                <a:latin typeface="+mj-lt"/>
                <a:ea typeface="+mj-ea"/>
              </a:rPr>
              <a:t>Note</a:t>
            </a:r>
            <a:r>
              <a:rPr lang="zh-CN" altLang="en-US" sz="4200" dirty="0">
                <a:latin typeface="+mj-lt"/>
                <a:ea typeface="+mj-ea"/>
              </a:rPr>
              <a:t>：小端序下的地址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C967879-0493-1512-F712-AC7C2329DD53}"/>
              </a:ext>
            </a:extLst>
          </p:cNvPr>
          <p:cNvSpPr txBox="1"/>
          <p:nvPr/>
        </p:nvSpPr>
        <p:spPr>
          <a:xfrm>
            <a:off x="564596" y="1779704"/>
            <a:ext cx="10567861" cy="579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例如，小端机器下：</a:t>
            </a:r>
            <a:endParaRPr lang="en-US" altLang="zh-CN" sz="2400" dirty="0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E65F6631-68A9-D44B-4B91-7A42ABCE12B1}"/>
              </a:ext>
            </a:extLst>
          </p:cNvPr>
          <p:cNvSpPr/>
          <p:nvPr/>
        </p:nvSpPr>
        <p:spPr>
          <a:xfrm>
            <a:off x="2326493" y="2809852"/>
            <a:ext cx="951497" cy="308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0737A"/>
                </a:solidFill>
                <a:latin typeface="Consolas" panose="020B0609020204030204" pitchFamily="49" charset="0"/>
                <a:ea typeface="+mj-ea"/>
                <a:cs typeface="Microsoft YaHei" pitchFamily="34" charset="-120"/>
              </a:rPr>
              <a:t>地址值</a:t>
            </a:r>
            <a:endParaRPr lang="en-US" sz="2000" dirty="0">
              <a:latin typeface="Consolas" panose="020B0609020204030204" pitchFamily="49" charset="0"/>
              <a:ea typeface="+mj-ea"/>
            </a:endParaRPr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1B49A930-60A8-6388-2F76-932C02091C99}"/>
              </a:ext>
            </a:extLst>
          </p:cNvPr>
          <p:cNvSpPr/>
          <p:nvPr/>
        </p:nvSpPr>
        <p:spPr>
          <a:xfrm>
            <a:off x="3794760" y="2737943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4323A"/>
                </a:solidFill>
                <a:latin typeface="Consolas" panose="020B0609020204030204" pitchFamily="49" charset="0"/>
                <a:ea typeface="+mj-ea"/>
                <a:cs typeface="JetBrains Mono" pitchFamily="34" charset="-120"/>
              </a:rPr>
              <a:t>0x00000000004004d4</a:t>
            </a:r>
            <a:endParaRPr lang="en-US" sz="2200" dirty="0">
              <a:latin typeface="Consolas" panose="020B0609020204030204" pitchFamily="49" charset="0"/>
              <a:ea typeface="+mj-ea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C8D386F2-9831-B216-3C33-6B5E82A9E41E}"/>
              </a:ext>
            </a:extLst>
          </p:cNvPr>
          <p:cNvSpPr/>
          <p:nvPr/>
        </p:nvSpPr>
        <p:spPr>
          <a:xfrm>
            <a:off x="2196271" y="3569032"/>
            <a:ext cx="1211943" cy="31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 err="1">
                <a:solidFill>
                  <a:srgbClr val="007A7D"/>
                </a:solidFill>
                <a:latin typeface="Consolas" panose="020B0609020204030204" pitchFamily="49" charset="0"/>
                <a:ea typeface="+mj-ea"/>
                <a:cs typeface="Microsoft YaHei" pitchFamily="34" charset="-120"/>
              </a:rPr>
              <a:t>切成字节</a:t>
            </a:r>
            <a:endParaRPr lang="en-US" sz="2000" dirty="0">
              <a:latin typeface="Consolas" panose="020B0609020204030204" pitchFamily="49" charset="0"/>
              <a:ea typeface="+mj-ea"/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5B2F1003-94C5-BDE4-4467-28EEDA5EB573}"/>
              </a:ext>
            </a:extLst>
          </p:cNvPr>
          <p:cNvSpPr/>
          <p:nvPr/>
        </p:nvSpPr>
        <p:spPr>
          <a:xfrm>
            <a:off x="3794760" y="3500264"/>
            <a:ext cx="530352" cy="457200"/>
          </a:xfrm>
          <a:prstGeom prst="rect">
            <a:avLst/>
          </a:prstGeom>
          <a:solidFill>
            <a:srgbClr val="E6E3DA"/>
          </a:solidFill>
          <a:ln w="12700">
            <a:solidFill>
              <a:srgbClr val="14323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14323A"/>
                </a:solidFill>
                <a:latin typeface="Consolas" panose="020B0609020204030204" pitchFamily="49" charset="0"/>
                <a:ea typeface="+mj-ea"/>
                <a:cs typeface="Microsoft YaHei" pitchFamily="34" charset="-120"/>
              </a:rPr>
              <a:t>00</a:t>
            </a:r>
            <a:endParaRPr lang="en-US" sz="1700" dirty="0">
              <a:latin typeface="Consolas" panose="020B0609020204030204" pitchFamily="49" charset="0"/>
              <a:ea typeface="+mj-ea"/>
            </a:endParaRPr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5095869E-2313-A876-E8E7-F1B363E9A5DE}"/>
              </a:ext>
            </a:extLst>
          </p:cNvPr>
          <p:cNvSpPr/>
          <p:nvPr/>
        </p:nvSpPr>
        <p:spPr>
          <a:xfrm>
            <a:off x="4416552" y="3500264"/>
            <a:ext cx="530352" cy="457200"/>
          </a:xfrm>
          <a:prstGeom prst="rect">
            <a:avLst/>
          </a:prstGeom>
          <a:solidFill>
            <a:srgbClr val="E6E3DA"/>
          </a:solidFill>
          <a:ln w="12700">
            <a:solidFill>
              <a:srgbClr val="14323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14323A"/>
                </a:solidFill>
                <a:latin typeface="Consolas" panose="020B0609020204030204" pitchFamily="49" charset="0"/>
                <a:ea typeface="+mj-ea"/>
                <a:cs typeface="Microsoft YaHei" pitchFamily="34" charset="-120"/>
              </a:rPr>
              <a:t>00</a:t>
            </a:r>
            <a:endParaRPr lang="en-US" sz="1700" dirty="0">
              <a:latin typeface="Consolas" panose="020B0609020204030204" pitchFamily="49" charset="0"/>
              <a:ea typeface="+mj-ea"/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C9D84CC7-089B-E181-BA10-25BC7C0BF9CA}"/>
              </a:ext>
            </a:extLst>
          </p:cNvPr>
          <p:cNvSpPr/>
          <p:nvPr/>
        </p:nvSpPr>
        <p:spPr>
          <a:xfrm>
            <a:off x="5038344" y="3500264"/>
            <a:ext cx="530352" cy="457200"/>
          </a:xfrm>
          <a:prstGeom prst="rect">
            <a:avLst/>
          </a:prstGeom>
          <a:solidFill>
            <a:srgbClr val="E6E3DA"/>
          </a:solidFill>
          <a:ln w="12700">
            <a:solidFill>
              <a:srgbClr val="14323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14323A"/>
                </a:solidFill>
                <a:latin typeface="Consolas" panose="020B0609020204030204" pitchFamily="49" charset="0"/>
                <a:ea typeface="+mj-ea"/>
                <a:cs typeface="Microsoft YaHei" pitchFamily="34" charset="-120"/>
              </a:rPr>
              <a:t>00</a:t>
            </a:r>
            <a:endParaRPr lang="en-US" sz="1700" dirty="0">
              <a:latin typeface="Consolas" panose="020B0609020204030204" pitchFamily="49" charset="0"/>
              <a:ea typeface="+mj-ea"/>
            </a:endParaRPr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14E9897B-E936-5884-0105-75F8D476156A}"/>
              </a:ext>
            </a:extLst>
          </p:cNvPr>
          <p:cNvSpPr/>
          <p:nvPr/>
        </p:nvSpPr>
        <p:spPr>
          <a:xfrm>
            <a:off x="5660136" y="3500264"/>
            <a:ext cx="530352" cy="457200"/>
          </a:xfrm>
          <a:prstGeom prst="rect">
            <a:avLst/>
          </a:prstGeom>
          <a:solidFill>
            <a:srgbClr val="E6E3DA"/>
          </a:solidFill>
          <a:ln w="12700">
            <a:solidFill>
              <a:srgbClr val="14323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14323A"/>
                </a:solidFill>
                <a:latin typeface="Consolas" panose="020B0609020204030204" pitchFamily="49" charset="0"/>
                <a:ea typeface="+mj-ea"/>
                <a:cs typeface="Microsoft YaHei" pitchFamily="34" charset="-120"/>
              </a:rPr>
              <a:t>00</a:t>
            </a:r>
            <a:endParaRPr lang="en-US" sz="1700" dirty="0">
              <a:latin typeface="Consolas" panose="020B0609020204030204" pitchFamily="49" charset="0"/>
              <a:ea typeface="+mj-ea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50460A62-E927-3CE3-36E8-D396988ED711}"/>
              </a:ext>
            </a:extLst>
          </p:cNvPr>
          <p:cNvSpPr/>
          <p:nvPr/>
        </p:nvSpPr>
        <p:spPr>
          <a:xfrm>
            <a:off x="6281928" y="3500264"/>
            <a:ext cx="530352" cy="457200"/>
          </a:xfrm>
          <a:prstGeom prst="rect">
            <a:avLst/>
          </a:prstGeom>
          <a:solidFill>
            <a:srgbClr val="E6E3DA"/>
          </a:solidFill>
          <a:ln w="12700">
            <a:solidFill>
              <a:srgbClr val="14323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14323A"/>
                </a:solidFill>
                <a:latin typeface="Consolas" panose="020B0609020204030204" pitchFamily="49" charset="0"/>
                <a:ea typeface="+mj-ea"/>
                <a:cs typeface="Microsoft YaHei" pitchFamily="34" charset="-120"/>
              </a:rPr>
              <a:t>00</a:t>
            </a:r>
            <a:endParaRPr lang="en-US" sz="1700" dirty="0">
              <a:latin typeface="Consolas" panose="020B0609020204030204" pitchFamily="49" charset="0"/>
              <a:ea typeface="+mj-ea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D4ABDA98-821F-B235-C4D5-E2151E610F0A}"/>
              </a:ext>
            </a:extLst>
          </p:cNvPr>
          <p:cNvSpPr/>
          <p:nvPr/>
        </p:nvSpPr>
        <p:spPr>
          <a:xfrm>
            <a:off x="6903720" y="3500264"/>
            <a:ext cx="530352" cy="457200"/>
          </a:xfrm>
          <a:prstGeom prst="rect">
            <a:avLst/>
          </a:prstGeom>
          <a:solidFill>
            <a:srgbClr val="C7E6CB"/>
          </a:solidFill>
          <a:ln w="12700">
            <a:solidFill>
              <a:srgbClr val="14323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14323A"/>
                </a:solidFill>
                <a:latin typeface="Consolas" panose="020B0609020204030204" pitchFamily="49" charset="0"/>
                <a:ea typeface="+mj-ea"/>
                <a:cs typeface="Microsoft YaHei" pitchFamily="34" charset="-120"/>
              </a:rPr>
              <a:t>40</a:t>
            </a:r>
            <a:endParaRPr lang="en-US" sz="1700" dirty="0">
              <a:latin typeface="Consolas" panose="020B0609020204030204" pitchFamily="49" charset="0"/>
              <a:ea typeface="+mj-ea"/>
            </a:endParaRPr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75E7AF33-9BD1-0BF6-7742-A4165C4F5AD1}"/>
              </a:ext>
            </a:extLst>
          </p:cNvPr>
          <p:cNvSpPr/>
          <p:nvPr/>
        </p:nvSpPr>
        <p:spPr>
          <a:xfrm>
            <a:off x="7525512" y="3500264"/>
            <a:ext cx="530352" cy="457200"/>
          </a:xfrm>
          <a:prstGeom prst="rect">
            <a:avLst/>
          </a:prstGeom>
          <a:solidFill>
            <a:srgbClr val="C7E6CB"/>
          </a:solidFill>
          <a:ln w="12700">
            <a:solidFill>
              <a:srgbClr val="14323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14323A"/>
                </a:solidFill>
                <a:latin typeface="Consolas" panose="020B0609020204030204" pitchFamily="49" charset="0"/>
                <a:ea typeface="+mj-ea"/>
                <a:cs typeface="Microsoft YaHei" pitchFamily="34" charset="-120"/>
              </a:rPr>
              <a:t>04</a:t>
            </a:r>
            <a:endParaRPr lang="en-US" sz="1700" dirty="0">
              <a:latin typeface="Consolas" panose="020B0609020204030204" pitchFamily="49" charset="0"/>
              <a:ea typeface="+mj-ea"/>
            </a:endParaRPr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C3AC1800-A1E8-089C-F4DD-0BCAEABDCFD2}"/>
              </a:ext>
            </a:extLst>
          </p:cNvPr>
          <p:cNvSpPr/>
          <p:nvPr/>
        </p:nvSpPr>
        <p:spPr>
          <a:xfrm>
            <a:off x="8147304" y="3500264"/>
            <a:ext cx="530352" cy="457200"/>
          </a:xfrm>
          <a:prstGeom prst="rect">
            <a:avLst/>
          </a:prstGeom>
          <a:solidFill>
            <a:srgbClr val="C7E6CB"/>
          </a:solidFill>
          <a:ln w="12700">
            <a:solidFill>
              <a:srgbClr val="14323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14323A"/>
                </a:solidFill>
                <a:latin typeface="Consolas" panose="020B0609020204030204" pitchFamily="49" charset="0"/>
                <a:ea typeface="+mj-ea"/>
                <a:cs typeface="Microsoft YaHei" pitchFamily="34" charset="-120"/>
              </a:rPr>
              <a:t>d4</a:t>
            </a:r>
            <a:endParaRPr lang="en-US" sz="1700" dirty="0">
              <a:latin typeface="Consolas" panose="020B0609020204030204" pitchFamily="49" charset="0"/>
              <a:ea typeface="+mj-ea"/>
            </a:endParaRPr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1B27D08A-DCC3-1942-C620-C0A4B3A0471F}"/>
              </a:ext>
            </a:extLst>
          </p:cNvPr>
          <p:cNvSpPr/>
          <p:nvPr/>
        </p:nvSpPr>
        <p:spPr>
          <a:xfrm>
            <a:off x="2196271" y="4638880"/>
            <a:ext cx="1211943" cy="31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 err="1">
                <a:solidFill>
                  <a:srgbClr val="B64B3A"/>
                </a:solidFill>
                <a:latin typeface="Consolas" panose="020B0609020204030204" pitchFamily="49" charset="0"/>
                <a:ea typeface="+mj-ea"/>
                <a:cs typeface="Microsoft YaHei" pitchFamily="34" charset="-120"/>
              </a:rPr>
              <a:t>小端</a:t>
            </a:r>
            <a:r>
              <a:rPr lang="zh-CN" altLang="en-US" sz="2000" dirty="0">
                <a:solidFill>
                  <a:srgbClr val="B64B3A"/>
                </a:solidFill>
                <a:latin typeface="Consolas" panose="020B0609020204030204" pitchFamily="49" charset="0"/>
                <a:ea typeface="+mj-ea"/>
                <a:cs typeface="Microsoft YaHei" pitchFamily="34" charset="-120"/>
              </a:rPr>
              <a:t>存储</a:t>
            </a:r>
            <a:endParaRPr lang="en-US" sz="2000" dirty="0">
              <a:latin typeface="Consolas" panose="020B0609020204030204" pitchFamily="49" charset="0"/>
              <a:ea typeface="+mj-ea"/>
            </a:endParaRPr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C40D7B32-86CE-9CE9-154A-EC6945AE8B91}"/>
              </a:ext>
            </a:extLst>
          </p:cNvPr>
          <p:cNvSpPr/>
          <p:nvPr/>
        </p:nvSpPr>
        <p:spPr>
          <a:xfrm>
            <a:off x="3794760" y="4579256"/>
            <a:ext cx="530352" cy="457200"/>
          </a:xfrm>
          <a:prstGeom prst="rect">
            <a:avLst/>
          </a:prstGeom>
          <a:solidFill>
            <a:srgbClr val="FFF1A6"/>
          </a:solidFill>
          <a:ln w="12700">
            <a:solidFill>
              <a:srgbClr val="14323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14323A"/>
                </a:solidFill>
                <a:latin typeface="Consolas" panose="020B0609020204030204" pitchFamily="49" charset="0"/>
                <a:ea typeface="+mj-ea"/>
                <a:cs typeface="Microsoft YaHei" pitchFamily="34" charset="-120"/>
              </a:rPr>
              <a:t>d4</a:t>
            </a:r>
            <a:endParaRPr lang="en-US" sz="1700" dirty="0">
              <a:latin typeface="Consolas" panose="020B0609020204030204" pitchFamily="49" charset="0"/>
              <a:ea typeface="+mj-ea"/>
            </a:endParaRPr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B18E111F-EF6D-70E9-4111-78DC57AEE722}"/>
              </a:ext>
            </a:extLst>
          </p:cNvPr>
          <p:cNvSpPr/>
          <p:nvPr/>
        </p:nvSpPr>
        <p:spPr>
          <a:xfrm>
            <a:off x="4416552" y="4579256"/>
            <a:ext cx="530352" cy="457200"/>
          </a:xfrm>
          <a:prstGeom prst="rect">
            <a:avLst/>
          </a:prstGeom>
          <a:solidFill>
            <a:srgbClr val="FFF1A6"/>
          </a:solidFill>
          <a:ln w="12700">
            <a:solidFill>
              <a:srgbClr val="14323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14323A"/>
                </a:solidFill>
                <a:latin typeface="Consolas" panose="020B0609020204030204" pitchFamily="49" charset="0"/>
                <a:ea typeface="+mj-ea"/>
                <a:cs typeface="Microsoft YaHei" pitchFamily="34" charset="-120"/>
              </a:rPr>
              <a:t>04</a:t>
            </a:r>
            <a:endParaRPr lang="en-US" sz="1700" dirty="0">
              <a:latin typeface="Consolas" panose="020B0609020204030204" pitchFamily="49" charset="0"/>
              <a:ea typeface="+mj-ea"/>
            </a:endParaRPr>
          </a:p>
        </p:txBody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0C64A569-4F37-2D39-B4D0-1E0E1A24DF65}"/>
              </a:ext>
            </a:extLst>
          </p:cNvPr>
          <p:cNvSpPr/>
          <p:nvPr/>
        </p:nvSpPr>
        <p:spPr>
          <a:xfrm>
            <a:off x="5038344" y="4579256"/>
            <a:ext cx="530352" cy="457200"/>
          </a:xfrm>
          <a:prstGeom prst="rect">
            <a:avLst/>
          </a:prstGeom>
          <a:solidFill>
            <a:srgbClr val="FFF1A6"/>
          </a:solidFill>
          <a:ln w="12700">
            <a:solidFill>
              <a:srgbClr val="14323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14323A"/>
                </a:solidFill>
                <a:latin typeface="Consolas" panose="020B0609020204030204" pitchFamily="49" charset="0"/>
                <a:ea typeface="+mj-ea"/>
                <a:cs typeface="Microsoft YaHei" pitchFamily="34" charset="-120"/>
              </a:rPr>
              <a:t>40</a:t>
            </a:r>
            <a:endParaRPr lang="en-US" sz="1700" dirty="0">
              <a:latin typeface="Consolas" panose="020B0609020204030204" pitchFamily="49" charset="0"/>
              <a:ea typeface="+mj-ea"/>
            </a:endParaRPr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560DC672-323B-91E4-D536-D50126F423B8}"/>
              </a:ext>
            </a:extLst>
          </p:cNvPr>
          <p:cNvSpPr/>
          <p:nvPr/>
        </p:nvSpPr>
        <p:spPr>
          <a:xfrm>
            <a:off x="5660136" y="4579256"/>
            <a:ext cx="530352" cy="457200"/>
          </a:xfrm>
          <a:prstGeom prst="rect">
            <a:avLst/>
          </a:prstGeom>
          <a:solidFill>
            <a:srgbClr val="E6E3DA"/>
          </a:solidFill>
          <a:ln w="12700">
            <a:solidFill>
              <a:srgbClr val="14323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14323A"/>
                </a:solidFill>
                <a:latin typeface="Consolas" panose="020B0609020204030204" pitchFamily="49" charset="0"/>
                <a:ea typeface="+mj-ea"/>
                <a:cs typeface="Microsoft YaHei" pitchFamily="34" charset="-120"/>
              </a:rPr>
              <a:t>00</a:t>
            </a:r>
            <a:endParaRPr lang="en-US" sz="1700" dirty="0">
              <a:latin typeface="Consolas" panose="020B0609020204030204" pitchFamily="49" charset="0"/>
              <a:ea typeface="+mj-ea"/>
            </a:endParaRPr>
          </a:p>
        </p:txBody>
      </p:sp>
      <p:sp>
        <p:nvSpPr>
          <p:cNvPr id="21" name="Text 20">
            <a:extLst>
              <a:ext uri="{FF2B5EF4-FFF2-40B4-BE49-F238E27FC236}">
                <a16:creationId xmlns:a16="http://schemas.microsoft.com/office/drawing/2014/main" id="{617A3F3A-7854-7428-0D3C-4061C138AD0A}"/>
              </a:ext>
            </a:extLst>
          </p:cNvPr>
          <p:cNvSpPr/>
          <p:nvPr/>
        </p:nvSpPr>
        <p:spPr>
          <a:xfrm>
            <a:off x="6281928" y="4579256"/>
            <a:ext cx="530352" cy="457200"/>
          </a:xfrm>
          <a:prstGeom prst="rect">
            <a:avLst/>
          </a:prstGeom>
          <a:solidFill>
            <a:srgbClr val="E6E3DA"/>
          </a:solidFill>
          <a:ln w="12700">
            <a:solidFill>
              <a:srgbClr val="14323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14323A"/>
                </a:solidFill>
                <a:latin typeface="Consolas" panose="020B0609020204030204" pitchFamily="49" charset="0"/>
                <a:ea typeface="+mj-ea"/>
                <a:cs typeface="Microsoft YaHei" pitchFamily="34" charset="-120"/>
              </a:rPr>
              <a:t>00</a:t>
            </a:r>
            <a:endParaRPr lang="en-US" sz="1700" dirty="0">
              <a:latin typeface="Consolas" panose="020B0609020204030204" pitchFamily="49" charset="0"/>
              <a:ea typeface="+mj-ea"/>
            </a:endParaRPr>
          </a:p>
        </p:txBody>
      </p:sp>
      <p:sp>
        <p:nvSpPr>
          <p:cNvPr id="22" name="Text 21">
            <a:extLst>
              <a:ext uri="{FF2B5EF4-FFF2-40B4-BE49-F238E27FC236}">
                <a16:creationId xmlns:a16="http://schemas.microsoft.com/office/drawing/2014/main" id="{2752045B-44FB-61A0-BC70-53576C36833D}"/>
              </a:ext>
            </a:extLst>
          </p:cNvPr>
          <p:cNvSpPr/>
          <p:nvPr/>
        </p:nvSpPr>
        <p:spPr>
          <a:xfrm>
            <a:off x="6903720" y="4579256"/>
            <a:ext cx="530352" cy="457200"/>
          </a:xfrm>
          <a:prstGeom prst="rect">
            <a:avLst/>
          </a:prstGeom>
          <a:solidFill>
            <a:srgbClr val="E6E3DA"/>
          </a:solidFill>
          <a:ln w="12700">
            <a:solidFill>
              <a:srgbClr val="14323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14323A"/>
                </a:solidFill>
                <a:latin typeface="Consolas" panose="020B0609020204030204" pitchFamily="49" charset="0"/>
                <a:ea typeface="+mj-ea"/>
                <a:cs typeface="Microsoft YaHei" pitchFamily="34" charset="-120"/>
              </a:rPr>
              <a:t>00</a:t>
            </a:r>
            <a:endParaRPr lang="en-US" sz="1700" dirty="0">
              <a:latin typeface="Consolas" panose="020B0609020204030204" pitchFamily="49" charset="0"/>
              <a:ea typeface="+mj-ea"/>
            </a:endParaRPr>
          </a:p>
        </p:txBody>
      </p:sp>
      <p:sp>
        <p:nvSpPr>
          <p:cNvPr id="23" name="Text 22">
            <a:extLst>
              <a:ext uri="{FF2B5EF4-FFF2-40B4-BE49-F238E27FC236}">
                <a16:creationId xmlns:a16="http://schemas.microsoft.com/office/drawing/2014/main" id="{717F66B8-568D-DEC4-5178-D9707CFBECDA}"/>
              </a:ext>
            </a:extLst>
          </p:cNvPr>
          <p:cNvSpPr/>
          <p:nvPr/>
        </p:nvSpPr>
        <p:spPr>
          <a:xfrm>
            <a:off x="7525512" y="4579256"/>
            <a:ext cx="530352" cy="457200"/>
          </a:xfrm>
          <a:prstGeom prst="rect">
            <a:avLst/>
          </a:prstGeom>
          <a:solidFill>
            <a:srgbClr val="E6E3DA"/>
          </a:solidFill>
          <a:ln w="12700">
            <a:solidFill>
              <a:srgbClr val="14323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14323A"/>
                </a:solidFill>
                <a:latin typeface="Consolas" panose="020B0609020204030204" pitchFamily="49" charset="0"/>
                <a:ea typeface="+mj-ea"/>
                <a:cs typeface="Microsoft YaHei" pitchFamily="34" charset="-120"/>
              </a:rPr>
              <a:t>00</a:t>
            </a:r>
            <a:endParaRPr lang="en-US" sz="1700" dirty="0">
              <a:latin typeface="Consolas" panose="020B0609020204030204" pitchFamily="49" charset="0"/>
              <a:ea typeface="+mj-ea"/>
            </a:endParaRPr>
          </a:p>
        </p:txBody>
      </p:sp>
      <p:sp>
        <p:nvSpPr>
          <p:cNvPr id="24" name="Text 23">
            <a:extLst>
              <a:ext uri="{FF2B5EF4-FFF2-40B4-BE49-F238E27FC236}">
                <a16:creationId xmlns:a16="http://schemas.microsoft.com/office/drawing/2014/main" id="{32BEBDBB-E3B4-DD81-C574-149B0C3BF1C9}"/>
              </a:ext>
            </a:extLst>
          </p:cNvPr>
          <p:cNvSpPr/>
          <p:nvPr/>
        </p:nvSpPr>
        <p:spPr>
          <a:xfrm>
            <a:off x="8147304" y="4579256"/>
            <a:ext cx="530352" cy="457200"/>
          </a:xfrm>
          <a:prstGeom prst="rect">
            <a:avLst/>
          </a:prstGeom>
          <a:solidFill>
            <a:srgbClr val="E6E3DA"/>
          </a:solidFill>
          <a:ln w="12700">
            <a:solidFill>
              <a:srgbClr val="14323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14323A"/>
                </a:solidFill>
                <a:latin typeface="Consolas" panose="020B0609020204030204" pitchFamily="49" charset="0"/>
                <a:ea typeface="+mj-ea"/>
                <a:cs typeface="Microsoft YaHei" pitchFamily="34" charset="-120"/>
              </a:rPr>
              <a:t>00</a:t>
            </a:r>
            <a:endParaRPr lang="en-US" sz="1700" dirty="0">
              <a:latin typeface="Consolas" panose="020B0609020204030204" pitchFamily="49" charset="0"/>
              <a:ea typeface="+mj-ea"/>
            </a:endParaRPr>
          </a:p>
        </p:txBody>
      </p:sp>
      <p:sp>
        <p:nvSpPr>
          <p:cNvPr id="25" name="Text 24">
            <a:extLst>
              <a:ext uri="{FF2B5EF4-FFF2-40B4-BE49-F238E27FC236}">
                <a16:creationId xmlns:a16="http://schemas.microsoft.com/office/drawing/2014/main" id="{2621C401-30D9-F554-D163-F46B69D3F389}"/>
              </a:ext>
            </a:extLst>
          </p:cNvPr>
          <p:cNvSpPr/>
          <p:nvPr/>
        </p:nvSpPr>
        <p:spPr>
          <a:xfrm>
            <a:off x="3758329" y="517361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0737A"/>
                </a:solidFill>
                <a:latin typeface="Consolas" panose="020B0609020204030204" pitchFamily="49" charset="0"/>
                <a:ea typeface="+mj-ea"/>
                <a:cs typeface="Microsoft YaHei" pitchFamily="34" charset="-120"/>
              </a:rPr>
              <a:t>低地址</a:t>
            </a:r>
            <a:endParaRPr lang="en-US" dirty="0">
              <a:latin typeface="Consolas" panose="020B0609020204030204" pitchFamily="49" charset="0"/>
              <a:ea typeface="+mj-ea"/>
            </a:endParaRPr>
          </a:p>
        </p:txBody>
      </p:sp>
      <p:sp>
        <p:nvSpPr>
          <p:cNvPr id="26" name="Text 25">
            <a:extLst>
              <a:ext uri="{FF2B5EF4-FFF2-40B4-BE49-F238E27FC236}">
                <a16:creationId xmlns:a16="http://schemas.microsoft.com/office/drawing/2014/main" id="{1C0CE139-C5F0-21C9-5978-EC9345FF9480}"/>
              </a:ext>
            </a:extLst>
          </p:cNvPr>
          <p:cNvSpPr/>
          <p:nvPr/>
        </p:nvSpPr>
        <p:spPr>
          <a:xfrm>
            <a:off x="7946136" y="517361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0737A"/>
                </a:solidFill>
                <a:latin typeface="Consolas" panose="020B0609020204030204" pitchFamily="49" charset="0"/>
                <a:ea typeface="+mj-ea"/>
                <a:cs typeface="Microsoft YaHei" pitchFamily="34" charset="-120"/>
              </a:rPr>
              <a:t>高地址</a:t>
            </a:r>
            <a:endParaRPr lang="en-US" dirty="0">
              <a:latin typeface="Consolas" panose="020B0609020204030204" pitchFamily="49" charset="0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6527976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D9D41-546F-C856-90E4-ABEDA4258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1311BA4-89A7-5ADC-2DAB-F065C38097E6}"/>
              </a:ext>
            </a:extLst>
          </p:cNvPr>
          <p:cNvSpPr txBox="1"/>
          <p:nvPr/>
        </p:nvSpPr>
        <p:spPr>
          <a:xfrm>
            <a:off x="564596" y="540048"/>
            <a:ext cx="703590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200" dirty="0">
                <a:latin typeface="+mj-lt"/>
                <a:ea typeface="+mj-ea"/>
              </a:rPr>
              <a:t>x86-64 Linux </a:t>
            </a:r>
            <a:r>
              <a:rPr lang="zh-CN" altLang="en-US" sz="4200" dirty="0">
                <a:latin typeface="+mj-lt"/>
                <a:ea typeface="+mj-ea"/>
              </a:rPr>
              <a:t>的进程内存布局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6744D93-B823-FC30-1803-7BA1C69AE998}"/>
              </a:ext>
            </a:extLst>
          </p:cNvPr>
          <p:cNvSpPr txBox="1"/>
          <p:nvPr/>
        </p:nvSpPr>
        <p:spPr>
          <a:xfrm>
            <a:off x="564597" y="1779704"/>
            <a:ext cx="6480580" cy="3346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程序看到的是虚拟地址空间，每个进程像拥有一大片私有空间；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Consolas" panose="020B0609020204030204" pitchFamily="49" charset="0"/>
              </a:rPr>
              <a:t>Text</a:t>
            </a:r>
            <a:r>
              <a:rPr lang="en-US" altLang="zh-CN" sz="2400" dirty="0">
                <a:latin typeface="Consolas" panose="020B0609020204030204" pitchFamily="49" charset="0"/>
              </a:rPr>
              <a:t>/</a:t>
            </a:r>
            <a:r>
              <a:rPr lang="en-US" altLang="zh-CN" sz="2400" b="1" dirty="0">
                <a:latin typeface="Consolas" panose="020B0609020204030204" pitchFamily="49" charset="0"/>
              </a:rPr>
              <a:t>Data</a:t>
            </a:r>
            <a:r>
              <a:rPr lang="en-US" altLang="zh-CN" sz="2400" dirty="0">
                <a:latin typeface="Consolas" panose="020B0609020204030204" pitchFamily="49" charset="0"/>
              </a:rPr>
              <a:t>/</a:t>
            </a:r>
            <a:r>
              <a:rPr lang="en-US" altLang="zh-CN" sz="2400" b="1" dirty="0">
                <a:latin typeface="Consolas" panose="020B0609020204030204" pitchFamily="49" charset="0"/>
              </a:rPr>
              <a:t>Heap</a:t>
            </a:r>
            <a:r>
              <a:rPr lang="en-US" altLang="zh-CN" sz="2400" dirty="0">
                <a:latin typeface="Consolas" panose="020B0609020204030204" pitchFamily="49" charset="0"/>
              </a:rPr>
              <a:t>/</a:t>
            </a:r>
            <a:r>
              <a:rPr lang="en-US" altLang="zh-CN" sz="2400" b="1" dirty="0" err="1">
                <a:latin typeface="Consolas" panose="020B0609020204030204" pitchFamily="49" charset="0"/>
              </a:rPr>
              <a:t>mmap</a:t>
            </a:r>
            <a:r>
              <a:rPr lang="en-US" altLang="zh-CN" sz="2400" dirty="0">
                <a:latin typeface="Consolas" panose="020B0609020204030204" pitchFamily="49" charset="0"/>
              </a:rPr>
              <a:t>/</a:t>
            </a:r>
            <a:r>
              <a:rPr lang="en-US" altLang="zh-CN" sz="2400" b="1" dirty="0">
                <a:latin typeface="Consolas" panose="020B0609020204030204" pitchFamily="49" charset="0"/>
              </a:rPr>
              <a:t>Stack</a:t>
            </a:r>
            <a:r>
              <a:rPr lang="zh-CN" altLang="en-US" sz="2400" dirty="0"/>
              <a:t>各承担不同角色；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栈通常向低地址增长；堆常向高地址扩展；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/>
              <a:t>ASLR </a:t>
            </a:r>
            <a:r>
              <a:rPr lang="zh-CN" altLang="en-US" sz="2400" dirty="0"/>
              <a:t>会让栈、共享库、</a:t>
            </a:r>
            <a:r>
              <a:rPr lang="en-US" altLang="zh-CN" sz="2400" b="1" dirty="0" err="1">
                <a:latin typeface="Consolas" panose="020B0609020204030204" pitchFamily="49" charset="0"/>
              </a:rPr>
              <a:t>mmap</a:t>
            </a:r>
            <a:r>
              <a:rPr lang="en-US" altLang="zh-CN" sz="2400" dirty="0"/>
              <a:t> </a:t>
            </a:r>
            <a:r>
              <a:rPr lang="zh-CN" altLang="en-US" sz="2400" dirty="0"/>
              <a:t>等位置随机化。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CB0526D-A71A-AFEE-8F55-12E40CEB9D09}"/>
              </a:ext>
            </a:extLst>
          </p:cNvPr>
          <p:cNvSpPr/>
          <p:nvPr/>
        </p:nvSpPr>
        <p:spPr>
          <a:xfrm>
            <a:off x="8623693" y="3388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C00000"/>
                </a:solidFill>
                <a:latin typeface="+mj-ea"/>
                <a:ea typeface="+mj-ea"/>
                <a:cs typeface="Noto Sans CJK SC" pitchFamily="34" charset="-120"/>
              </a:rPr>
              <a:t>高地址</a:t>
            </a:r>
            <a:endParaRPr lang="en-US" sz="1600" dirty="0">
              <a:latin typeface="+mj-ea"/>
              <a:ea typeface="+mj-ea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3098BB2-D9F7-7F9A-5E52-3798C409F257}"/>
              </a:ext>
            </a:extLst>
          </p:cNvPr>
          <p:cNvSpPr/>
          <p:nvPr/>
        </p:nvSpPr>
        <p:spPr>
          <a:xfrm>
            <a:off x="8120773" y="636612"/>
            <a:ext cx="2834640" cy="868680"/>
          </a:xfrm>
          <a:prstGeom prst="rect">
            <a:avLst/>
          </a:prstGeom>
          <a:solidFill>
            <a:srgbClr val="D7D3EF"/>
          </a:solidFill>
          <a:ln w="12700">
            <a:solidFill>
              <a:srgbClr val="0E1F24"/>
            </a:solidFill>
          </a:ln>
        </p:spPr>
        <p:txBody>
          <a:bodyPr wrap="square" lIns="1524" tIns="1524" rIns="1524" bIns="152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E1F24"/>
                </a:solidFill>
                <a:latin typeface="Consolas" panose="020B0609020204030204" pitchFamily="49" charset="0"/>
                <a:ea typeface="仿宋" panose="02010609060101010101" pitchFamily="49" charset="-122"/>
                <a:cs typeface="Noto Sans CJK SC" pitchFamily="34" charset="-120"/>
              </a:rPr>
              <a:t>Stack</a:t>
            </a:r>
            <a:endParaRPr lang="en-US" sz="1900" dirty="0"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marL="0" indent="0" algn="ctr">
              <a:buNone/>
            </a:pPr>
            <a:r>
              <a:rPr lang="en-US" sz="1900" dirty="0">
                <a:solidFill>
                  <a:srgbClr val="0E1F24"/>
                </a:solidFill>
                <a:latin typeface="Consolas" panose="020B0609020204030204" pitchFamily="49" charset="0"/>
                <a:ea typeface="仿宋" panose="02010609060101010101" pitchFamily="49" charset="-122"/>
                <a:cs typeface="Noto Sans CJK SC" pitchFamily="34" charset="-120"/>
              </a:rPr>
              <a:t>局部变量 / 栈帧 / 返回地址</a:t>
            </a:r>
            <a:endParaRPr lang="en-US" sz="1900" dirty="0">
              <a:latin typeface="Consolas" panose="020B0609020204030204" pitchFamily="49" charset="0"/>
              <a:ea typeface="仿宋" panose="02010609060101010101" pitchFamily="49" charset="-122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646DEB4-346A-D0C5-16AE-0EA14209079C}"/>
              </a:ext>
            </a:extLst>
          </p:cNvPr>
          <p:cNvSpPr/>
          <p:nvPr/>
        </p:nvSpPr>
        <p:spPr>
          <a:xfrm>
            <a:off x="8120773" y="1596732"/>
            <a:ext cx="2834640" cy="566928"/>
          </a:xfrm>
          <a:prstGeom prst="rect">
            <a:avLst/>
          </a:prstGeom>
          <a:solidFill>
            <a:srgbClr val="E8E8E8"/>
          </a:solidFill>
          <a:ln w="12700">
            <a:solidFill>
              <a:srgbClr val="BBBBB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Noto Sans CJK SC" pitchFamily="34" charset="-122"/>
                <a:cs typeface="Noto Sans CJK SC" pitchFamily="34" charset="-120"/>
              </a:rPr>
              <a:t>randomized gap</a:t>
            </a:r>
            <a:endParaRPr lang="en-US" sz="1600" dirty="0">
              <a:latin typeface="Consolas" panose="020B0609020204030204" pitchFamily="49" charset="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0A5C3A8-96A1-9ECF-E425-0D47884DF906}"/>
              </a:ext>
            </a:extLst>
          </p:cNvPr>
          <p:cNvSpPr/>
          <p:nvPr/>
        </p:nvSpPr>
        <p:spPr>
          <a:xfrm>
            <a:off x="8120773" y="2282532"/>
            <a:ext cx="2834640" cy="1097280"/>
          </a:xfrm>
          <a:prstGeom prst="rect">
            <a:avLst/>
          </a:prstGeom>
          <a:solidFill>
            <a:srgbClr val="DFF2DC"/>
          </a:solidFill>
          <a:ln w="12700">
            <a:solidFill>
              <a:srgbClr val="0E1F24"/>
            </a:solidFill>
          </a:ln>
        </p:spPr>
        <p:txBody>
          <a:bodyPr wrap="square" lIns="1524" tIns="1524" rIns="1524" bIns="152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1F24"/>
                </a:solidFill>
                <a:latin typeface="Consolas" panose="020B0609020204030204" pitchFamily="49" charset="0"/>
                <a:ea typeface="仿宋" panose="02010609060101010101" pitchFamily="49" charset="-122"/>
                <a:cs typeface="Noto Sans CJK SC" pitchFamily="34" charset="-120"/>
              </a:rPr>
              <a:t>Shared Libraries / mmap</a:t>
            </a:r>
            <a:endParaRPr lang="en-US" sz="1800" dirty="0"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marL="0" indent="0" algn="ctr">
              <a:buNone/>
            </a:pPr>
            <a:r>
              <a:rPr lang="en-US" sz="1800" dirty="0">
                <a:solidFill>
                  <a:srgbClr val="0E1F24"/>
                </a:solidFill>
                <a:latin typeface="Consolas" panose="020B0609020204030204" pitchFamily="49" charset="0"/>
                <a:ea typeface="仿宋" panose="02010609060101010101" pitchFamily="49" charset="-122"/>
                <a:cs typeface="Noto Sans CJK SC" pitchFamily="34" charset="-120"/>
              </a:rPr>
              <a:t>共享库、大块 malloc、映射文件</a:t>
            </a:r>
            <a:endParaRPr lang="en-US" sz="1800" dirty="0">
              <a:latin typeface="Consolas" panose="020B0609020204030204" pitchFamily="49" charset="0"/>
              <a:ea typeface="仿宋" panose="02010609060101010101" pitchFamily="49" charset="-122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69C7DCC-86B6-2456-C4B2-F36A9E99738F}"/>
              </a:ext>
            </a:extLst>
          </p:cNvPr>
          <p:cNvSpPr/>
          <p:nvPr/>
        </p:nvSpPr>
        <p:spPr>
          <a:xfrm>
            <a:off x="8120773" y="3608412"/>
            <a:ext cx="2834640" cy="777240"/>
          </a:xfrm>
          <a:prstGeom prst="rect">
            <a:avLst/>
          </a:prstGeom>
          <a:solidFill>
            <a:srgbClr val="C9E7C7"/>
          </a:solidFill>
          <a:ln w="12700">
            <a:solidFill>
              <a:srgbClr val="0E1F24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1F24"/>
                </a:solidFill>
                <a:latin typeface="Consolas" panose="020B0609020204030204" pitchFamily="49" charset="0"/>
                <a:ea typeface="仿宋" panose="02010609060101010101" pitchFamily="49" charset="-122"/>
                <a:cs typeface="Noto Sans CJK SC" pitchFamily="34" charset="-120"/>
              </a:rPr>
              <a:t>Heap</a:t>
            </a:r>
            <a:endParaRPr lang="en-US" sz="2000" dirty="0"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marL="0" indent="0" algn="ctr">
              <a:buNone/>
            </a:pPr>
            <a:r>
              <a:rPr lang="en-US" sz="2000" dirty="0">
                <a:solidFill>
                  <a:srgbClr val="0E1F24"/>
                </a:solidFill>
                <a:latin typeface="Consolas" panose="020B0609020204030204" pitchFamily="49" charset="0"/>
                <a:ea typeface="仿宋" panose="02010609060101010101" pitchFamily="49" charset="-122"/>
                <a:cs typeface="Noto Sans CJK SC" pitchFamily="34" charset="-120"/>
              </a:rPr>
              <a:t>动态分配</a:t>
            </a:r>
            <a:endParaRPr lang="en-US" sz="2000" dirty="0">
              <a:latin typeface="Consolas" panose="020B0609020204030204" pitchFamily="49" charset="0"/>
              <a:ea typeface="仿宋" panose="02010609060101010101" pitchFamily="49" charset="-122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BE951C9-079A-1AEB-E08C-301DC3ECBE6D}"/>
              </a:ext>
            </a:extLst>
          </p:cNvPr>
          <p:cNvSpPr/>
          <p:nvPr/>
        </p:nvSpPr>
        <p:spPr>
          <a:xfrm>
            <a:off x="8120773" y="4522812"/>
            <a:ext cx="2834640" cy="777240"/>
          </a:xfrm>
          <a:prstGeom prst="rect">
            <a:avLst/>
          </a:prstGeom>
          <a:solidFill>
            <a:srgbClr val="F2CACA"/>
          </a:solidFill>
          <a:ln w="12700">
            <a:solidFill>
              <a:srgbClr val="0E1F24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1F24"/>
                </a:solidFill>
                <a:latin typeface="Consolas" panose="020B0609020204030204" pitchFamily="49" charset="0"/>
                <a:ea typeface="仿宋" panose="02010609060101010101" pitchFamily="49" charset="-122"/>
                <a:cs typeface="Noto Sans CJK SC" pitchFamily="34" charset="-120"/>
              </a:rPr>
              <a:t>Data / BSS</a:t>
            </a:r>
            <a:endParaRPr lang="en-US" sz="1800" dirty="0"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marL="0" indent="0" algn="ctr">
              <a:buNone/>
            </a:pPr>
            <a:r>
              <a:rPr lang="en-US" sz="1800" dirty="0" err="1">
                <a:solidFill>
                  <a:srgbClr val="0E1F24"/>
                </a:solidFill>
                <a:latin typeface="Consolas" panose="020B0609020204030204" pitchFamily="49" charset="0"/>
                <a:ea typeface="仿宋" panose="02010609060101010101" pitchFamily="49" charset="-122"/>
                <a:cs typeface="Noto Sans CJK SC" pitchFamily="34" charset="-120"/>
              </a:rPr>
              <a:t>全局、静态</a:t>
            </a:r>
            <a:r>
              <a:rPr lang="zh-CN" altLang="en-US" sz="1800" dirty="0">
                <a:solidFill>
                  <a:srgbClr val="0E1F24"/>
                </a:solidFill>
                <a:latin typeface="Consolas" panose="020B0609020204030204" pitchFamily="49" charset="0"/>
                <a:ea typeface="仿宋" panose="02010609060101010101" pitchFamily="49" charset="-122"/>
                <a:cs typeface="Noto Sans CJK SC" pitchFamily="34" charset="-120"/>
              </a:rPr>
              <a:t>变量</a:t>
            </a:r>
            <a:endParaRPr lang="en-US" sz="1800" dirty="0">
              <a:latin typeface="Consolas" panose="020B0609020204030204" pitchFamily="49" charset="0"/>
              <a:ea typeface="仿宋" panose="02010609060101010101" pitchFamily="49" charset="-122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1E088B2-2DCE-D797-63AA-C44290903001}"/>
              </a:ext>
            </a:extLst>
          </p:cNvPr>
          <p:cNvSpPr/>
          <p:nvPr/>
        </p:nvSpPr>
        <p:spPr>
          <a:xfrm>
            <a:off x="8120773" y="5437212"/>
            <a:ext cx="2834640" cy="685800"/>
          </a:xfrm>
          <a:prstGeom prst="rect">
            <a:avLst/>
          </a:prstGeom>
          <a:solidFill>
            <a:srgbClr val="FFF6C4"/>
          </a:solidFill>
          <a:ln w="12700">
            <a:solidFill>
              <a:srgbClr val="0E1F24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1F24"/>
                </a:solidFill>
                <a:latin typeface="Consolas" panose="020B0609020204030204" pitchFamily="49" charset="0"/>
                <a:ea typeface="仿宋" panose="02010609060101010101" pitchFamily="49" charset="-122"/>
                <a:cs typeface="Noto Sans CJK SC" pitchFamily="34" charset="-120"/>
              </a:rPr>
              <a:t>Text</a:t>
            </a:r>
            <a:endParaRPr lang="en-US" sz="1800" dirty="0">
              <a:latin typeface="Consolas" panose="020B0609020204030204" pitchFamily="49" charset="0"/>
              <a:ea typeface="仿宋" panose="02010609060101010101" pitchFamily="49" charset="-122"/>
            </a:endParaRPr>
          </a:p>
          <a:p>
            <a:pPr marL="0" indent="0" algn="ctr">
              <a:buNone/>
            </a:pPr>
            <a:r>
              <a:rPr lang="en-US" sz="1800" dirty="0">
                <a:solidFill>
                  <a:srgbClr val="0E1F24"/>
                </a:solidFill>
                <a:latin typeface="Consolas" panose="020B0609020204030204" pitchFamily="49" charset="0"/>
                <a:ea typeface="仿宋" panose="02010609060101010101" pitchFamily="49" charset="-122"/>
                <a:cs typeface="Noto Sans CJK SC" pitchFamily="34" charset="-120"/>
              </a:rPr>
              <a:t>机器指令，只读/可执行</a:t>
            </a:r>
            <a:endParaRPr lang="en-US" sz="1800" dirty="0">
              <a:latin typeface="Consolas" panose="020B0609020204030204" pitchFamily="49" charset="0"/>
              <a:ea typeface="仿宋" panose="02010609060101010101" pitchFamily="49" charset="-122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B96867D-1921-F782-CFD2-B3570E193EB2}"/>
              </a:ext>
            </a:extLst>
          </p:cNvPr>
          <p:cNvSpPr/>
          <p:nvPr/>
        </p:nvSpPr>
        <p:spPr>
          <a:xfrm>
            <a:off x="8623693" y="6316141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C00000"/>
                </a:solidFill>
                <a:latin typeface="+mj-ea"/>
                <a:ea typeface="+mj-ea"/>
                <a:cs typeface="Noto Sans CJK SC" pitchFamily="34" charset="-120"/>
              </a:rPr>
              <a:t>低地址</a:t>
            </a:r>
            <a:endParaRPr lang="en-US" sz="1600" dirty="0">
              <a:latin typeface="+mj-ea"/>
              <a:ea typeface="+mj-ea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6679C3D-93EB-9007-5449-86D0A7E98B16}"/>
              </a:ext>
            </a:extLst>
          </p:cNvPr>
          <p:cNvSpPr/>
          <p:nvPr/>
        </p:nvSpPr>
        <p:spPr>
          <a:xfrm>
            <a:off x="11270921" y="744438"/>
            <a:ext cx="0" cy="5234786"/>
          </a:xfrm>
          <a:prstGeom prst="line">
            <a:avLst/>
          </a:prstGeom>
          <a:noFill/>
          <a:ln w="19050">
            <a:solidFill>
              <a:srgbClr val="0E1F24"/>
            </a:solidFill>
            <a:prstDash val="solid"/>
            <a:tailEnd type="triangle"/>
          </a:ln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BCAB0AF-DDA1-B744-6EA0-11AFB908953E}"/>
              </a:ext>
            </a:extLst>
          </p:cNvPr>
          <p:cNvSpPr/>
          <p:nvPr/>
        </p:nvSpPr>
        <p:spPr>
          <a:xfrm>
            <a:off x="11460480" y="2934059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zh-CN" altLang="en-US" sz="1600" dirty="0">
                <a:solidFill>
                  <a:srgbClr val="0E1F24"/>
                </a:solidFill>
                <a:latin typeface="+mn-ea"/>
                <a:cs typeface="Noto Sans CJK SC" pitchFamily="34" charset="-120"/>
              </a:rPr>
              <a:t>地</a:t>
            </a:r>
            <a:endParaRPr lang="en-US" altLang="zh-CN" sz="1600" dirty="0">
              <a:solidFill>
                <a:srgbClr val="0E1F24"/>
              </a:solidFill>
              <a:latin typeface="+mn-ea"/>
              <a:cs typeface="Noto Sans CJK SC" pitchFamily="34" charset="-120"/>
            </a:endParaRPr>
          </a:p>
          <a:p>
            <a:pPr marL="0" indent="0" algn="l">
              <a:buNone/>
            </a:pPr>
            <a:r>
              <a:rPr lang="zh-CN" altLang="en-US" sz="1600" dirty="0">
                <a:solidFill>
                  <a:srgbClr val="0E1F24"/>
                </a:solidFill>
                <a:latin typeface="+mn-ea"/>
                <a:cs typeface="Noto Sans CJK SC" pitchFamily="34" charset="-120"/>
              </a:rPr>
              <a:t>址</a:t>
            </a:r>
            <a:endParaRPr lang="en-US" altLang="zh-CN" sz="1600" dirty="0">
              <a:solidFill>
                <a:srgbClr val="0E1F24"/>
              </a:solidFill>
              <a:latin typeface="+mn-ea"/>
              <a:cs typeface="Noto Sans CJK SC" pitchFamily="34" charset="-120"/>
            </a:endParaRPr>
          </a:p>
          <a:p>
            <a:pPr marL="0" indent="0" algn="l">
              <a:buNone/>
            </a:pPr>
            <a:r>
              <a:rPr lang="zh-CN" altLang="en-US" sz="1600" dirty="0">
                <a:solidFill>
                  <a:srgbClr val="0E1F24"/>
                </a:solidFill>
                <a:latin typeface="+mn-ea"/>
                <a:cs typeface="Noto Sans CJK SC" pitchFamily="34" charset="-120"/>
              </a:rPr>
              <a:t>递</a:t>
            </a:r>
            <a:endParaRPr lang="en-US" altLang="zh-CN" sz="1600" dirty="0">
              <a:solidFill>
                <a:srgbClr val="0E1F24"/>
              </a:solidFill>
              <a:latin typeface="+mn-ea"/>
              <a:cs typeface="Noto Sans CJK SC" pitchFamily="34" charset="-120"/>
            </a:endParaRPr>
          </a:p>
          <a:p>
            <a:pPr marL="0" indent="0" algn="l">
              <a:buNone/>
            </a:pPr>
            <a:r>
              <a:rPr lang="zh-CN" altLang="en-US" sz="1600" dirty="0">
                <a:solidFill>
                  <a:srgbClr val="0E1F24"/>
                </a:solidFill>
                <a:latin typeface="+mn-ea"/>
                <a:cs typeface="Noto Sans CJK SC" pitchFamily="34" charset="-120"/>
              </a:rPr>
              <a:t>减</a:t>
            </a:r>
            <a:endParaRPr lang="en-US" sz="16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676904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A3D33-BEFE-8D7D-0CB4-B503C9A87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C32F823-E62A-4C00-7CC4-66DFD25115B4}"/>
              </a:ext>
            </a:extLst>
          </p:cNvPr>
          <p:cNvSpPr txBox="1"/>
          <p:nvPr/>
        </p:nvSpPr>
        <p:spPr>
          <a:xfrm>
            <a:off x="564596" y="540048"/>
            <a:ext cx="233910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200" dirty="0">
                <a:latin typeface="+mj-lt"/>
                <a:ea typeface="+mj-ea"/>
              </a:rPr>
              <a:t>举个例子</a:t>
            </a:r>
          </a:p>
        </p:txBody>
      </p:sp>
      <p:sp>
        <p:nvSpPr>
          <p:cNvPr id="32" name="Text 3">
            <a:extLst>
              <a:ext uri="{FF2B5EF4-FFF2-40B4-BE49-F238E27FC236}">
                <a16:creationId xmlns:a16="http://schemas.microsoft.com/office/drawing/2014/main" id="{3370217D-D706-6C84-5DFB-4DE4EF280078}"/>
              </a:ext>
            </a:extLst>
          </p:cNvPr>
          <p:cNvSpPr/>
          <p:nvPr/>
        </p:nvSpPr>
        <p:spPr>
          <a:xfrm>
            <a:off x="6486717" y="1866542"/>
            <a:ext cx="1508760" cy="411480"/>
          </a:xfrm>
          <a:prstGeom prst="rect">
            <a:avLst/>
          </a:prstGeom>
          <a:solidFill>
            <a:srgbClr val="0E1F24"/>
          </a:solidFill>
          <a:ln w="12700">
            <a:solidFill>
              <a:srgbClr val="0E1F24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anose="020B0609020204030204" pitchFamily="49" charset="0"/>
                <a:ea typeface="+mj-ea"/>
                <a:cs typeface="Noto Sans CJK SC" pitchFamily="34" charset="-120"/>
              </a:rPr>
              <a:t>对象</a:t>
            </a:r>
            <a:endParaRPr lang="en-US" sz="1800" dirty="0">
              <a:latin typeface="Consolas" panose="020B0609020204030204" pitchFamily="49" charset="0"/>
              <a:ea typeface="+mj-ea"/>
            </a:endParaRPr>
          </a:p>
        </p:txBody>
      </p:sp>
      <p:sp>
        <p:nvSpPr>
          <p:cNvPr id="33" name="Text 4">
            <a:extLst>
              <a:ext uri="{FF2B5EF4-FFF2-40B4-BE49-F238E27FC236}">
                <a16:creationId xmlns:a16="http://schemas.microsoft.com/office/drawing/2014/main" id="{A6C463E6-D464-3875-68C6-318F3746ACA3}"/>
              </a:ext>
            </a:extLst>
          </p:cNvPr>
          <p:cNvSpPr/>
          <p:nvPr/>
        </p:nvSpPr>
        <p:spPr>
          <a:xfrm>
            <a:off x="8086917" y="1866542"/>
            <a:ext cx="1828800" cy="411480"/>
          </a:xfrm>
          <a:prstGeom prst="rect">
            <a:avLst/>
          </a:prstGeom>
          <a:solidFill>
            <a:srgbClr val="0E1F24"/>
          </a:solidFill>
          <a:ln w="12700">
            <a:solidFill>
              <a:srgbClr val="0E1F24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anose="020B0609020204030204" pitchFamily="49" charset="0"/>
                <a:ea typeface="+mj-ea"/>
                <a:cs typeface="Noto Sans CJK SC" pitchFamily="34" charset="-120"/>
              </a:rPr>
              <a:t>典型区域</a:t>
            </a:r>
            <a:endParaRPr lang="en-US" sz="1800" dirty="0">
              <a:latin typeface="Consolas" panose="020B0609020204030204" pitchFamily="49" charset="0"/>
              <a:ea typeface="+mj-ea"/>
            </a:endParaRPr>
          </a:p>
        </p:txBody>
      </p:sp>
      <p:sp>
        <p:nvSpPr>
          <p:cNvPr id="34" name="Text 5">
            <a:extLst>
              <a:ext uri="{FF2B5EF4-FFF2-40B4-BE49-F238E27FC236}">
                <a16:creationId xmlns:a16="http://schemas.microsoft.com/office/drawing/2014/main" id="{4EB88909-775E-209D-604B-4726A1805F2C}"/>
              </a:ext>
            </a:extLst>
          </p:cNvPr>
          <p:cNvSpPr/>
          <p:nvPr/>
        </p:nvSpPr>
        <p:spPr>
          <a:xfrm>
            <a:off x="10007157" y="1866542"/>
            <a:ext cx="1691640" cy="411480"/>
          </a:xfrm>
          <a:prstGeom prst="rect">
            <a:avLst/>
          </a:prstGeom>
          <a:solidFill>
            <a:srgbClr val="0E1F24"/>
          </a:solidFill>
          <a:ln w="12700">
            <a:solidFill>
              <a:srgbClr val="0E1F24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anose="020B0609020204030204" pitchFamily="49" charset="0"/>
                <a:ea typeface="+mj-ea"/>
                <a:cs typeface="Noto Sans CJK SC" pitchFamily="34" charset="-120"/>
              </a:rPr>
              <a:t>原因</a:t>
            </a:r>
            <a:endParaRPr lang="en-US" sz="1800" dirty="0">
              <a:latin typeface="Consolas" panose="020B0609020204030204" pitchFamily="49" charset="0"/>
              <a:ea typeface="+mj-ea"/>
            </a:endParaRPr>
          </a:p>
        </p:txBody>
      </p:sp>
      <p:sp>
        <p:nvSpPr>
          <p:cNvPr id="35" name="Text 6">
            <a:extLst>
              <a:ext uri="{FF2B5EF4-FFF2-40B4-BE49-F238E27FC236}">
                <a16:creationId xmlns:a16="http://schemas.microsoft.com/office/drawing/2014/main" id="{92E2C01F-D858-89C5-9D41-323430756922}"/>
              </a:ext>
            </a:extLst>
          </p:cNvPr>
          <p:cNvSpPr/>
          <p:nvPr/>
        </p:nvSpPr>
        <p:spPr>
          <a:xfrm>
            <a:off x="6486717" y="2369462"/>
            <a:ext cx="1508760" cy="502920"/>
          </a:xfrm>
          <a:prstGeom prst="rect">
            <a:avLst/>
          </a:prstGeom>
          <a:solidFill>
            <a:srgbClr val="EFEFEF"/>
          </a:solidFill>
          <a:ln w="12700">
            <a:solidFill>
              <a:srgbClr val="CCCCC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0E1F24"/>
                </a:solidFill>
                <a:latin typeface="Consolas" panose="020B0609020204030204" pitchFamily="49" charset="0"/>
                <a:ea typeface="+mj-ea"/>
                <a:cs typeface="Consolas" pitchFamily="34" charset="-120"/>
              </a:rPr>
              <a:t>main, useless</a:t>
            </a:r>
            <a:endParaRPr lang="en-US" sz="1600" dirty="0">
              <a:latin typeface="Consolas" panose="020B0609020204030204" pitchFamily="49" charset="0"/>
              <a:ea typeface="+mj-ea"/>
            </a:endParaRPr>
          </a:p>
        </p:txBody>
      </p:sp>
      <p:sp>
        <p:nvSpPr>
          <p:cNvPr id="36" name="Text 7">
            <a:extLst>
              <a:ext uri="{FF2B5EF4-FFF2-40B4-BE49-F238E27FC236}">
                <a16:creationId xmlns:a16="http://schemas.microsoft.com/office/drawing/2014/main" id="{E8729712-C6FB-5F5F-0B82-044F443D4F01}"/>
              </a:ext>
            </a:extLst>
          </p:cNvPr>
          <p:cNvSpPr/>
          <p:nvPr/>
        </p:nvSpPr>
        <p:spPr>
          <a:xfrm>
            <a:off x="8086917" y="2369462"/>
            <a:ext cx="1828800" cy="502920"/>
          </a:xfrm>
          <a:prstGeom prst="rect">
            <a:avLst/>
          </a:prstGeom>
          <a:solidFill>
            <a:srgbClr val="EFEFEF"/>
          </a:solidFill>
          <a:ln w="12700">
            <a:solidFill>
              <a:srgbClr val="CCCCC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1F24"/>
                </a:solidFill>
                <a:latin typeface="Consolas" panose="020B0609020204030204" pitchFamily="49" charset="0"/>
                <a:ea typeface="+mj-ea"/>
                <a:cs typeface="Noto Sans CJK SC" pitchFamily="34" charset="-120"/>
              </a:rPr>
              <a:t>Text</a:t>
            </a:r>
            <a:endParaRPr lang="en-US" sz="1800" dirty="0">
              <a:latin typeface="Consolas" panose="020B0609020204030204" pitchFamily="49" charset="0"/>
              <a:ea typeface="+mj-ea"/>
            </a:endParaRPr>
          </a:p>
        </p:txBody>
      </p:sp>
      <p:sp>
        <p:nvSpPr>
          <p:cNvPr id="37" name="Text 8">
            <a:extLst>
              <a:ext uri="{FF2B5EF4-FFF2-40B4-BE49-F238E27FC236}">
                <a16:creationId xmlns:a16="http://schemas.microsoft.com/office/drawing/2014/main" id="{259A0C5F-583F-F223-1735-15F93FBE8A05}"/>
              </a:ext>
            </a:extLst>
          </p:cNvPr>
          <p:cNvSpPr/>
          <p:nvPr/>
        </p:nvSpPr>
        <p:spPr>
          <a:xfrm>
            <a:off x="10007157" y="2369462"/>
            <a:ext cx="1691640" cy="502920"/>
          </a:xfrm>
          <a:prstGeom prst="rect">
            <a:avLst/>
          </a:prstGeom>
          <a:solidFill>
            <a:srgbClr val="EFEFEF"/>
          </a:solidFill>
          <a:ln w="12700">
            <a:solidFill>
              <a:srgbClr val="CCCCC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0E1F24"/>
                </a:solidFill>
                <a:latin typeface="Consolas" panose="020B0609020204030204" pitchFamily="49" charset="0"/>
                <a:ea typeface="+mj-ea"/>
                <a:cs typeface="Noto Sans CJK SC" pitchFamily="34" charset="-120"/>
              </a:rPr>
              <a:t>函数指令</a:t>
            </a:r>
            <a:endParaRPr lang="en-US" sz="1600" dirty="0">
              <a:latin typeface="Consolas" panose="020B0609020204030204" pitchFamily="49" charset="0"/>
              <a:ea typeface="+mj-ea"/>
            </a:endParaRPr>
          </a:p>
        </p:txBody>
      </p:sp>
      <p:sp>
        <p:nvSpPr>
          <p:cNvPr id="38" name="Text 9">
            <a:extLst>
              <a:ext uri="{FF2B5EF4-FFF2-40B4-BE49-F238E27FC236}">
                <a16:creationId xmlns:a16="http://schemas.microsoft.com/office/drawing/2014/main" id="{2D459FD7-9652-B1C1-0E55-F291E6D7FE7F}"/>
              </a:ext>
            </a:extLst>
          </p:cNvPr>
          <p:cNvSpPr/>
          <p:nvPr/>
        </p:nvSpPr>
        <p:spPr>
          <a:xfrm>
            <a:off x="6486717" y="3027830"/>
            <a:ext cx="1508760" cy="502920"/>
          </a:xfrm>
          <a:prstGeom prst="rect">
            <a:avLst/>
          </a:prstGeom>
          <a:solidFill>
            <a:srgbClr val="FBFAF7"/>
          </a:solidFill>
          <a:ln w="12700">
            <a:solidFill>
              <a:srgbClr val="CCCCC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0E1F24"/>
                </a:solidFill>
                <a:latin typeface="Consolas" panose="020B0609020204030204" pitchFamily="49" charset="0"/>
                <a:ea typeface="+mj-ea"/>
                <a:cs typeface="Consolas" pitchFamily="34" charset="-120"/>
              </a:rPr>
              <a:t>global / arrays</a:t>
            </a:r>
            <a:endParaRPr lang="en-US" sz="1600" dirty="0">
              <a:latin typeface="Consolas" panose="020B0609020204030204" pitchFamily="49" charset="0"/>
              <a:ea typeface="+mj-ea"/>
            </a:endParaRPr>
          </a:p>
        </p:txBody>
      </p:sp>
      <p:sp>
        <p:nvSpPr>
          <p:cNvPr id="39" name="Text 10">
            <a:extLst>
              <a:ext uri="{FF2B5EF4-FFF2-40B4-BE49-F238E27FC236}">
                <a16:creationId xmlns:a16="http://schemas.microsoft.com/office/drawing/2014/main" id="{2E2C722C-801E-6939-CD4F-4F9988E8EC7C}"/>
              </a:ext>
            </a:extLst>
          </p:cNvPr>
          <p:cNvSpPr/>
          <p:nvPr/>
        </p:nvSpPr>
        <p:spPr>
          <a:xfrm>
            <a:off x="8086917" y="3027830"/>
            <a:ext cx="1828800" cy="502920"/>
          </a:xfrm>
          <a:prstGeom prst="rect">
            <a:avLst/>
          </a:prstGeom>
          <a:solidFill>
            <a:srgbClr val="FBFAF7"/>
          </a:solidFill>
          <a:ln w="12700">
            <a:solidFill>
              <a:srgbClr val="CCCCC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1F24"/>
                </a:solidFill>
                <a:latin typeface="Consolas" panose="020B0609020204030204" pitchFamily="49" charset="0"/>
                <a:ea typeface="+mj-ea"/>
                <a:cs typeface="Noto Sans CJK SC" pitchFamily="34" charset="-120"/>
              </a:rPr>
              <a:t>Data/BSS</a:t>
            </a:r>
            <a:endParaRPr lang="en-US" sz="1800" dirty="0">
              <a:latin typeface="Consolas" panose="020B0609020204030204" pitchFamily="49" charset="0"/>
              <a:ea typeface="+mj-ea"/>
            </a:endParaRPr>
          </a:p>
        </p:txBody>
      </p:sp>
      <p:sp>
        <p:nvSpPr>
          <p:cNvPr id="40" name="Text 11">
            <a:extLst>
              <a:ext uri="{FF2B5EF4-FFF2-40B4-BE49-F238E27FC236}">
                <a16:creationId xmlns:a16="http://schemas.microsoft.com/office/drawing/2014/main" id="{F4B28B25-A0B3-436D-6A80-AC8A5587234B}"/>
              </a:ext>
            </a:extLst>
          </p:cNvPr>
          <p:cNvSpPr/>
          <p:nvPr/>
        </p:nvSpPr>
        <p:spPr>
          <a:xfrm>
            <a:off x="10007157" y="3027830"/>
            <a:ext cx="1691640" cy="502920"/>
          </a:xfrm>
          <a:prstGeom prst="rect">
            <a:avLst/>
          </a:prstGeom>
          <a:solidFill>
            <a:srgbClr val="FBFAF7"/>
          </a:solidFill>
          <a:ln w="12700">
            <a:solidFill>
              <a:srgbClr val="CCCCC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0E1F24"/>
                </a:solidFill>
                <a:latin typeface="Consolas" panose="020B0609020204030204" pitchFamily="49" charset="0"/>
                <a:ea typeface="+mj-ea"/>
                <a:cs typeface="Noto Sans CJK SC" pitchFamily="34" charset="-120"/>
              </a:rPr>
              <a:t>静态存储期</a:t>
            </a:r>
            <a:endParaRPr lang="en-US" sz="1600" dirty="0">
              <a:latin typeface="Consolas" panose="020B0609020204030204" pitchFamily="49" charset="0"/>
              <a:ea typeface="+mj-ea"/>
            </a:endParaRPr>
          </a:p>
        </p:txBody>
      </p:sp>
      <p:sp>
        <p:nvSpPr>
          <p:cNvPr id="41" name="Text 12">
            <a:extLst>
              <a:ext uri="{FF2B5EF4-FFF2-40B4-BE49-F238E27FC236}">
                <a16:creationId xmlns:a16="http://schemas.microsoft.com/office/drawing/2014/main" id="{5452D733-B5AA-6393-B6F8-0CF907B1756D}"/>
              </a:ext>
            </a:extLst>
          </p:cNvPr>
          <p:cNvSpPr/>
          <p:nvPr/>
        </p:nvSpPr>
        <p:spPr>
          <a:xfrm>
            <a:off x="6486717" y="3686198"/>
            <a:ext cx="1508760" cy="502920"/>
          </a:xfrm>
          <a:prstGeom prst="rect">
            <a:avLst/>
          </a:prstGeom>
          <a:solidFill>
            <a:srgbClr val="EFEFEF"/>
          </a:solidFill>
          <a:ln w="12700">
            <a:solidFill>
              <a:srgbClr val="CCCCC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0E1F24"/>
                </a:solidFill>
                <a:latin typeface="Consolas" panose="020B0609020204030204" pitchFamily="49" charset="0"/>
                <a:ea typeface="+mj-ea"/>
                <a:cs typeface="Consolas" pitchFamily="34" charset="-120"/>
              </a:rPr>
              <a:t>local</a:t>
            </a:r>
            <a:endParaRPr lang="en-US" sz="1600" dirty="0">
              <a:latin typeface="Consolas" panose="020B0609020204030204" pitchFamily="49" charset="0"/>
              <a:ea typeface="+mj-ea"/>
            </a:endParaRPr>
          </a:p>
        </p:txBody>
      </p:sp>
      <p:sp>
        <p:nvSpPr>
          <p:cNvPr id="42" name="Text 13">
            <a:extLst>
              <a:ext uri="{FF2B5EF4-FFF2-40B4-BE49-F238E27FC236}">
                <a16:creationId xmlns:a16="http://schemas.microsoft.com/office/drawing/2014/main" id="{F2068359-8061-4609-DB22-081D618BC677}"/>
              </a:ext>
            </a:extLst>
          </p:cNvPr>
          <p:cNvSpPr/>
          <p:nvPr/>
        </p:nvSpPr>
        <p:spPr>
          <a:xfrm>
            <a:off x="8086917" y="3686198"/>
            <a:ext cx="1828800" cy="502920"/>
          </a:xfrm>
          <a:prstGeom prst="rect">
            <a:avLst/>
          </a:prstGeom>
          <a:solidFill>
            <a:srgbClr val="EFEFEF"/>
          </a:solidFill>
          <a:ln w="12700">
            <a:solidFill>
              <a:srgbClr val="CCCCC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1F24"/>
                </a:solidFill>
                <a:latin typeface="Consolas" panose="020B0609020204030204" pitchFamily="49" charset="0"/>
                <a:ea typeface="+mj-ea"/>
                <a:cs typeface="Noto Sans CJK SC" pitchFamily="34" charset="-120"/>
              </a:rPr>
              <a:t>Stack</a:t>
            </a:r>
            <a:endParaRPr lang="en-US" sz="1800" dirty="0">
              <a:latin typeface="Consolas" panose="020B0609020204030204" pitchFamily="49" charset="0"/>
              <a:ea typeface="+mj-ea"/>
            </a:endParaRPr>
          </a:p>
        </p:txBody>
      </p:sp>
      <p:sp>
        <p:nvSpPr>
          <p:cNvPr id="43" name="Text 14">
            <a:extLst>
              <a:ext uri="{FF2B5EF4-FFF2-40B4-BE49-F238E27FC236}">
                <a16:creationId xmlns:a16="http://schemas.microsoft.com/office/drawing/2014/main" id="{865FC569-6C68-F2B0-4A3B-510953357262}"/>
              </a:ext>
            </a:extLst>
          </p:cNvPr>
          <p:cNvSpPr/>
          <p:nvPr/>
        </p:nvSpPr>
        <p:spPr>
          <a:xfrm>
            <a:off x="10007157" y="3686198"/>
            <a:ext cx="1691640" cy="502920"/>
          </a:xfrm>
          <a:prstGeom prst="rect">
            <a:avLst/>
          </a:prstGeom>
          <a:solidFill>
            <a:srgbClr val="EFEFEF"/>
          </a:solidFill>
          <a:ln w="12700">
            <a:solidFill>
              <a:srgbClr val="CCCCC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0E1F24"/>
                </a:solidFill>
                <a:latin typeface="Consolas" panose="020B0609020204030204" pitchFamily="49" charset="0"/>
                <a:ea typeface="+mj-ea"/>
                <a:cs typeface="Noto Sans CJK SC" pitchFamily="34" charset="-120"/>
              </a:rPr>
              <a:t>自动局部变量</a:t>
            </a:r>
            <a:endParaRPr lang="en-US" sz="1600" dirty="0">
              <a:latin typeface="Consolas" panose="020B0609020204030204" pitchFamily="49" charset="0"/>
              <a:ea typeface="+mj-ea"/>
            </a:endParaRPr>
          </a:p>
        </p:txBody>
      </p:sp>
      <p:sp>
        <p:nvSpPr>
          <p:cNvPr id="44" name="Text 15">
            <a:extLst>
              <a:ext uri="{FF2B5EF4-FFF2-40B4-BE49-F238E27FC236}">
                <a16:creationId xmlns:a16="http://schemas.microsoft.com/office/drawing/2014/main" id="{5A63805F-E049-6276-9DE3-B7E57F97BB28}"/>
              </a:ext>
            </a:extLst>
          </p:cNvPr>
          <p:cNvSpPr/>
          <p:nvPr/>
        </p:nvSpPr>
        <p:spPr>
          <a:xfrm>
            <a:off x="6486717" y="4344566"/>
            <a:ext cx="1508760" cy="502920"/>
          </a:xfrm>
          <a:prstGeom prst="rect">
            <a:avLst/>
          </a:prstGeom>
          <a:solidFill>
            <a:srgbClr val="FBFAF7"/>
          </a:solidFill>
          <a:ln w="12700">
            <a:solidFill>
              <a:srgbClr val="CCCCC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0E1F24"/>
                </a:solidFill>
                <a:latin typeface="Consolas" panose="020B0609020204030204" pitchFamily="49" charset="0"/>
                <a:ea typeface="+mj-ea"/>
                <a:cs typeface="Consolas" pitchFamily="34" charset="-120"/>
              </a:rPr>
              <a:t>small malloc</a:t>
            </a:r>
            <a:endParaRPr lang="en-US" sz="1600" dirty="0">
              <a:latin typeface="Consolas" panose="020B0609020204030204" pitchFamily="49" charset="0"/>
              <a:ea typeface="+mj-ea"/>
            </a:endParaRPr>
          </a:p>
        </p:txBody>
      </p:sp>
      <p:sp>
        <p:nvSpPr>
          <p:cNvPr id="45" name="Text 16">
            <a:extLst>
              <a:ext uri="{FF2B5EF4-FFF2-40B4-BE49-F238E27FC236}">
                <a16:creationId xmlns:a16="http://schemas.microsoft.com/office/drawing/2014/main" id="{A62EFEFD-7AF7-8A5A-B99D-ED1DB9FD5E6F}"/>
              </a:ext>
            </a:extLst>
          </p:cNvPr>
          <p:cNvSpPr/>
          <p:nvPr/>
        </p:nvSpPr>
        <p:spPr>
          <a:xfrm>
            <a:off x="8086917" y="4344566"/>
            <a:ext cx="1828800" cy="502920"/>
          </a:xfrm>
          <a:prstGeom prst="rect">
            <a:avLst/>
          </a:prstGeom>
          <a:solidFill>
            <a:srgbClr val="FBFAF7"/>
          </a:solidFill>
          <a:ln w="12700">
            <a:solidFill>
              <a:srgbClr val="CCCCC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1F24"/>
                </a:solidFill>
                <a:latin typeface="Consolas" panose="020B0609020204030204" pitchFamily="49" charset="0"/>
                <a:ea typeface="+mj-ea"/>
                <a:cs typeface="Noto Sans CJK SC" pitchFamily="34" charset="-120"/>
              </a:rPr>
              <a:t>Heap</a:t>
            </a:r>
            <a:endParaRPr lang="en-US" sz="1800" dirty="0">
              <a:latin typeface="Consolas" panose="020B0609020204030204" pitchFamily="49" charset="0"/>
              <a:ea typeface="+mj-ea"/>
            </a:endParaRPr>
          </a:p>
        </p:txBody>
      </p:sp>
      <p:sp>
        <p:nvSpPr>
          <p:cNvPr id="46" name="Text 17">
            <a:extLst>
              <a:ext uri="{FF2B5EF4-FFF2-40B4-BE49-F238E27FC236}">
                <a16:creationId xmlns:a16="http://schemas.microsoft.com/office/drawing/2014/main" id="{F5A0E9BE-A590-9D34-33BE-1B6CA5784BF8}"/>
              </a:ext>
            </a:extLst>
          </p:cNvPr>
          <p:cNvSpPr/>
          <p:nvPr/>
        </p:nvSpPr>
        <p:spPr>
          <a:xfrm>
            <a:off x="10007157" y="4344566"/>
            <a:ext cx="1691640" cy="502920"/>
          </a:xfrm>
          <a:prstGeom prst="rect">
            <a:avLst/>
          </a:prstGeom>
          <a:solidFill>
            <a:srgbClr val="FBFAF7"/>
          </a:solidFill>
          <a:ln w="12700">
            <a:solidFill>
              <a:srgbClr val="CCCCC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0E1F24"/>
                </a:solidFill>
                <a:latin typeface="Consolas" panose="020B0609020204030204" pitchFamily="49" charset="0"/>
                <a:ea typeface="+mj-ea"/>
                <a:cs typeface="Noto Sans CJK SC" pitchFamily="34" charset="-120"/>
              </a:rPr>
              <a:t>小块分配</a:t>
            </a:r>
            <a:endParaRPr lang="en-US" sz="1600" dirty="0">
              <a:latin typeface="Consolas" panose="020B0609020204030204" pitchFamily="49" charset="0"/>
              <a:ea typeface="+mj-ea"/>
            </a:endParaRPr>
          </a:p>
        </p:txBody>
      </p:sp>
      <p:sp>
        <p:nvSpPr>
          <p:cNvPr id="47" name="Text 18">
            <a:extLst>
              <a:ext uri="{FF2B5EF4-FFF2-40B4-BE49-F238E27FC236}">
                <a16:creationId xmlns:a16="http://schemas.microsoft.com/office/drawing/2014/main" id="{910A7518-C971-B91B-BE7B-DB2DBF2EBEFF}"/>
              </a:ext>
            </a:extLst>
          </p:cNvPr>
          <p:cNvSpPr/>
          <p:nvPr/>
        </p:nvSpPr>
        <p:spPr>
          <a:xfrm>
            <a:off x="6486717" y="5002934"/>
            <a:ext cx="1508760" cy="502920"/>
          </a:xfrm>
          <a:prstGeom prst="rect">
            <a:avLst/>
          </a:prstGeom>
          <a:solidFill>
            <a:srgbClr val="EFEFEF"/>
          </a:solidFill>
          <a:ln w="12700">
            <a:solidFill>
              <a:srgbClr val="CCCCC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0E1F24"/>
                </a:solidFill>
                <a:latin typeface="Consolas" panose="020B0609020204030204" pitchFamily="49" charset="0"/>
                <a:ea typeface="+mj-ea"/>
                <a:cs typeface="Consolas" pitchFamily="34" charset="-120"/>
              </a:rPr>
              <a:t>huge malloc</a:t>
            </a:r>
            <a:endParaRPr lang="en-US" sz="1600" dirty="0">
              <a:latin typeface="Consolas" panose="020B0609020204030204" pitchFamily="49" charset="0"/>
              <a:ea typeface="+mj-ea"/>
            </a:endParaRPr>
          </a:p>
        </p:txBody>
      </p:sp>
      <p:sp>
        <p:nvSpPr>
          <p:cNvPr id="48" name="Text 19">
            <a:extLst>
              <a:ext uri="{FF2B5EF4-FFF2-40B4-BE49-F238E27FC236}">
                <a16:creationId xmlns:a16="http://schemas.microsoft.com/office/drawing/2014/main" id="{DC5E699E-35EB-5523-2C3F-A41B4B16A7D3}"/>
              </a:ext>
            </a:extLst>
          </p:cNvPr>
          <p:cNvSpPr/>
          <p:nvPr/>
        </p:nvSpPr>
        <p:spPr>
          <a:xfrm>
            <a:off x="8086917" y="5002934"/>
            <a:ext cx="1828800" cy="502920"/>
          </a:xfrm>
          <a:prstGeom prst="rect">
            <a:avLst/>
          </a:prstGeom>
          <a:solidFill>
            <a:srgbClr val="EFEFEF"/>
          </a:solidFill>
          <a:ln w="12700">
            <a:solidFill>
              <a:srgbClr val="CCCCC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1F24"/>
                </a:solidFill>
                <a:latin typeface="Consolas" panose="020B0609020204030204" pitchFamily="49" charset="0"/>
                <a:ea typeface="+mj-ea"/>
                <a:cs typeface="Noto Sans CJK SC" pitchFamily="34" charset="-120"/>
              </a:rPr>
              <a:t>mmap </a:t>
            </a:r>
            <a:r>
              <a:rPr lang="en-US" sz="1800" dirty="0">
                <a:solidFill>
                  <a:srgbClr val="0E1F24"/>
                </a:solidFill>
                <a:latin typeface="Consolas" panose="020B0609020204030204" pitchFamily="49" charset="0"/>
                <a:ea typeface="+mj-ea"/>
                <a:cs typeface="Noto Sans CJK SC" pitchFamily="34" charset="-120"/>
              </a:rPr>
              <a:t>区</a:t>
            </a:r>
            <a:endParaRPr lang="en-US" sz="1800" dirty="0">
              <a:latin typeface="Consolas" panose="020B0609020204030204" pitchFamily="49" charset="0"/>
              <a:ea typeface="+mj-ea"/>
            </a:endParaRPr>
          </a:p>
        </p:txBody>
      </p:sp>
      <p:sp>
        <p:nvSpPr>
          <p:cNvPr id="49" name="Text 20">
            <a:extLst>
              <a:ext uri="{FF2B5EF4-FFF2-40B4-BE49-F238E27FC236}">
                <a16:creationId xmlns:a16="http://schemas.microsoft.com/office/drawing/2014/main" id="{7B164715-FD9F-D8BD-79FB-6D02A47E80B2}"/>
              </a:ext>
            </a:extLst>
          </p:cNvPr>
          <p:cNvSpPr/>
          <p:nvPr/>
        </p:nvSpPr>
        <p:spPr>
          <a:xfrm>
            <a:off x="10007157" y="5002934"/>
            <a:ext cx="1691640" cy="502920"/>
          </a:xfrm>
          <a:prstGeom prst="rect">
            <a:avLst/>
          </a:prstGeom>
          <a:solidFill>
            <a:srgbClr val="EFEFEF"/>
          </a:solidFill>
          <a:ln w="12700">
            <a:solidFill>
              <a:srgbClr val="CCCCC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0E1F24"/>
                </a:solidFill>
                <a:latin typeface="Consolas" panose="020B0609020204030204" pitchFamily="49" charset="0"/>
                <a:ea typeface="+mj-ea"/>
                <a:cs typeface="Noto Sans CJK SC" pitchFamily="34" charset="-120"/>
              </a:rPr>
              <a:t>常用匿名映射</a:t>
            </a:r>
            <a:endParaRPr lang="en-US" sz="1600" dirty="0">
              <a:latin typeface="Consolas" panose="020B0609020204030204" pitchFamily="49" charset="0"/>
              <a:ea typeface="+mj-ea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18596B65-1FF3-08C1-3525-A17AF83556F3}"/>
              </a:ext>
            </a:extLst>
          </p:cNvPr>
          <p:cNvSpPr txBox="1"/>
          <p:nvPr/>
        </p:nvSpPr>
        <p:spPr>
          <a:xfrm>
            <a:off x="207560" y="1866542"/>
            <a:ext cx="5888440" cy="34778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</a:t>
            </a:r>
            <a:r>
              <a:rPr lang="en-US" altLang="zh-CN" sz="22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big_array</a:t>
            </a:r>
            <a:r>
              <a:rPr lang="en-US" altLang="zh-CN" sz="2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[1L&lt;&lt;24];   // 16 MiB</a:t>
            </a:r>
            <a:endParaRPr lang="en-US" altLang="zh-CN" sz="2200" dirty="0"/>
          </a:p>
          <a:p>
            <a:r>
              <a:rPr lang="en-US" altLang="zh-CN" sz="2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</a:t>
            </a:r>
            <a:r>
              <a:rPr lang="en-US" altLang="zh-CN" sz="22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huge_array</a:t>
            </a:r>
            <a:r>
              <a:rPr lang="en-US" altLang="zh-CN" sz="2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[1L&lt;&lt;31];  // 2 GiB</a:t>
            </a:r>
            <a:endParaRPr lang="en-US" altLang="zh-CN" sz="2200" dirty="0"/>
          </a:p>
          <a:p>
            <a:r>
              <a:rPr lang="en-US" altLang="zh-CN" sz="2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global = 0;</a:t>
            </a:r>
            <a:endParaRPr lang="en-US" altLang="zh-CN" sz="2200" dirty="0"/>
          </a:p>
          <a:p>
            <a:endParaRPr lang="en-US" altLang="zh-CN" sz="2200" dirty="0"/>
          </a:p>
          <a:p>
            <a:r>
              <a:rPr lang="en-US" altLang="zh-CN" sz="2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altLang="zh-CN" sz="2200" dirty="0"/>
          </a:p>
          <a:p>
            <a:r>
              <a:rPr lang="en-US" altLang="zh-CN" sz="2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local = 0;</a:t>
            </a:r>
            <a:endParaRPr lang="en-US" altLang="zh-CN" sz="2200" dirty="0"/>
          </a:p>
          <a:p>
            <a:r>
              <a:rPr lang="en-US" altLang="zh-CN" sz="2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phuge1 = malloc(1L&lt;&lt;28); // 256 MiB</a:t>
            </a:r>
            <a:endParaRPr lang="en-US" altLang="zh-CN" sz="2200" dirty="0"/>
          </a:p>
          <a:p>
            <a:r>
              <a:rPr lang="en-US" altLang="zh-CN" sz="2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psmall2 = malloc(1L&lt;&lt;8); // 256 B</a:t>
            </a:r>
            <a:endParaRPr lang="en-US" altLang="zh-CN" sz="2200" dirty="0"/>
          </a:p>
          <a:p>
            <a:r>
              <a:rPr lang="en-US" altLang="zh-CN" sz="2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phuge3 = malloc(1L&lt;&lt;32); // 4 GiB</a:t>
            </a:r>
            <a:endParaRPr lang="en-US" altLang="zh-CN" sz="2200" dirty="0"/>
          </a:p>
          <a:p>
            <a:r>
              <a:rPr lang="en-US" altLang="zh-CN" sz="2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altLang="zh-CN" sz="2200" dirty="0"/>
          </a:p>
        </p:txBody>
      </p:sp>
    </p:spTree>
    <p:extLst>
      <p:ext uri="{BB962C8B-B14F-4D97-AF65-F5344CB8AC3E}">
        <p14:creationId xmlns:p14="http://schemas.microsoft.com/office/powerpoint/2010/main" val="33491116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EE7C0-8262-C157-2812-C8CAFDFBB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278974F-9239-C7AC-E3D7-F86528638424}"/>
              </a:ext>
            </a:extLst>
          </p:cNvPr>
          <p:cNvSpPr txBox="1"/>
          <p:nvPr/>
        </p:nvSpPr>
        <p:spPr>
          <a:xfrm>
            <a:off x="564596" y="540048"/>
            <a:ext cx="378007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200" dirty="0">
                <a:latin typeface="+mj-lt"/>
                <a:ea typeface="+mj-ea"/>
              </a:rPr>
              <a:t>Buffer Overflow</a:t>
            </a:r>
            <a:endParaRPr lang="zh-CN" altLang="en-US" sz="4200" dirty="0">
              <a:latin typeface="+mj-lt"/>
              <a:ea typeface="+mj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3B9E6E1-C3B9-7864-1985-4183E7987826}"/>
              </a:ext>
            </a:extLst>
          </p:cNvPr>
          <p:cNvSpPr txBox="1"/>
          <p:nvPr/>
        </p:nvSpPr>
        <p:spPr>
          <a:xfrm>
            <a:off x="7410264" y="500255"/>
            <a:ext cx="4217140" cy="178510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200" dirty="0">
                <a:latin typeface="Consolas" panose="020B0609020204030204" pitchFamily="49" charset="0"/>
              </a:rPr>
              <a:t>void echo(void) {</a:t>
            </a:r>
          </a:p>
          <a:p>
            <a:r>
              <a:rPr lang="en-US" altLang="zh-CN" sz="2200" dirty="0">
                <a:latin typeface="Consolas" panose="020B0609020204030204" pitchFamily="49" charset="0"/>
              </a:rPr>
              <a:t>  char </a:t>
            </a:r>
            <a:r>
              <a:rPr lang="en-US" altLang="zh-CN" sz="2200" dirty="0" err="1">
                <a:latin typeface="Consolas" panose="020B0609020204030204" pitchFamily="49" charset="0"/>
              </a:rPr>
              <a:t>buf</a:t>
            </a:r>
            <a:r>
              <a:rPr lang="en-US" altLang="zh-CN" sz="2200" dirty="0">
                <a:latin typeface="Consolas" panose="020B0609020204030204" pitchFamily="49" charset="0"/>
              </a:rPr>
              <a:t>[64];</a:t>
            </a:r>
          </a:p>
          <a:p>
            <a:r>
              <a:rPr lang="en-US" altLang="zh-CN" sz="2200" dirty="0">
                <a:latin typeface="Consolas" panose="020B0609020204030204" pitchFamily="49" charset="0"/>
              </a:rPr>
              <a:t>  gets(</a:t>
            </a:r>
            <a:r>
              <a:rPr lang="en-US" altLang="zh-CN" sz="2200" dirty="0" err="1">
                <a:latin typeface="Consolas" panose="020B0609020204030204" pitchFamily="49" charset="0"/>
              </a:rPr>
              <a:t>buf</a:t>
            </a:r>
            <a:r>
              <a:rPr lang="en-US" altLang="zh-CN" sz="2200" dirty="0"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2200" dirty="0">
                <a:latin typeface="Consolas" panose="020B0609020204030204" pitchFamily="49" charset="0"/>
              </a:rPr>
              <a:t>  puts(</a:t>
            </a:r>
            <a:r>
              <a:rPr lang="en-US" altLang="zh-CN" sz="2200" dirty="0" err="1">
                <a:latin typeface="Consolas" panose="020B0609020204030204" pitchFamily="49" charset="0"/>
              </a:rPr>
              <a:t>buf</a:t>
            </a:r>
            <a:r>
              <a:rPr lang="en-US" altLang="zh-CN" sz="2200" dirty="0"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2200" dirty="0">
                <a:latin typeface="Consolas" panose="020B0609020204030204" pitchFamily="49" charset="0"/>
              </a:rPr>
              <a:t>}</a:t>
            </a:r>
            <a:endParaRPr lang="zh-CN" altLang="en-US" sz="2200" dirty="0">
              <a:latin typeface="Consolas" panose="020B0609020204030204" pitchFamily="49" charset="0"/>
            </a:endParaRP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FCDB3EEB-FEAA-64F3-F4B8-E1C720944017}"/>
              </a:ext>
            </a:extLst>
          </p:cNvPr>
          <p:cNvSpPr/>
          <p:nvPr/>
        </p:nvSpPr>
        <p:spPr>
          <a:xfrm>
            <a:off x="8623663" y="3107758"/>
            <a:ext cx="1727196" cy="438912"/>
          </a:xfrm>
          <a:prstGeom prst="rect">
            <a:avLst/>
          </a:prstGeom>
          <a:solidFill>
            <a:srgbClr val="E6E3DA"/>
          </a:solidFill>
          <a:ln w="15240">
            <a:solidFill>
              <a:srgbClr val="14323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4323A"/>
                </a:solidFill>
                <a:latin typeface="Consolas" panose="020B0609020204030204" pitchFamily="49" charset="0"/>
                <a:ea typeface="Microsoft YaHei" pitchFamily="34" charset="-122"/>
                <a:cs typeface="Microsoft YaHei" pitchFamily="34" charset="-120"/>
              </a:rPr>
              <a:t>caller frame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675B8CC4-4D6E-5CA7-DB72-46DFA7AAF002}"/>
              </a:ext>
            </a:extLst>
          </p:cNvPr>
          <p:cNvSpPr/>
          <p:nvPr/>
        </p:nvSpPr>
        <p:spPr>
          <a:xfrm>
            <a:off x="8371840" y="3738297"/>
            <a:ext cx="2230844" cy="502920"/>
          </a:xfrm>
          <a:prstGeom prst="rect">
            <a:avLst/>
          </a:prstGeom>
          <a:solidFill>
            <a:srgbClr val="FFF1A6"/>
          </a:solidFill>
          <a:ln w="12700">
            <a:solidFill>
              <a:srgbClr val="14323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4323A"/>
                </a:solidFill>
                <a:latin typeface="Consolas" panose="020B0609020204030204" pitchFamily="49" charset="0"/>
                <a:ea typeface="Microsoft YaHei" pitchFamily="34" charset="-122"/>
                <a:cs typeface="Microsoft YaHei" pitchFamily="34" charset="-120"/>
              </a:rPr>
              <a:t>Return Address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EC222B84-A490-5C85-CBC2-7C2E6448B5F2}"/>
              </a:ext>
            </a:extLst>
          </p:cNvPr>
          <p:cNvSpPr/>
          <p:nvPr/>
        </p:nvSpPr>
        <p:spPr>
          <a:xfrm>
            <a:off x="8371840" y="4241217"/>
            <a:ext cx="2230846" cy="640080"/>
          </a:xfrm>
          <a:prstGeom prst="rect">
            <a:avLst/>
          </a:prstGeom>
          <a:solidFill>
            <a:srgbClr val="E6E3DA"/>
          </a:solidFill>
          <a:ln w="12700">
            <a:solidFill>
              <a:srgbClr val="14323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4323A"/>
                </a:solidFill>
                <a:latin typeface="Consolas" panose="020B0609020204030204" pitchFamily="49" charset="0"/>
                <a:ea typeface="Microsoft YaHei" pitchFamily="34" charset="-122"/>
                <a:cs typeface="Microsoft YaHei" pitchFamily="34" charset="-120"/>
              </a:rPr>
              <a:t>padding / locals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CF71A7DB-0156-B0CA-4CB6-DB0801DDCA75}"/>
              </a:ext>
            </a:extLst>
          </p:cNvPr>
          <p:cNvSpPr/>
          <p:nvPr/>
        </p:nvSpPr>
        <p:spPr>
          <a:xfrm>
            <a:off x="8371839" y="4881297"/>
            <a:ext cx="2230845" cy="685800"/>
          </a:xfrm>
          <a:prstGeom prst="rect">
            <a:avLst/>
          </a:prstGeom>
          <a:solidFill>
            <a:srgbClr val="C7E6CB"/>
          </a:solidFill>
          <a:ln w="12700">
            <a:solidFill>
              <a:srgbClr val="14323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 err="1">
                <a:solidFill>
                  <a:srgbClr val="14323A"/>
                </a:solidFill>
                <a:latin typeface="Consolas" panose="020B0609020204030204" pitchFamily="49" charset="0"/>
                <a:ea typeface="Microsoft YaHei" pitchFamily="34" charset="-122"/>
                <a:cs typeface="Microsoft YaHei" pitchFamily="34" charset="-120"/>
              </a:rPr>
              <a:t>buf</a:t>
            </a:r>
            <a:r>
              <a:rPr lang="en-US" b="1" dirty="0">
                <a:solidFill>
                  <a:srgbClr val="14323A"/>
                </a:solidFill>
                <a:latin typeface="Consolas" panose="020B0609020204030204" pitchFamily="49" charset="0"/>
                <a:ea typeface="Microsoft YaHei" pitchFamily="34" charset="-122"/>
                <a:cs typeface="Microsoft YaHei" pitchFamily="34" charset="-120"/>
              </a:rPr>
              <a:t>[64]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4606C205-40A3-AFC4-C7C5-ED96170009BC}"/>
              </a:ext>
            </a:extLst>
          </p:cNvPr>
          <p:cNvSpPr/>
          <p:nvPr/>
        </p:nvSpPr>
        <p:spPr>
          <a:xfrm>
            <a:off x="7457440" y="5224197"/>
            <a:ext cx="822960" cy="0"/>
          </a:xfrm>
          <a:prstGeom prst="line">
            <a:avLst/>
          </a:prstGeom>
          <a:noFill/>
          <a:ln w="27940">
            <a:solidFill>
              <a:srgbClr val="B64B3A"/>
            </a:solidFill>
            <a:prstDash val="solid"/>
            <a:tailEnd type="triangle"/>
          </a:ln>
        </p:spPr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708DBE48-CB98-4754-F74D-DD43F78CB3CB}"/>
              </a:ext>
            </a:extLst>
          </p:cNvPr>
          <p:cNvSpPr/>
          <p:nvPr/>
        </p:nvSpPr>
        <p:spPr>
          <a:xfrm>
            <a:off x="5527766" y="5077893"/>
            <a:ext cx="192967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 err="1">
                <a:solidFill>
                  <a:srgbClr val="B64B3A"/>
                </a:solidFill>
                <a:latin typeface="+mj-ea"/>
                <a:ea typeface="+mj-ea"/>
                <a:cs typeface="Microsoft YaHei" pitchFamily="34" charset="-120"/>
              </a:rPr>
              <a:t>输入连续写入</a:t>
            </a:r>
            <a:endParaRPr lang="en-US" sz="2400" dirty="0">
              <a:latin typeface="+mj-ea"/>
              <a:ea typeface="+mj-ea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E83073E-5B4E-C2E5-891A-5EF61D293DAD}"/>
              </a:ext>
            </a:extLst>
          </p:cNvPr>
          <p:cNvSpPr txBox="1"/>
          <p:nvPr/>
        </p:nvSpPr>
        <p:spPr>
          <a:xfrm>
            <a:off x="1531257" y="166188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07F539E-95A2-C8BF-B3E3-5766CB13EB1E}"/>
              </a:ext>
            </a:extLst>
          </p:cNvPr>
          <p:cNvSpPr txBox="1"/>
          <p:nvPr/>
        </p:nvSpPr>
        <p:spPr>
          <a:xfrm>
            <a:off x="564596" y="1779704"/>
            <a:ext cx="6213575" cy="2792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如果写入跨过 </a:t>
            </a:r>
            <a:r>
              <a:rPr lang="en-US" altLang="zh-CN" sz="2400" dirty="0" err="1"/>
              <a:t>buf</a:t>
            </a:r>
            <a:r>
              <a:rPr lang="en-US" altLang="zh-CN" sz="2400" dirty="0"/>
              <a:t> </a:t>
            </a:r>
            <a:r>
              <a:rPr lang="zh-CN" altLang="en-US" sz="2400" dirty="0"/>
              <a:t>和 </a:t>
            </a:r>
            <a:r>
              <a:rPr lang="en-US" altLang="zh-CN" sz="2400" dirty="0"/>
              <a:t>padding</a:t>
            </a:r>
            <a:r>
              <a:rPr lang="zh-CN" altLang="en-US" sz="2400" dirty="0"/>
              <a:t>，最后可能覆盖 </a:t>
            </a:r>
            <a:r>
              <a:rPr lang="en-US" altLang="zh-CN" sz="2400" dirty="0"/>
              <a:t>Return Address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如果攻击者不仅能破坏返回地址，还能精确控制被写进去的字节，就可能把返回地址改成某个期望位置。</a:t>
            </a:r>
          </a:p>
        </p:txBody>
      </p:sp>
    </p:spTree>
    <p:extLst>
      <p:ext uri="{BB962C8B-B14F-4D97-AF65-F5344CB8AC3E}">
        <p14:creationId xmlns:p14="http://schemas.microsoft.com/office/powerpoint/2010/main" val="24110086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9B5F6-B449-D257-9FE5-7032C48FA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357EC36-E2AB-80F4-D938-61B324D742D6}"/>
              </a:ext>
            </a:extLst>
          </p:cNvPr>
          <p:cNvSpPr txBox="1"/>
          <p:nvPr/>
        </p:nvSpPr>
        <p:spPr>
          <a:xfrm>
            <a:off x="564596" y="540048"/>
            <a:ext cx="233910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200" dirty="0">
                <a:latin typeface="+mj-lt"/>
                <a:ea typeface="+mj-ea"/>
              </a:rPr>
              <a:t>防护机制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E4EE431-C101-4AAB-B9D5-A3FCF2D204D8}"/>
              </a:ext>
            </a:extLst>
          </p:cNvPr>
          <p:cNvSpPr txBox="1"/>
          <p:nvPr/>
        </p:nvSpPr>
        <p:spPr>
          <a:xfrm>
            <a:off x="1531257" y="166188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7282C6AD-D2D8-E551-A317-EA3CDC02B2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5040691"/>
              </p:ext>
            </p:extLst>
          </p:nvPr>
        </p:nvGraphicFramePr>
        <p:xfrm>
          <a:off x="838199" y="2031218"/>
          <a:ext cx="10816772" cy="3749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24315">
                  <a:extLst>
                    <a:ext uri="{9D8B030D-6E8A-4147-A177-3AD203B41FA5}">
                      <a16:colId xmlns:a16="http://schemas.microsoft.com/office/drawing/2014/main" val="2703776929"/>
                    </a:ext>
                  </a:extLst>
                </a:gridCol>
                <a:gridCol w="2474686">
                  <a:extLst>
                    <a:ext uri="{9D8B030D-6E8A-4147-A177-3AD203B41FA5}">
                      <a16:colId xmlns:a16="http://schemas.microsoft.com/office/drawing/2014/main" val="296709644"/>
                    </a:ext>
                  </a:extLst>
                </a:gridCol>
                <a:gridCol w="3055257">
                  <a:extLst>
                    <a:ext uri="{9D8B030D-6E8A-4147-A177-3AD203B41FA5}">
                      <a16:colId xmlns:a16="http://schemas.microsoft.com/office/drawing/2014/main" val="2550748874"/>
                    </a:ext>
                  </a:extLst>
                </a:gridCol>
                <a:gridCol w="3062514">
                  <a:extLst>
                    <a:ext uri="{9D8B030D-6E8A-4147-A177-3AD203B41FA5}">
                      <a16:colId xmlns:a16="http://schemas.microsoft.com/office/drawing/2014/main" val="31001688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400" dirty="0">
                          <a:latin typeface="+mj-ea"/>
                          <a:ea typeface="+mj-ea"/>
                        </a:rPr>
                        <a:t>防护机制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dirty="0">
                          <a:latin typeface="+mj-ea"/>
                          <a:ea typeface="+mj-ea"/>
                        </a:rPr>
                        <a:t>能够阻止</a:t>
                      </a:r>
                      <a:endParaRPr lang="zh-CN" sz="240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400" dirty="0">
                          <a:latin typeface="+mj-ea"/>
                          <a:ea typeface="+mj-ea"/>
                        </a:rPr>
                        <a:t>作用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dirty="0">
                          <a:latin typeface="+mj-ea"/>
                          <a:ea typeface="+mj-ea"/>
                        </a:rPr>
                        <a:t>不能阻止</a:t>
                      </a:r>
                      <a:endParaRPr lang="zh-CN" sz="240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4736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400"/>
                        <a:t>边界检查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4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越界写入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4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限制输入长度，避免溢出发生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4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检查遗漏或其他内存漏洞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2086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400"/>
                        <a:t>ASLR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4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地址定位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4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随机化内存地址，让目标地址难猜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4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信息泄露、越界本身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40071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400"/>
                        <a:t>NX / DEP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4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注入代码执行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4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禁止栈/堆中的数据直接执行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400" dirty="0">
                          <a:latin typeface="+mn-lt"/>
                          <a:ea typeface="楷体" panose="02010609060101010101" pitchFamily="49" charset="-122"/>
                        </a:rPr>
                        <a:t>ROP/JOP 等代码复用攻击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0635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400"/>
                        <a:t>Stack Canary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利用被破坏的返回地址</a:t>
                      </a:r>
                      <a:endParaRPr lang="zh-CN" sz="240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400" dirty="0">
                          <a:latin typeface="Consolas" panose="020B0609020204030204" pitchFamily="49" charset="0"/>
                          <a:ea typeface="楷体" panose="02010609060101010101" pitchFamily="49" charset="-122"/>
                        </a:rPr>
                        <a:t>ret </a:t>
                      </a:r>
                      <a:r>
                        <a:rPr lang="zh-CN" sz="24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前检测栈是否被破坏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400" dirty="0">
                          <a:latin typeface="+mn-lt"/>
                          <a:ea typeface="楷体" panose="02010609060101010101" pitchFamily="49" charset="-122"/>
                        </a:rPr>
                        <a:t>非栈溢出、Canary 泄露/绕过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18433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62228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53A8C-4D7C-C1BE-4018-F37B4CCBD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F0CF2DE-06BD-9BEE-E253-ABBF4483BE68}"/>
              </a:ext>
            </a:extLst>
          </p:cNvPr>
          <p:cNvSpPr txBox="1"/>
          <p:nvPr/>
        </p:nvSpPr>
        <p:spPr>
          <a:xfrm>
            <a:off x="564596" y="540048"/>
            <a:ext cx="123303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200" dirty="0">
                <a:latin typeface="+mj-lt"/>
                <a:ea typeface="+mj-ea"/>
              </a:rPr>
              <a:t>ROP</a:t>
            </a:r>
            <a:endParaRPr lang="zh-CN" altLang="en-US" sz="4200" dirty="0">
              <a:latin typeface="+mj-lt"/>
              <a:ea typeface="+mj-ea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82B6698-0E7B-F2AB-B273-4D2850070168}"/>
              </a:ext>
            </a:extLst>
          </p:cNvPr>
          <p:cNvSpPr txBox="1"/>
          <p:nvPr/>
        </p:nvSpPr>
        <p:spPr>
          <a:xfrm>
            <a:off x="1531257" y="166188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565C86F-07A9-26BB-5251-1BB1B9EC20E8}"/>
              </a:ext>
            </a:extLst>
          </p:cNvPr>
          <p:cNvSpPr txBox="1"/>
          <p:nvPr/>
        </p:nvSpPr>
        <p:spPr>
          <a:xfrm>
            <a:off x="564596" y="1779704"/>
            <a:ext cx="10633175" cy="4457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在 </a:t>
            </a:r>
            <a:r>
              <a:rPr lang="en-US" altLang="zh-CN" sz="2400" dirty="0"/>
              <a:t>Attack Lab </a:t>
            </a:r>
            <a:r>
              <a:rPr lang="zh-CN" altLang="en-US" sz="2400" dirty="0"/>
              <a:t>的 </a:t>
            </a:r>
            <a:r>
              <a:rPr lang="en-US" altLang="zh-CN" sz="2400" dirty="0"/>
              <a:t>Phase 4~6 </a:t>
            </a:r>
            <a:r>
              <a:rPr lang="zh-CN" altLang="en-US" sz="2400" dirty="0"/>
              <a:t>将会频繁用到。</a:t>
            </a:r>
            <a:endParaRPr lang="en-US" altLang="zh-CN" sz="2400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给出一个思考题：</a:t>
            </a:r>
            <a:endParaRPr lang="en-US" altLang="zh-CN" sz="2400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00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假设有一台采用 </a:t>
            </a:r>
            <a:r>
              <a:rPr lang="en-US" altLang="zh-CN" sz="2400" dirty="0"/>
              <a:t>x86-64 </a:t>
            </a:r>
            <a:r>
              <a:rPr lang="zh-CN" altLang="en-US" sz="2400" dirty="0"/>
              <a:t>架构的计算机，使用 </a:t>
            </a:r>
            <a:r>
              <a:rPr lang="en-US" altLang="zh-CN" sz="2400" dirty="0"/>
              <a:t>AT&amp;T </a:t>
            </a:r>
            <a:r>
              <a:rPr lang="zh-CN" altLang="en-US" sz="2400" dirty="0"/>
              <a:t>汇编语法。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系统已经开启 </a:t>
            </a:r>
            <a:r>
              <a:rPr lang="en-US" altLang="zh-CN" sz="2400" dirty="0"/>
              <a:t>NX</a:t>
            </a:r>
            <a:r>
              <a:rPr lang="zh-CN" altLang="en-US" sz="2400" dirty="0"/>
              <a:t>，因此栈中的数据不可直接作为指令执行。由于某个内存错误，你可以控制一次函数返回时的返回地址，以及其后的栈内容。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程序中存在以下 </a:t>
            </a:r>
            <a:r>
              <a:rPr lang="en-US" altLang="zh-CN" sz="2400" dirty="0"/>
              <a:t>gadgets</a:t>
            </a:r>
            <a:r>
              <a:rPr lang="zh-CN" altLang="en-US" sz="2400" dirty="0"/>
              <a:t>：</a:t>
            </a:r>
          </a:p>
          <a:p>
            <a:pPr algn="just">
              <a:lnSpc>
                <a:spcPct val="150000"/>
              </a:lnSpc>
            </a:pP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2924754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860F2-C73B-E0D4-7FE6-3FF73CB05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B9DBF8B-8DB2-A96B-3F19-331CF5102E95}"/>
              </a:ext>
            </a:extLst>
          </p:cNvPr>
          <p:cNvSpPr txBox="1"/>
          <p:nvPr/>
        </p:nvSpPr>
        <p:spPr>
          <a:xfrm>
            <a:off x="564596" y="540048"/>
            <a:ext cx="338746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200" dirty="0">
                <a:latin typeface="+mj-lt"/>
                <a:ea typeface="+mj-ea"/>
              </a:rPr>
              <a:t>ROP</a:t>
            </a:r>
            <a:r>
              <a:rPr lang="zh-CN" altLang="en-US" sz="4200" dirty="0">
                <a:latin typeface="+mj-lt"/>
                <a:ea typeface="+mj-ea"/>
              </a:rPr>
              <a:t>：思考题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F55C52E-FCE4-CD90-AD51-FEFCA767F406}"/>
              </a:ext>
            </a:extLst>
          </p:cNvPr>
          <p:cNvSpPr txBox="1"/>
          <p:nvPr/>
        </p:nvSpPr>
        <p:spPr>
          <a:xfrm>
            <a:off x="1531257" y="166188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450204B-0750-598F-C68C-4AFC180F5017}"/>
              </a:ext>
            </a:extLst>
          </p:cNvPr>
          <p:cNvSpPr txBox="1"/>
          <p:nvPr/>
        </p:nvSpPr>
        <p:spPr>
          <a:xfrm>
            <a:off x="564596" y="5355771"/>
            <a:ext cx="67360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仅利用上述 </a:t>
            </a:r>
            <a:r>
              <a:rPr lang="en-US" altLang="zh-CN" sz="2400" dirty="0"/>
              <a:t>gadgets</a:t>
            </a:r>
            <a:r>
              <a:rPr lang="zh-CN" altLang="en-US" sz="2400" dirty="0"/>
              <a:t>，设计栈中的内容，</a:t>
            </a:r>
            <a:r>
              <a:rPr lang="zh-CN" altLang="zh-CN" sz="2400" dirty="0"/>
              <a:t>使程序最终进入</a:t>
            </a:r>
            <a:r>
              <a:rPr lang="zh-CN" altLang="zh-CN" sz="2400" dirty="0">
                <a:latin typeface="Consolas" panose="020B0609020204030204" pitchFamily="49" charset="0"/>
              </a:rPr>
              <a:t> VERIFY </a:t>
            </a:r>
            <a:r>
              <a:rPr lang="zh-CN" altLang="zh-CN" sz="2400" dirty="0"/>
              <a:t>并满足全部检查条件。</a:t>
            </a:r>
            <a:endParaRPr lang="zh-CN" altLang="en-US" sz="2400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789D2511-666E-1A9C-9726-7BA8C3F165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1800401"/>
              </p:ext>
            </p:extLst>
          </p:nvPr>
        </p:nvGraphicFramePr>
        <p:xfrm>
          <a:off x="221890" y="1359018"/>
          <a:ext cx="7460343" cy="3756789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1138085">
                  <a:extLst>
                    <a:ext uri="{9D8B030D-6E8A-4147-A177-3AD203B41FA5}">
                      <a16:colId xmlns:a16="http://schemas.microsoft.com/office/drawing/2014/main" val="3158701515"/>
                    </a:ext>
                  </a:extLst>
                </a:gridCol>
                <a:gridCol w="6322258">
                  <a:extLst>
                    <a:ext uri="{9D8B030D-6E8A-4147-A177-3AD203B41FA5}">
                      <a16:colId xmlns:a16="http://schemas.microsoft.com/office/drawing/2014/main" val="2731708222"/>
                    </a:ext>
                  </a:extLst>
                </a:gridCol>
              </a:tblGrid>
              <a:tr h="41742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Gadget</a:t>
                      </a:r>
                      <a:endParaRPr lang="zh-CN" sz="2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2400" kern="100" dirty="0">
                          <a:effectLst/>
                        </a:rPr>
                        <a:t>指令</a:t>
                      </a:r>
                      <a:endParaRPr lang="zh-CN" sz="2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649424245"/>
                  </a:ext>
                </a:extLst>
              </a:tr>
              <a:tr h="41742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G1</a:t>
                      </a:r>
                      <a:endParaRPr lang="zh-CN" sz="2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 err="1">
                          <a:effectLst/>
                          <a:latin typeface="Consolas" panose="020B0609020204030204" pitchFamily="49" charset="0"/>
                        </a:rPr>
                        <a:t>xor</a:t>
                      </a:r>
                      <a:r>
                        <a:rPr lang="en-US" sz="2400" kern="100" dirty="0">
                          <a:effectLst/>
                          <a:latin typeface="Consolas" panose="020B0609020204030204" pitchFamily="49" charset="0"/>
                        </a:rPr>
                        <a:t> %</a:t>
                      </a:r>
                      <a:r>
                        <a:rPr lang="en-US" sz="2400" kern="100" dirty="0" err="1">
                          <a:effectLst/>
                          <a:latin typeface="Consolas" panose="020B0609020204030204" pitchFamily="49" charset="0"/>
                        </a:rPr>
                        <a:t>rax</a:t>
                      </a:r>
                      <a:r>
                        <a:rPr lang="en-US" sz="2400" kern="100" dirty="0">
                          <a:effectLst/>
                          <a:latin typeface="Consolas" panose="020B0609020204030204" pitchFamily="49" charset="0"/>
                        </a:rPr>
                        <a:t>, %</a:t>
                      </a:r>
                      <a:r>
                        <a:rPr lang="en-US" sz="2400" kern="100" dirty="0" err="1">
                          <a:effectLst/>
                          <a:latin typeface="Consolas" panose="020B0609020204030204" pitchFamily="49" charset="0"/>
                        </a:rPr>
                        <a:t>rax</a:t>
                      </a:r>
                      <a:r>
                        <a:rPr lang="en-US" sz="2400" kern="100" dirty="0">
                          <a:effectLst/>
                          <a:latin typeface="Consolas" panose="020B0609020204030204" pitchFamily="49" charset="0"/>
                        </a:rPr>
                        <a:t>; ret</a:t>
                      </a:r>
                      <a:endParaRPr lang="zh-CN" sz="2400" kern="100" dirty="0">
                        <a:effectLst/>
                        <a:latin typeface="Consolas" panose="020B0609020204030204" pitchFamily="49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18500329"/>
                  </a:ext>
                </a:extLst>
              </a:tr>
              <a:tr h="41742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G2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  <a:latin typeface="Consolas" panose="020B0609020204030204" pitchFamily="49" charset="0"/>
                        </a:rPr>
                        <a:t>pop %</a:t>
                      </a:r>
                      <a:r>
                        <a:rPr lang="en-US" sz="2400" kern="100" dirty="0" err="1">
                          <a:effectLst/>
                          <a:latin typeface="Consolas" panose="020B0609020204030204" pitchFamily="49" charset="0"/>
                        </a:rPr>
                        <a:t>rbx</a:t>
                      </a:r>
                      <a:r>
                        <a:rPr lang="en-US" sz="2400" kern="100" dirty="0">
                          <a:effectLst/>
                          <a:latin typeface="Consolas" panose="020B0609020204030204" pitchFamily="49" charset="0"/>
                        </a:rPr>
                        <a:t>; ret</a:t>
                      </a:r>
                      <a:endParaRPr lang="zh-CN" sz="2400" kern="100" dirty="0">
                        <a:effectLst/>
                        <a:latin typeface="Consolas" panose="020B0609020204030204" pitchFamily="49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82483174"/>
                  </a:ext>
                </a:extLst>
              </a:tr>
              <a:tr h="41742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G3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  <a:latin typeface="Consolas" panose="020B0609020204030204" pitchFamily="49" charset="0"/>
                        </a:rPr>
                        <a:t>add %</a:t>
                      </a:r>
                      <a:r>
                        <a:rPr lang="en-US" sz="2400" kern="100" dirty="0" err="1">
                          <a:effectLst/>
                          <a:latin typeface="Consolas" panose="020B0609020204030204" pitchFamily="49" charset="0"/>
                        </a:rPr>
                        <a:t>rbx</a:t>
                      </a:r>
                      <a:r>
                        <a:rPr lang="en-US" sz="2400" kern="100" dirty="0">
                          <a:effectLst/>
                          <a:latin typeface="Consolas" panose="020B0609020204030204" pitchFamily="49" charset="0"/>
                        </a:rPr>
                        <a:t>, %</a:t>
                      </a:r>
                      <a:r>
                        <a:rPr lang="en-US" sz="2400" kern="100" dirty="0" err="1">
                          <a:effectLst/>
                          <a:latin typeface="Consolas" panose="020B0609020204030204" pitchFamily="49" charset="0"/>
                        </a:rPr>
                        <a:t>rax</a:t>
                      </a:r>
                      <a:r>
                        <a:rPr lang="en-US" sz="2400" kern="100" dirty="0">
                          <a:effectLst/>
                          <a:latin typeface="Consolas" panose="020B0609020204030204" pitchFamily="49" charset="0"/>
                        </a:rPr>
                        <a:t>; ret</a:t>
                      </a:r>
                      <a:endParaRPr lang="zh-CN" sz="2400" kern="100" dirty="0">
                        <a:effectLst/>
                        <a:latin typeface="Consolas" panose="020B0609020204030204" pitchFamily="49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06840885"/>
                  </a:ext>
                </a:extLst>
              </a:tr>
              <a:tr h="41742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G4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  <a:latin typeface="Consolas" panose="020B0609020204030204" pitchFamily="49" charset="0"/>
                        </a:rPr>
                        <a:t>pop %</a:t>
                      </a:r>
                      <a:r>
                        <a:rPr lang="en-US" sz="2400" kern="100" dirty="0" err="1">
                          <a:effectLst/>
                          <a:latin typeface="Consolas" panose="020B0609020204030204" pitchFamily="49" charset="0"/>
                        </a:rPr>
                        <a:t>rcx</a:t>
                      </a:r>
                      <a:r>
                        <a:rPr lang="en-US" sz="2400" kern="100" dirty="0">
                          <a:effectLst/>
                          <a:latin typeface="Consolas" panose="020B0609020204030204" pitchFamily="49" charset="0"/>
                        </a:rPr>
                        <a:t>; pop %</a:t>
                      </a:r>
                      <a:r>
                        <a:rPr lang="en-US" sz="2400" kern="100" dirty="0" err="1">
                          <a:effectLst/>
                          <a:latin typeface="Consolas" panose="020B0609020204030204" pitchFamily="49" charset="0"/>
                        </a:rPr>
                        <a:t>rdx</a:t>
                      </a:r>
                      <a:r>
                        <a:rPr lang="en-US" sz="2400" kern="100" dirty="0">
                          <a:effectLst/>
                          <a:latin typeface="Consolas" panose="020B0609020204030204" pitchFamily="49" charset="0"/>
                        </a:rPr>
                        <a:t>; ret</a:t>
                      </a:r>
                      <a:endParaRPr lang="zh-CN" sz="2400" kern="100" dirty="0">
                        <a:effectLst/>
                        <a:latin typeface="Consolas" panose="020B0609020204030204" pitchFamily="49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5106499"/>
                  </a:ext>
                </a:extLst>
              </a:tr>
              <a:tr h="41742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G5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  <a:latin typeface="Consolas" panose="020B0609020204030204" pitchFamily="49" charset="0"/>
                        </a:rPr>
                        <a:t>mov %</a:t>
                      </a:r>
                      <a:r>
                        <a:rPr lang="en-US" sz="2400" kern="100" dirty="0" err="1">
                          <a:effectLst/>
                          <a:latin typeface="Consolas" panose="020B0609020204030204" pitchFamily="49" charset="0"/>
                        </a:rPr>
                        <a:t>rax</a:t>
                      </a:r>
                      <a:r>
                        <a:rPr lang="en-US" sz="2400" kern="100" dirty="0">
                          <a:effectLst/>
                          <a:latin typeface="Consolas" panose="020B0609020204030204" pitchFamily="49" charset="0"/>
                        </a:rPr>
                        <a:t>, (%</a:t>
                      </a:r>
                      <a:r>
                        <a:rPr lang="en-US" sz="2400" kern="100" dirty="0" err="1">
                          <a:effectLst/>
                          <a:latin typeface="Consolas" panose="020B0609020204030204" pitchFamily="49" charset="0"/>
                        </a:rPr>
                        <a:t>rcx</a:t>
                      </a:r>
                      <a:r>
                        <a:rPr lang="en-US" sz="2400" kern="100" dirty="0">
                          <a:effectLst/>
                          <a:latin typeface="Consolas" panose="020B0609020204030204" pitchFamily="49" charset="0"/>
                        </a:rPr>
                        <a:t>); </a:t>
                      </a:r>
                      <a:r>
                        <a:rPr lang="en-US" sz="2400" kern="100" dirty="0" err="1">
                          <a:effectLst/>
                          <a:latin typeface="Consolas" panose="020B0609020204030204" pitchFamily="49" charset="0"/>
                        </a:rPr>
                        <a:t>xor</a:t>
                      </a:r>
                      <a:r>
                        <a:rPr lang="en-US" sz="2400" kern="100" dirty="0">
                          <a:effectLst/>
                          <a:latin typeface="Consolas" panose="020B0609020204030204" pitchFamily="49" charset="0"/>
                        </a:rPr>
                        <a:t> %</a:t>
                      </a:r>
                      <a:r>
                        <a:rPr lang="en-US" sz="2400" kern="100" dirty="0" err="1">
                          <a:effectLst/>
                          <a:latin typeface="Consolas" panose="020B0609020204030204" pitchFamily="49" charset="0"/>
                        </a:rPr>
                        <a:t>rax</a:t>
                      </a:r>
                      <a:r>
                        <a:rPr lang="en-US" sz="2400" kern="100" dirty="0">
                          <a:effectLst/>
                          <a:latin typeface="Consolas" panose="020B0609020204030204" pitchFamily="49" charset="0"/>
                        </a:rPr>
                        <a:t>, %</a:t>
                      </a:r>
                      <a:r>
                        <a:rPr lang="en-US" sz="2400" kern="100" dirty="0" err="1">
                          <a:effectLst/>
                          <a:latin typeface="Consolas" panose="020B0609020204030204" pitchFamily="49" charset="0"/>
                        </a:rPr>
                        <a:t>rax</a:t>
                      </a:r>
                      <a:r>
                        <a:rPr lang="en-US" sz="2400" kern="100" dirty="0">
                          <a:effectLst/>
                          <a:latin typeface="Consolas" panose="020B0609020204030204" pitchFamily="49" charset="0"/>
                        </a:rPr>
                        <a:t>; ret</a:t>
                      </a:r>
                      <a:endParaRPr lang="zh-CN" sz="2400" kern="100" dirty="0">
                        <a:effectLst/>
                        <a:latin typeface="Consolas" panose="020B0609020204030204" pitchFamily="49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59781793"/>
                  </a:ext>
                </a:extLst>
              </a:tr>
              <a:tr h="41742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G6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  <a:latin typeface="Consolas" panose="020B0609020204030204" pitchFamily="49" charset="0"/>
                        </a:rPr>
                        <a:t>mov (%</a:t>
                      </a:r>
                      <a:r>
                        <a:rPr lang="en-US" sz="2400" kern="100" dirty="0" err="1">
                          <a:effectLst/>
                          <a:latin typeface="Consolas" panose="020B0609020204030204" pitchFamily="49" charset="0"/>
                        </a:rPr>
                        <a:t>rcx</a:t>
                      </a:r>
                      <a:r>
                        <a:rPr lang="en-US" sz="2400" kern="100" dirty="0">
                          <a:effectLst/>
                          <a:latin typeface="Consolas" panose="020B0609020204030204" pitchFamily="49" charset="0"/>
                        </a:rPr>
                        <a:t>), %</a:t>
                      </a:r>
                      <a:r>
                        <a:rPr lang="en-US" sz="2400" kern="100" dirty="0" err="1">
                          <a:effectLst/>
                          <a:latin typeface="Consolas" panose="020B0609020204030204" pitchFamily="49" charset="0"/>
                        </a:rPr>
                        <a:t>rax</a:t>
                      </a:r>
                      <a:r>
                        <a:rPr lang="en-US" sz="2400" kern="100" dirty="0">
                          <a:effectLst/>
                          <a:latin typeface="Consolas" panose="020B0609020204030204" pitchFamily="49" charset="0"/>
                        </a:rPr>
                        <a:t>; ret</a:t>
                      </a:r>
                      <a:endParaRPr lang="zh-CN" sz="2400" kern="100" dirty="0">
                        <a:effectLst/>
                        <a:latin typeface="Consolas" panose="020B0609020204030204" pitchFamily="49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57911014"/>
                  </a:ext>
                </a:extLst>
              </a:tr>
              <a:tr h="41742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G7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 err="1">
                          <a:effectLst/>
                          <a:latin typeface="Consolas" panose="020B0609020204030204" pitchFamily="49" charset="0"/>
                        </a:rPr>
                        <a:t>xor</a:t>
                      </a:r>
                      <a:r>
                        <a:rPr lang="en-US" sz="2400" kern="100" dirty="0">
                          <a:effectLst/>
                          <a:latin typeface="Consolas" panose="020B0609020204030204" pitchFamily="49" charset="0"/>
                        </a:rPr>
                        <a:t> %</a:t>
                      </a:r>
                      <a:r>
                        <a:rPr lang="en-US" sz="2400" kern="100" dirty="0" err="1">
                          <a:effectLst/>
                          <a:latin typeface="Consolas" panose="020B0609020204030204" pitchFamily="49" charset="0"/>
                        </a:rPr>
                        <a:t>rbx</a:t>
                      </a:r>
                      <a:r>
                        <a:rPr lang="en-US" sz="2400" kern="100" dirty="0">
                          <a:effectLst/>
                          <a:latin typeface="Consolas" panose="020B0609020204030204" pitchFamily="49" charset="0"/>
                        </a:rPr>
                        <a:t>, %</a:t>
                      </a:r>
                      <a:r>
                        <a:rPr lang="en-US" sz="2400" kern="100" dirty="0" err="1">
                          <a:effectLst/>
                          <a:latin typeface="Consolas" panose="020B0609020204030204" pitchFamily="49" charset="0"/>
                        </a:rPr>
                        <a:t>rbx</a:t>
                      </a:r>
                      <a:r>
                        <a:rPr lang="en-US" sz="2400" kern="100" dirty="0">
                          <a:effectLst/>
                          <a:latin typeface="Consolas" panose="020B0609020204030204" pitchFamily="49" charset="0"/>
                        </a:rPr>
                        <a:t>; ret</a:t>
                      </a:r>
                      <a:endParaRPr lang="zh-CN" sz="2400" kern="100" dirty="0">
                        <a:effectLst/>
                        <a:latin typeface="Consolas" panose="020B0609020204030204" pitchFamily="49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83728458"/>
                  </a:ext>
                </a:extLst>
              </a:tr>
              <a:tr h="41742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G8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 err="1">
                          <a:effectLst/>
                          <a:latin typeface="Consolas" panose="020B0609020204030204" pitchFamily="49" charset="0"/>
                        </a:rPr>
                        <a:t>xchg</a:t>
                      </a:r>
                      <a:r>
                        <a:rPr lang="en-US" sz="2400" kern="100" dirty="0">
                          <a:effectLst/>
                          <a:latin typeface="Consolas" panose="020B0609020204030204" pitchFamily="49" charset="0"/>
                        </a:rPr>
                        <a:t> %</a:t>
                      </a:r>
                      <a:r>
                        <a:rPr lang="en-US" sz="2400" kern="100" dirty="0" err="1">
                          <a:effectLst/>
                          <a:latin typeface="Consolas" panose="020B0609020204030204" pitchFamily="49" charset="0"/>
                        </a:rPr>
                        <a:t>rax</a:t>
                      </a:r>
                      <a:r>
                        <a:rPr lang="en-US" sz="2400" kern="100" dirty="0">
                          <a:effectLst/>
                          <a:latin typeface="Consolas" panose="020B0609020204030204" pitchFamily="49" charset="0"/>
                        </a:rPr>
                        <a:t>, %</a:t>
                      </a:r>
                      <a:r>
                        <a:rPr lang="en-US" sz="2400" kern="100" dirty="0" err="1">
                          <a:effectLst/>
                          <a:latin typeface="Consolas" panose="020B0609020204030204" pitchFamily="49" charset="0"/>
                        </a:rPr>
                        <a:t>rbx</a:t>
                      </a:r>
                      <a:r>
                        <a:rPr lang="en-US" sz="2400" kern="100" dirty="0">
                          <a:effectLst/>
                          <a:latin typeface="Consolas" panose="020B0609020204030204" pitchFamily="49" charset="0"/>
                        </a:rPr>
                        <a:t>; ret </a:t>
                      </a:r>
                      <a:r>
                        <a:rPr lang="en-US" altLang="zh-CN" sz="2400" dirty="0"/>
                        <a:t>(</a:t>
                      </a:r>
                      <a:r>
                        <a:rPr lang="zh-CN" altLang="en-US" sz="2400" dirty="0"/>
                        <a:t>交换</a:t>
                      </a:r>
                      <a:r>
                        <a:rPr lang="zh-CN" altLang="zh-CN" sz="2400" dirty="0"/>
                        <a:t>两个寄存器</a:t>
                      </a:r>
                      <a:r>
                        <a:rPr lang="en-US" altLang="zh-CN" sz="2400" dirty="0"/>
                        <a:t>)</a:t>
                      </a:r>
                      <a:endParaRPr lang="zh-CN" sz="2400" kern="100" dirty="0">
                        <a:effectLst/>
                        <a:latin typeface="Consolas" panose="020B0609020204030204" pitchFamily="49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25297648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0CB1B136-1A17-2BA9-68AB-4A9121F66BC0}"/>
              </a:ext>
            </a:extLst>
          </p:cNvPr>
          <p:cNvSpPr txBox="1"/>
          <p:nvPr/>
        </p:nvSpPr>
        <p:spPr>
          <a:xfrm>
            <a:off x="8098971" y="93888"/>
            <a:ext cx="3780971" cy="66702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程序中还有一个普通函数 </a:t>
            </a:r>
            <a:r>
              <a:rPr lang="en-US" altLang="zh-CN" sz="2400" dirty="0">
                <a:latin typeface="Consolas" panose="020B0609020204030204" pitchFamily="49" charset="0"/>
              </a:rPr>
              <a:t>VERIFY</a:t>
            </a:r>
            <a:r>
              <a:rPr lang="zh-CN" altLang="en-US" sz="2400" dirty="0">
                <a:latin typeface="Consolas" panose="020B0609020204030204" pitchFamily="49" charset="0"/>
              </a:rPr>
              <a:t>。只有当进入 </a:t>
            </a:r>
            <a:r>
              <a:rPr lang="en-US" altLang="zh-CN" sz="2400" dirty="0">
                <a:latin typeface="Consolas" panose="020B0609020204030204" pitchFamily="49" charset="0"/>
              </a:rPr>
              <a:t>VERIFY </a:t>
            </a:r>
            <a:r>
              <a:rPr lang="zh-CN" altLang="en-US" sz="2400" dirty="0">
                <a:latin typeface="Consolas" panose="020B0609020204030204" pitchFamily="49" charset="0"/>
              </a:rPr>
              <a:t>时同时满足：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Consolas" panose="020B0609020204030204" pitchFamily="49" charset="0"/>
              </a:rPr>
              <a:t>%</a:t>
            </a:r>
            <a:r>
              <a:rPr lang="en-US" altLang="zh-CN" sz="2400" dirty="0" err="1">
                <a:latin typeface="Consolas" panose="020B0609020204030204" pitchFamily="49" charset="0"/>
              </a:rPr>
              <a:t>rax</a:t>
            </a:r>
            <a:r>
              <a:rPr lang="en-US" altLang="zh-CN" sz="2400" dirty="0">
                <a:latin typeface="Consolas" panose="020B0609020204030204" pitchFamily="49" charset="0"/>
              </a:rPr>
              <a:t> == 42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Consolas" panose="020B0609020204030204" pitchFamily="49" charset="0"/>
              </a:rPr>
              <a:t>%</a:t>
            </a:r>
            <a:r>
              <a:rPr lang="en-US" altLang="zh-CN" sz="2400" dirty="0" err="1">
                <a:latin typeface="Consolas" panose="020B0609020204030204" pitchFamily="49" charset="0"/>
              </a:rPr>
              <a:t>rbx</a:t>
            </a:r>
            <a:r>
              <a:rPr lang="en-US" altLang="zh-CN" sz="2400" dirty="0">
                <a:latin typeface="Consolas" panose="020B0609020204030204" pitchFamily="49" charset="0"/>
              </a:rPr>
              <a:t> == 0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Consolas" panose="020B0609020204030204" pitchFamily="49" charset="0"/>
              </a:rPr>
              <a:t>(BUF) == 42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才算作 </a:t>
            </a:r>
            <a:r>
              <a:rPr lang="en-US" altLang="zh-CN" sz="2400" i="1" dirty="0"/>
              <a:t>ROP SUCCESS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其中，</a:t>
            </a:r>
            <a:r>
              <a:rPr lang="en-US" altLang="zh-CN" sz="2400" dirty="0">
                <a:latin typeface="Consolas" panose="020B0609020204030204" pitchFamily="49" charset="0"/>
              </a:rPr>
              <a:t>BUF</a:t>
            </a:r>
            <a:r>
              <a:rPr lang="en-US" altLang="zh-CN" sz="2400" dirty="0"/>
              <a:t> </a:t>
            </a:r>
            <a:r>
              <a:rPr lang="zh-CN" altLang="en-US" sz="2400" dirty="0"/>
              <a:t>表示一个已知且合法的可写内存地址。进入 </a:t>
            </a:r>
            <a:r>
              <a:rPr lang="en-US" altLang="zh-CN" sz="2400" dirty="0"/>
              <a:t>ROP </a:t>
            </a:r>
            <a:r>
              <a:rPr lang="zh-CN" altLang="en-US" sz="2400" dirty="0"/>
              <a:t>链之前，所有通用寄存器中的值均未知。</a:t>
            </a:r>
          </a:p>
        </p:txBody>
      </p:sp>
    </p:spTree>
    <p:extLst>
      <p:ext uri="{BB962C8B-B14F-4D97-AF65-F5344CB8AC3E}">
        <p14:creationId xmlns:p14="http://schemas.microsoft.com/office/powerpoint/2010/main" val="30029294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C6DDC-805E-29E2-3CEB-C3E008BB3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0CD8E17-EC50-3AB6-2895-2600D0348DCE}"/>
              </a:ext>
            </a:extLst>
          </p:cNvPr>
          <p:cNvSpPr txBox="1"/>
          <p:nvPr/>
        </p:nvSpPr>
        <p:spPr>
          <a:xfrm>
            <a:off x="564596" y="540048"/>
            <a:ext cx="338746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200" dirty="0">
                <a:latin typeface="+mj-lt"/>
                <a:ea typeface="+mj-ea"/>
              </a:rPr>
              <a:t>ROP</a:t>
            </a:r>
            <a:r>
              <a:rPr lang="zh-CN" altLang="en-US" sz="4200" dirty="0">
                <a:latin typeface="+mj-lt"/>
                <a:ea typeface="+mj-ea"/>
              </a:rPr>
              <a:t>：思考题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0C7FBAD-CD06-560D-50D1-B4B2D8B77D86}"/>
              </a:ext>
            </a:extLst>
          </p:cNvPr>
          <p:cNvSpPr txBox="1"/>
          <p:nvPr/>
        </p:nvSpPr>
        <p:spPr>
          <a:xfrm>
            <a:off x="1531257" y="166188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49DAF690-805D-F901-40EA-D777A9E70D03}"/>
              </a:ext>
            </a:extLst>
          </p:cNvPr>
          <p:cNvGraphicFramePr>
            <a:graphicFrameLocks noGrp="1"/>
          </p:cNvGraphicFramePr>
          <p:nvPr/>
        </p:nvGraphicFramePr>
        <p:xfrm>
          <a:off x="221890" y="1359018"/>
          <a:ext cx="7460343" cy="3756789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1138085">
                  <a:extLst>
                    <a:ext uri="{9D8B030D-6E8A-4147-A177-3AD203B41FA5}">
                      <a16:colId xmlns:a16="http://schemas.microsoft.com/office/drawing/2014/main" val="3158701515"/>
                    </a:ext>
                  </a:extLst>
                </a:gridCol>
                <a:gridCol w="6322258">
                  <a:extLst>
                    <a:ext uri="{9D8B030D-6E8A-4147-A177-3AD203B41FA5}">
                      <a16:colId xmlns:a16="http://schemas.microsoft.com/office/drawing/2014/main" val="2731708222"/>
                    </a:ext>
                  </a:extLst>
                </a:gridCol>
              </a:tblGrid>
              <a:tr h="41742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Gadget</a:t>
                      </a:r>
                      <a:endParaRPr lang="zh-CN" sz="2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2400" kern="100" dirty="0">
                          <a:effectLst/>
                        </a:rPr>
                        <a:t>指令</a:t>
                      </a:r>
                      <a:endParaRPr lang="zh-CN" sz="2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649424245"/>
                  </a:ext>
                </a:extLst>
              </a:tr>
              <a:tr h="41742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G1</a:t>
                      </a:r>
                      <a:endParaRPr lang="zh-CN" sz="2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 err="1">
                          <a:effectLst/>
                          <a:latin typeface="Consolas" panose="020B0609020204030204" pitchFamily="49" charset="0"/>
                        </a:rPr>
                        <a:t>xor</a:t>
                      </a:r>
                      <a:r>
                        <a:rPr lang="en-US" sz="2400" kern="100" dirty="0">
                          <a:effectLst/>
                          <a:latin typeface="Consolas" panose="020B0609020204030204" pitchFamily="49" charset="0"/>
                        </a:rPr>
                        <a:t> %</a:t>
                      </a:r>
                      <a:r>
                        <a:rPr lang="en-US" sz="2400" kern="100" dirty="0" err="1">
                          <a:effectLst/>
                          <a:latin typeface="Consolas" panose="020B0609020204030204" pitchFamily="49" charset="0"/>
                        </a:rPr>
                        <a:t>rax</a:t>
                      </a:r>
                      <a:r>
                        <a:rPr lang="en-US" sz="2400" kern="100" dirty="0">
                          <a:effectLst/>
                          <a:latin typeface="Consolas" panose="020B0609020204030204" pitchFamily="49" charset="0"/>
                        </a:rPr>
                        <a:t>, %</a:t>
                      </a:r>
                      <a:r>
                        <a:rPr lang="en-US" sz="2400" kern="100" dirty="0" err="1">
                          <a:effectLst/>
                          <a:latin typeface="Consolas" panose="020B0609020204030204" pitchFamily="49" charset="0"/>
                        </a:rPr>
                        <a:t>rax</a:t>
                      </a:r>
                      <a:r>
                        <a:rPr lang="en-US" sz="2400" kern="100" dirty="0">
                          <a:effectLst/>
                          <a:latin typeface="Consolas" panose="020B0609020204030204" pitchFamily="49" charset="0"/>
                        </a:rPr>
                        <a:t>; ret</a:t>
                      </a:r>
                      <a:endParaRPr lang="zh-CN" sz="2400" kern="100" dirty="0">
                        <a:effectLst/>
                        <a:latin typeface="Consolas" panose="020B0609020204030204" pitchFamily="49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18500329"/>
                  </a:ext>
                </a:extLst>
              </a:tr>
              <a:tr h="41742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G2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  <a:latin typeface="Consolas" panose="020B0609020204030204" pitchFamily="49" charset="0"/>
                        </a:rPr>
                        <a:t>pop %</a:t>
                      </a:r>
                      <a:r>
                        <a:rPr lang="en-US" sz="2400" kern="100" dirty="0" err="1">
                          <a:effectLst/>
                          <a:latin typeface="Consolas" panose="020B0609020204030204" pitchFamily="49" charset="0"/>
                        </a:rPr>
                        <a:t>rbx</a:t>
                      </a:r>
                      <a:r>
                        <a:rPr lang="en-US" sz="2400" kern="100" dirty="0">
                          <a:effectLst/>
                          <a:latin typeface="Consolas" panose="020B0609020204030204" pitchFamily="49" charset="0"/>
                        </a:rPr>
                        <a:t>; ret</a:t>
                      </a:r>
                      <a:endParaRPr lang="zh-CN" sz="2400" kern="100" dirty="0">
                        <a:effectLst/>
                        <a:latin typeface="Consolas" panose="020B0609020204030204" pitchFamily="49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82483174"/>
                  </a:ext>
                </a:extLst>
              </a:tr>
              <a:tr h="41742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G3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  <a:latin typeface="Consolas" panose="020B0609020204030204" pitchFamily="49" charset="0"/>
                        </a:rPr>
                        <a:t>add %</a:t>
                      </a:r>
                      <a:r>
                        <a:rPr lang="en-US" sz="2400" kern="100" dirty="0" err="1">
                          <a:effectLst/>
                          <a:latin typeface="Consolas" panose="020B0609020204030204" pitchFamily="49" charset="0"/>
                        </a:rPr>
                        <a:t>rbx</a:t>
                      </a:r>
                      <a:r>
                        <a:rPr lang="en-US" sz="2400" kern="100" dirty="0">
                          <a:effectLst/>
                          <a:latin typeface="Consolas" panose="020B0609020204030204" pitchFamily="49" charset="0"/>
                        </a:rPr>
                        <a:t>, %</a:t>
                      </a:r>
                      <a:r>
                        <a:rPr lang="en-US" sz="2400" kern="100" dirty="0" err="1">
                          <a:effectLst/>
                          <a:latin typeface="Consolas" panose="020B0609020204030204" pitchFamily="49" charset="0"/>
                        </a:rPr>
                        <a:t>rax</a:t>
                      </a:r>
                      <a:r>
                        <a:rPr lang="en-US" sz="2400" kern="100" dirty="0">
                          <a:effectLst/>
                          <a:latin typeface="Consolas" panose="020B0609020204030204" pitchFamily="49" charset="0"/>
                        </a:rPr>
                        <a:t>; ret</a:t>
                      </a:r>
                      <a:endParaRPr lang="zh-CN" sz="2400" kern="100" dirty="0">
                        <a:effectLst/>
                        <a:latin typeface="Consolas" panose="020B0609020204030204" pitchFamily="49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06840885"/>
                  </a:ext>
                </a:extLst>
              </a:tr>
              <a:tr h="41742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G4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  <a:latin typeface="Consolas" panose="020B0609020204030204" pitchFamily="49" charset="0"/>
                        </a:rPr>
                        <a:t>pop %</a:t>
                      </a:r>
                      <a:r>
                        <a:rPr lang="en-US" sz="2400" kern="100" dirty="0" err="1">
                          <a:effectLst/>
                          <a:latin typeface="Consolas" panose="020B0609020204030204" pitchFamily="49" charset="0"/>
                        </a:rPr>
                        <a:t>rcx</a:t>
                      </a:r>
                      <a:r>
                        <a:rPr lang="en-US" sz="2400" kern="100" dirty="0">
                          <a:effectLst/>
                          <a:latin typeface="Consolas" panose="020B0609020204030204" pitchFamily="49" charset="0"/>
                        </a:rPr>
                        <a:t>; pop %</a:t>
                      </a:r>
                      <a:r>
                        <a:rPr lang="en-US" sz="2400" kern="100" dirty="0" err="1">
                          <a:effectLst/>
                          <a:latin typeface="Consolas" panose="020B0609020204030204" pitchFamily="49" charset="0"/>
                        </a:rPr>
                        <a:t>rdx</a:t>
                      </a:r>
                      <a:r>
                        <a:rPr lang="en-US" sz="2400" kern="100" dirty="0">
                          <a:effectLst/>
                          <a:latin typeface="Consolas" panose="020B0609020204030204" pitchFamily="49" charset="0"/>
                        </a:rPr>
                        <a:t>; ret</a:t>
                      </a:r>
                      <a:endParaRPr lang="zh-CN" sz="2400" kern="100" dirty="0">
                        <a:effectLst/>
                        <a:latin typeface="Consolas" panose="020B0609020204030204" pitchFamily="49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5106499"/>
                  </a:ext>
                </a:extLst>
              </a:tr>
              <a:tr h="41742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G5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  <a:latin typeface="Consolas" panose="020B0609020204030204" pitchFamily="49" charset="0"/>
                        </a:rPr>
                        <a:t>mov %</a:t>
                      </a:r>
                      <a:r>
                        <a:rPr lang="en-US" sz="2400" kern="100" dirty="0" err="1">
                          <a:effectLst/>
                          <a:latin typeface="Consolas" panose="020B0609020204030204" pitchFamily="49" charset="0"/>
                        </a:rPr>
                        <a:t>rax</a:t>
                      </a:r>
                      <a:r>
                        <a:rPr lang="en-US" sz="2400" kern="100" dirty="0">
                          <a:effectLst/>
                          <a:latin typeface="Consolas" panose="020B0609020204030204" pitchFamily="49" charset="0"/>
                        </a:rPr>
                        <a:t>, (%</a:t>
                      </a:r>
                      <a:r>
                        <a:rPr lang="en-US" sz="2400" kern="100" dirty="0" err="1">
                          <a:effectLst/>
                          <a:latin typeface="Consolas" panose="020B0609020204030204" pitchFamily="49" charset="0"/>
                        </a:rPr>
                        <a:t>rcx</a:t>
                      </a:r>
                      <a:r>
                        <a:rPr lang="en-US" sz="2400" kern="100" dirty="0">
                          <a:effectLst/>
                          <a:latin typeface="Consolas" panose="020B0609020204030204" pitchFamily="49" charset="0"/>
                        </a:rPr>
                        <a:t>); </a:t>
                      </a:r>
                      <a:r>
                        <a:rPr lang="en-US" sz="2400" kern="100" dirty="0" err="1">
                          <a:effectLst/>
                          <a:latin typeface="Consolas" panose="020B0609020204030204" pitchFamily="49" charset="0"/>
                        </a:rPr>
                        <a:t>xor</a:t>
                      </a:r>
                      <a:r>
                        <a:rPr lang="en-US" sz="2400" kern="100" dirty="0">
                          <a:effectLst/>
                          <a:latin typeface="Consolas" panose="020B0609020204030204" pitchFamily="49" charset="0"/>
                        </a:rPr>
                        <a:t> %</a:t>
                      </a:r>
                      <a:r>
                        <a:rPr lang="en-US" sz="2400" kern="100" dirty="0" err="1">
                          <a:effectLst/>
                          <a:latin typeface="Consolas" panose="020B0609020204030204" pitchFamily="49" charset="0"/>
                        </a:rPr>
                        <a:t>rax</a:t>
                      </a:r>
                      <a:r>
                        <a:rPr lang="en-US" sz="2400" kern="100" dirty="0">
                          <a:effectLst/>
                          <a:latin typeface="Consolas" panose="020B0609020204030204" pitchFamily="49" charset="0"/>
                        </a:rPr>
                        <a:t>, %</a:t>
                      </a:r>
                      <a:r>
                        <a:rPr lang="en-US" sz="2400" kern="100" dirty="0" err="1">
                          <a:effectLst/>
                          <a:latin typeface="Consolas" panose="020B0609020204030204" pitchFamily="49" charset="0"/>
                        </a:rPr>
                        <a:t>rax</a:t>
                      </a:r>
                      <a:r>
                        <a:rPr lang="en-US" sz="2400" kern="100" dirty="0">
                          <a:effectLst/>
                          <a:latin typeface="Consolas" panose="020B0609020204030204" pitchFamily="49" charset="0"/>
                        </a:rPr>
                        <a:t>; ret</a:t>
                      </a:r>
                      <a:endParaRPr lang="zh-CN" sz="2400" kern="100" dirty="0">
                        <a:effectLst/>
                        <a:latin typeface="Consolas" panose="020B0609020204030204" pitchFamily="49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59781793"/>
                  </a:ext>
                </a:extLst>
              </a:tr>
              <a:tr h="41742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G6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  <a:latin typeface="Consolas" panose="020B0609020204030204" pitchFamily="49" charset="0"/>
                        </a:rPr>
                        <a:t>mov (%</a:t>
                      </a:r>
                      <a:r>
                        <a:rPr lang="en-US" sz="2400" kern="100" dirty="0" err="1">
                          <a:effectLst/>
                          <a:latin typeface="Consolas" panose="020B0609020204030204" pitchFamily="49" charset="0"/>
                        </a:rPr>
                        <a:t>rcx</a:t>
                      </a:r>
                      <a:r>
                        <a:rPr lang="en-US" sz="2400" kern="100" dirty="0">
                          <a:effectLst/>
                          <a:latin typeface="Consolas" panose="020B0609020204030204" pitchFamily="49" charset="0"/>
                        </a:rPr>
                        <a:t>), %</a:t>
                      </a:r>
                      <a:r>
                        <a:rPr lang="en-US" sz="2400" kern="100" dirty="0" err="1">
                          <a:effectLst/>
                          <a:latin typeface="Consolas" panose="020B0609020204030204" pitchFamily="49" charset="0"/>
                        </a:rPr>
                        <a:t>rax</a:t>
                      </a:r>
                      <a:r>
                        <a:rPr lang="en-US" sz="2400" kern="100" dirty="0">
                          <a:effectLst/>
                          <a:latin typeface="Consolas" panose="020B0609020204030204" pitchFamily="49" charset="0"/>
                        </a:rPr>
                        <a:t>; ret</a:t>
                      </a:r>
                      <a:endParaRPr lang="zh-CN" sz="2400" kern="100" dirty="0">
                        <a:effectLst/>
                        <a:latin typeface="Consolas" panose="020B0609020204030204" pitchFamily="49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57911014"/>
                  </a:ext>
                </a:extLst>
              </a:tr>
              <a:tr h="41742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G7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 err="1">
                          <a:effectLst/>
                          <a:latin typeface="Consolas" panose="020B0609020204030204" pitchFamily="49" charset="0"/>
                        </a:rPr>
                        <a:t>xor</a:t>
                      </a:r>
                      <a:r>
                        <a:rPr lang="en-US" sz="2400" kern="100" dirty="0">
                          <a:effectLst/>
                          <a:latin typeface="Consolas" panose="020B0609020204030204" pitchFamily="49" charset="0"/>
                        </a:rPr>
                        <a:t> %</a:t>
                      </a:r>
                      <a:r>
                        <a:rPr lang="en-US" sz="2400" kern="100" dirty="0" err="1">
                          <a:effectLst/>
                          <a:latin typeface="Consolas" panose="020B0609020204030204" pitchFamily="49" charset="0"/>
                        </a:rPr>
                        <a:t>rbx</a:t>
                      </a:r>
                      <a:r>
                        <a:rPr lang="en-US" sz="2400" kern="100" dirty="0">
                          <a:effectLst/>
                          <a:latin typeface="Consolas" panose="020B0609020204030204" pitchFamily="49" charset="0"/>
                        </a:rPr>
                        <a:t>, %</a:t>
                      </a:r>
                      <a:r>
                        <a:rPr lang="en-US" sz="2400" kern="100" dirty="0" err="1">
                          <a:effectLst/>
                          <a:latin typeface="Consolas" panose="020B0609020204030204" pitchFamily="49" charset="0"/>
                        </a:rPr>
                        <a:t>rbx</a:t>
                      </a:r>
                      <a:r>
                        <a:rPr lang="en-US" sz="2400" kern="100" dirty="0">
                          <a:effectLst/>
                          <a:latin typeface="Consolas" panose="020B0609020204030204" pitchFamily="49" charset="0"/>
                        </a:rPr>
                        <a:t>; ret</a:t>
                      </a:r>
                      <a:endParaRPr lang="zh-CN" sz="2400" kern="100" dirty="0">
                        <a:effectLst/>
                        <a:latin typeface="Consolas" panose="020B0609020204030204" pitchFamily="49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83728458"/>
                  </a:ext>
                </a:extLst>
              </a:tr>
              <a:tr h="41742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G8</a:t>
                      </a:r>
                      <a:endParaRPr lang="zh-CN" sz="24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 err="1">
                          <a:effectLst/>
                          <a:latin typeface="Consolas" panose="020B0609020204030204" pitchFamily="49" charset="0"/>
                        </a:rPr>
                        <a:t>xchg</a:t>
                      </a:r>
                      <a:r>
                        <a:rPr lang="en-US" sz="2400" kern="100" dirty="0">
                          <a:effectLst/>
                          <a:latin typeface="Consolas" panose="020B0609020204030204" pitchFamily="49" charset="0"/>
                        </a:rPr>
                        <a:t> %</a:t>
                      </a:r>
                      <a:r>
                        <a:rPr lang="en-US" sz="2400" kern="100" dirty="0" err="1">
                          <a:effectLst/>
                          <a:latin typeface="Consolas" panose="020B0609020204030204" pitchFamily="49" charset="0"/>
                        </a:rPr>
                        <a:t>rax</a:t>
                      </a:r>
                      <a:r>
                        <a:rPr lang="en-US" sz="2400" kern="100" dirty="0">
                          <a:effectLst/>
                          <a:latin typeface="Consolas" panose="020B0609020204030204" pitchFamily="49" charset="0"/>
                        </a:rPr>
                        <a:t>, %</a:t>
                      </a:r>
                      <a:r>
                        <a:rPr lang="en-US" sz="2400" kern="100" dirty="0" err="1">
                          <a:effectLst/>
                          <a:latin typeface="Consolas" panose="020B0609020204030204" pitchFamily="49" charset="0"/>
                        </a:rPr>
                        <a:t>rbx</a:t>
                      </a:r>
                      <a:r>
                        <a:rPr lang="en-US" sz="2400" kern="100" dirty="0">
                          <a:effectLst/>
                          <a:latin typeface="Consolas" panose="020B0609020204030204" pitchFamily="49" charset="0"/>
                        </a:rPr>
                        <a:t>; ret </a:t>
                      </a:r>
                      <a:r>
                        <a:rPr lang="en-US" altLang="zh-CN" sz="2400" dirty="0"/>
                        <a:t>(</a:t>
                      </a:r>
                      <a:r>
                        <a:rPr lang="zh-CN" altLang="en-US" sz="2400" dirty="0"/>
                        <a:t>交换</a:t>
                      </a:r>
                      <a:r>
                        <a:rPr lang="zh-CN" altLang="zh-CN" sz="2400" dirty="0"/>
                        <a:t>两个寄存器</a:t>
                      </a:r>
                      <a:r>
                        <a:rPr lang="en-US" altLang="zh-CN" sz="2400" dirty="0"/>
                        <a:t>)</a:t>
                      </a:r>
                      <a:endParaRPr lang="zh-CN" sz="2400" kern="100" dirty="0">
                        <a:effectLst/>
                        <a:latin typeface="Consolas" panose="020B0609020204030204" pitchFamily="49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25297648"/>
                  </a:ext>
                </a:extLst>
              </a:tr>
            </a:tbl>
          </a:graphicData>
        </a:graphic>
      </p:graphicFrame>
      <p:pic>
        <p:nvPicPr>
          <p:cNvPr id="6" name="图片 5">
            <a:extLst>
              <a:ext uri="{FF2B5EF4-FFF2-40B4-BE49-F238E27FC236}">
                <a16:creationId xmlns:a16="http://schemas.microsoft.com/office/drawing/2014/main" id="{44E246F9-E88B-A4CF-4072-06C3EB461A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5933" y="389290"/>
            <a:ext cx="3854648" cy="569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7022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4A728-2F7D-B3DA-8814-5590E6219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A3C2F9A-FBED-6FA6-5677-481E4C28DF1A}"/>
              </a:ext>
            </a:extLst>
          </p:cNvPr>
          <p:cNvSpPr txBox="1"/>
          <p:nvPr/>
        </p:nvSpPr>
        <p:spPr>
          <a:xfrm>
            <a:off x="564596" y="540048"/>
            <a:ext cx="338746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200" dirty="0">
                <a:latin typeface="+mj-lt"/>
                <a:ea typeface="+mj-ea"/>
              </a:rPr>
              <a:t>ROP</a:t>
            </a:r>
            <a:r>
              <a:rPr lang="zh-CN" altLang="en-US" sz="4200" dirty="0">
                <a:latin typeface="+mj-lt"/>
                <a:ea typeface="+mj-ea"/>
              </a:rPr>
              <a:t>：思考题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41A6DC2-34D3-CF59-FC01-FFE08D3815A9}"/>
              </a:ext>
            </a:extLst>
          </p:cNvPr>
          <p:cNvSpPr txBox="1"/>
          <p:nvPr/>
        </p:nvSpPr>
        <p:spPr>
          <a:xfrm>
            <a:off x="1531257" y="166188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F0E1DC5-4D86-A12F-EC35-4D562409F2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7609220"/>
              </p:ext>
            </p:extLst>
          </p:nvPr>
        </p:nvGraphicFramePr>
        <p:xfrm>
          <a:off x="221890" y="1359018"/>
          <a:ext cx="7460343" cy="834842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1138085">
                  <a:extLst>
                    <a:ext uri="{9D8B030D-6E8A-4147-A177-3AD203B41FA5}">
                      <a16:colId xmlns:a16="http://schemas.microsoft.com/office/drawing/2014/main" val="3158701515"/>
                    </a:ext>
                  </a:extLst>
                </a:gridCol>
                <a:gridCol w="6322258">
                  <a:extLst>
                    <a:ext uri="{9D8B030D-6E8A-4147-A177-3AD203B41FA5}">
                      <a16:colId xmlns:a16="http://schemas.microsoft.com/office/drawing/2014/main" val="2731708222"/>
                    </a:ext>
                  </a:extLst>
                </a:gridCol>
              </a:tblGrid>
              <a:tr h="41742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Gadget</a:t>
                      </a:r>
                      <a:endParaRPr lang="zh-CN" sz="2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zh-CN" sz="2400" kern="100" dirty="0">
                          <a:effectLst/>
                        </a:rPr>
                        <a:t>指令</a:t>
                      </a:r>
                      <a:endParaRPr lang="zh-CN" sz="2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649424245"/>
                  </a:ext>
                </a:extLst>
              </a:tr>
              <a:tr h="41742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G3</a:t>
                      </a:r>
                      <a:endParaRPr lang="zh-CN" sz="24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  <a:latin typeface="Consolas" panose="020B0609020204030204" pitchFamily="49" charset="0"/>
                        </a:rPr>
                        <a:t>add %</a:t>
                      </a:r>
                      <a:r>
                        <a:rPr lang="en-US" sz="2400" kern="100" dirty="0" err="1">
                          <a:effectLst/>
                          <a:latin typeface="Consolas" panose="020B0609020204030204" pitchFamily="49" charset="0"/>
                        </a:rPr>
                        <a:t>rbx</a:t>
                      </a:r>
                      <a:r>
                        <a:rPr lang="en-US" sz="2400" kern="100" dirty="0">
                          <a:effectLst/>
                          <a:latin typeface="Consolas" panose="020B0609020204030204" pitchFamily="49" charset="0"/>
                        </a:rPr>
                        <a:t>, %</a:t>
                      </a:r>
                      <a:r>
                        <a:rPr lang="en-US" sz="2400" kern="100" dirty="0" err="1">
                          <a:effectLst/>
                          <a:latin typeface="Consolas" panose="020B0609020204030204" pitchFamily="49" charset="0"/>
                        </a:rPr>
                        <a:t>rax</a:t>
                      </a:r>
                      <a:r>
                        <a:rPr lang="en-US" sz="2400" kern="100" dirty="0">
                          <a:effectLst/>
                          <a:latin typeface="Consolas" panose="020B0609020204030204" pitchFamily="49" charset="0"/>
                        </a:rPr>
                        <a:t>; ret</a:t>
                      </a:r>
                      <a:endParaRPr lang="zh-CN" sz="2400" kern="100" dirty="0">
                        <a:effectLst/>
                        <a:latin typeface="Consolas" panose="020B0609020204030204" pitchFamily="49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06840885"/>
                  </a:ext>
                </a:extLst>
              </a:tr>
            </a:tbl>
          </a:graphicData>
        </a:graphic>
      </p:graphicFrame>
      <p:pic>
        <p:nvPicPr>
          <p:cNvPr id="6" name="图片 5">
            <a:extLst>
              <a:ext uri="{FF2B5EF4-FFF2-40B4-BE49-F238E27FC236}">
                <a16:creationId xmlns:a16="http://schemas.microsoft.com/office/drawing/2014/main" id="{D70662E3-BEF3-08B1-3BD3-80824C1AB5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5933" y="389290"/>
            <a:ext cx="3854648" cy="5696243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3370DCCB-CFF5-0842-EE56-D3F15CE1AEE6}"/>
              </a:ext>
            </a:extLst>
          </p:cNvPr>
          <p:cNvSpPr txBox="1"/>
          <p:nvPr/>
        </p:nvSpPr>
        <p:spPr>
          <a:xfrm>
            <a:off x="564596" y="2571366"/>
            <a:ext cx="674446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CN" altLang="zh-CN" sz="2400" dirty="0"/>
              <a:t>计算</a:t>
            </a:r>
            <a:r>
              <a:rPr lang="zh-CN" altLang="en-US" sz="2400" dirty="0"/>
              <a:t>可得，</a:t>
            </a:r>
            <a:r>
              <a:rPr lang="zh-CN" altLang="zh-CN" sz="2400" dirty="0"/>
              <a:t>如果假设最开始漏洞函数执行 </a:t>
            </a:r>
            <a:r>
              <a:rPr lang="zh-CN" altLang="zh-CN" sz="2400" dirty="0">
                <a:latin typeface="Consolas" panose="020B0609020204030204" pitchFamily="49" charset="0"/>
              </a:rPr>
              <a:t>ret </a:t>
            </a:r>
            <a:r>
              <a:rPr lang="zh-CN" altLang="zh-CN" sz="2400" dirty="0"/>
              <a:t>时 </a:t>
            </a:r>
            <a:r>
              <a:rPr lang="zh-CN" altLang="zh-CN" sz="2400" dirty="0">
                <a:latin typeface="Consolas" panose="020B0609020204030204" pitchFamily="49" charset="0"/>
              </a:rPr>
              <a:t>%rsp</a:t>
            </a:r>
            <a:r>
              <a:rPr lang="zh-CN" altLang="zh-CN" sz="2400" dirty="0"/>
              <a:t> mod 16 == 8</a:t>
            </a:r>
            <a:r>
              <a:rPr lang="zh-CN" altLang="en-US" sz="2400" dirty="0"/>
              <a:t>，</a:t>
            </a:r>
            <a:r>
              <a:rPr lang="zh-CN" altLang="zh-CN" sz="2400" dirty="0"/>
              <a:t>这条链进入 VERIFY 时</a:t>
            </a:r>
            <a:r>
              <a:rPr lang="zh-CN" altLang="en-US" sz="2400" dirty="0"/>
              <a:t>，</a:t>
            </a:r>
            <a:r>
              <a:rPr lang="zh-CN" altLang="zh-CN" sz="2400" dirty="0">
                <a:latin typeface="Consolas" panose="020B0609020204030204" pitchFamily="49" charset="0"/>
              </a:rPr>
              <a:t>%rsp</a:t>
            </a:r>
            <a:r>
              <a:rPr lang="zh-CN" altLang="zh-CN" sz="2400" dirty="0"/>
              <a:t> </a:t>
            </a:r>
            <a:r>
              <a:rPr lang="en-US" altLang="zh-CN" sz="2400" dirty="0"/>
              <a:t>mod</a:t>
            </a:r>
            <a:r>
              <a:rPr lang="zh-CN" altLang="zh-CN" sz="2400" dirty="0"/>
              <a:t> 16 == 0</a:t>
            </a:r>
            <a:r>
              <a:rPr lang="en-US" altLang="zh-CN" sz="2400" dirty="0"/>
              <a:t> </a:t>
            </a:r>
            <a:r>
              <a:rPr lang="zh-CN" altLang="en-US" sz="2400" dirty="0"/>
              <a:t>≠ </a:t>
            </a:r>
            <a:r>
              <a:rPr lang="en-US" altLang="zh-CN" sz="2400" dirty="0"/>
              <a:t>8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2400" i="1" dirty="0"/>
              <a:t>Remedy</a:t>
            </a:r>
            <a:r>
              <a:rPr lang="zh-CN" altLang="en-US" sz="2400" dirty="0"/>
              <a:t>：</a:t>
            </a:r>
            <a:r>
              <a:rPr lang="zh-CN" altLang="zh-CN" sz="2400" dirty="0">
                <a:solidFill>
                  <a:srgbClr val="C00000"/>
                </a:solidFill>
              </a:rPr>
              <a:t>在 G7 后再插一个 G3，再进 VERIFY 即可</a:t>
            </a:r>
            <a:r>
              <a:rPr lang="zh-CN" altLang="en-US" sz="240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0136045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F2C14-293D-60E0-130E-1FC42FA04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3441DB8-72C5-D5F5-8EE7-31411AB26285}"/>
              </a:ext>
            </a:extLst>
          </p:cNvPr>
          <p:cNvSpPr txBox="1"/>
          <p:nvPr/>
        </p:nvSpPr>
        <p:spPr>
          <a:xfrm>
            <a:off x="564596" y="540048"/>
            <a:ext cx="242489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200" dirty="0">
                <a:latin typeface="+mj-lt"/>
                <a:ea typeface="+mj-ea"/>
              </a:rPr>
              <a:t>ROP </a:t>
            </a:r>
            <a:r>
              <a:rPr lang="zh-CN" altLang="en-US" sz="4200" dirty="0">
                <a:latin typeface="+mj-lt"/>
                <a:ea typeface="+mj-ea"/>
              </a:rPr>
              <a:t>补充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55955B3-8306-8DE0-996B-D7C22BDDAC7B}"/>
              </a:ext>
            </a:extLst>
          </p:cNvPr>
          <p:cNvSpPr txBox="1"/>
          <p:nvPr/>
        </p:nvSpPr>
        <p:spPr>
          <a:xfrm>
            <a:off x="1531257" y="166188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27F358F-C087-EFAB-42C2-0A3CE1E3F94D}"/>
              </a:ext>
            </a:extLst>
          </p:cNvPr>
          <p:cNvSpPr txBox="1"/>
          <p:nvPr/>
        </p:nvSpPr>
        <p:spPr>
          <a:xfrm>
            <a:off x="564596" y="1779704"/>
            <a:ext cx="10633175" cy="3346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/>
              <a:t>ROP </a:t>
            </a:r>
            <a:r>
              <a:rPr lang="zh-CN" altLang="en-US" sz="2400" dirty="0"/>
              <a:t>也不是无条件成功：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如果 </a:t>
            </a:r>
            <a:r>
              <a:rPr lang="en-US" altLang="zh-CN" sz="2400" dirty="0"/>
              <a:t>stack canary </a:t>
            </a:r>
            <a:r>
              <a:rPr lang="zh-CN" altLang="en-US" sz="2400" dirty="0"/>
              <a:t>在覆盖返回地址前被破坏，程序会先终止；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/>
              <a:t>PIE/ASLR </a:t>
            </a:r>
            <a:r>
              <a:rPr lang="zh-CN" altLang="en-US" sz="2400" dirty="0"/>
              <a:t>会让主程序和共享库代码地址随机化，攻击者通常还需要地址泄露等额外条件；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控制流完整性（</a:t>
            </a:r>
            <a:r>
              <a:rPr lang="en-US" altLang="zh-CN" sz="2400" dirty="0"/>
              <a:t>CFI</a:t>
            </a:r>
            <a:r>
              <a:rPr lang="zh-CN" altLang="en-US" sz="2400" dirty="0"/>
              <a:t>）、</a:t>
            </a:r>
            <a:r>
              <a:rPr lang="en-US" altLang="zh-CN" sz="2400" dirty="0"/>
              <a:t>shadow stack</a:t>
            </a:r>
            <a:r>
              <a:rPr lang="zh-CN" altLang="en-US" sz="2400" dirty="0"/>
              <a:t>、硬件 </a:t>
            </a:r>
            <a:r>
              <a:rPr lang="en-US" altLang="zh-CN" sz="2400" dirty="0"/>
              <a:t>CET </a:t>
            </a:r>
            <a:r>
              <a:rPr lang="zh-CN" altLang="en-US" sz="2400" dirty="0"/>
              <a:t>等机制还能进一步限制返回地址滥用。</a:t>
            </a:r>
          </a:p>
        </p:txBody>
      </p:sp>
    </p:spTree>
    <p:extLst>
      <p:ext uri="{BB962C8B-B14F-4D97-AF65-F5344CB8AC3E}">
        <p14:creationId xmlns:p14="http://schemas.microsoft.com/office/powerpoint/2010/main" val="28526861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C6AAC-7C2F-9E7F-AB63-FC79EE6A0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50712EE-4094-9DC6-3900-E4ABF1E7487E}"/>
              </a:ext>
            </a:extLst>
          </p:cNvPr>
          <p:cNvSpPr txBox="1"/>
          <p:nvPr/>
        </p:nvSpPr>
        <p:spPr>
          <a:xfrm>
            <a:off x="564596" y="540048"/>
            <a:ext cx="259077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200" dirty="0">
                <a:latin typeface="+mj-lt"/>
                <a:ea typeface="+mj-ea"/>
              </a:rPr>
              <a:t>Attack Lab</a:t>
            </a:r>
            <a:endParaRPr lang="zh-CN" altLang="en-US" sz="4200" dirty="0">
              <a:latin typeface="+mj-lt"/>
              <a:ea typeface="+mj-ea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0F5EFA1-B970-2AA8-1800-CCFDADE417C8}"/>
              </a:ext>
            </a:extLst>
          </p:cNvPr>
          <p:cNvSpPr txBox="1"/>
          <p:nvPr/>
        </p:nvSpPr>
        <p:spPr>
          <a:xfrm>
            <a:off x="1531257" y="166188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1AC288A-68FC-F036-859C-B40C9BC90D2B}"/>
              </a:ext>
            </a:extLst>
          </p:cNvPr>
          <p:cNvSpPr txBox="1"/>
          <p:nvPr/>
        </p:nvSpPr>
        <p:spPr>
          <a:xfrm>
            <a:off x="564596" y="1779704"/>
            <a:ext cx="1078255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CN" altLang="zh-CN" sz="2400" dirty="0"/>
              <a:t>构造特定的</a:t>
            </a:r>
            <a:r>
              <a:rPr lang="en-US" altLang="zh-CN" sz="2400" dirty="0"/>
              <a:t> </a:t>
            </a:r>
            <a:r>
              <a:rPr lang="zh-CN" altLang="zh-CN" sz="2400" dirty="0"/>
              <a:t>exploit string，改变程序原本的执行流程，使其跳转到指定函数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CN" altLang="zh-CN" sz="2400" dirty="0"/>
              <a:t>围绕缓冲区溢出与程序控制流攻击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CN" altLang="zh-CN" sz="2400" dirty="0"/>
              <a:t>常用工具包括 objdump、GDB</a:t>
            </a:r>
            <a:r>
              <a:rPr lang="zh-CN" altLang="zh-CN" sz="2400" b="1" dirty="0"/>
              <a:t> </a:t>
            </a:r>
            <a:r>
              <a:rPr lang="zh-CN" altLang="zh-CN" sz="2400" dirty="0"/>
              <a:t>和</a:t>
            </a:r>
            <a:r>
              <a:rPr lang="zh-CN" altLang="zh-CN" sz="2400" b="1" dirty="0"/>
              <a:t> hex2raw</a:t>
            </a:r>
            <a:r>
              <a:rPr lang="zh-CN" altLang="zh-CN" sz="2400" dirty="0"/>
              <a:t>。</a:t>
            </a:r>
            <a:endParaRPr lang="en-US" altLang="zh-CN" sz="2400" dirty="0"/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zh-CN" sz="2400" dirty="0"/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可能需要注意的问题：</a:t>
            </a:r>
            <a:endParaRPr lang="en-US" altLang="zh-CN" sz="2400" dirty="0"/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US" altLang="zh-CN" sz="2400" dirty="0"/>
              <a:t>x86-64 </a:t>
            </a:r>
            <a:r>
              <a:rPr lang="zh-CN" altLang="en-US" sz="2400" dirty="0"/>
              <a:t>使用小端序，输入函数地址、</a:t>
            </a:r>
            <a:r>
              <a:rPr lang="en-US" altLang="zh-CN" sz="2400" dirty="0"/>
              <a:t>gadget </a:t>
            </a:r>
            <a:r>
              <a:rPr lang="zh-CN" altLang="en-US" sz="2400" dirty="0"/>
              <a:t>地址时要按字节反向排列。</a:t>
            </a:r>
            <a:endParaRPr lang="en-US" altLang="zh-CN" sz="2400" dirty="0"/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US" altLang="zh-CN" sz="2400" dirty="0" err="1">
                <a:latin typeface="Consolas" panose="020B0609020204030204" pitchFamily="49" charset="0"/>
              </a:rPr>
              <a:t>popq</a:t>
            </a:r>
            <a:r>
              <a:rPr lang="en-US" altLang="zh-CN" sz="2400" dirty="0"/>
              <a:t> </a:t>
            </a:r>
            <a:r>
              <a:rPr lang="zh-CN" altLang="en-US" sz="2400" dirty="0"/>
              <a:t>会额外从栈上取一个值，需要 </a:t>
            </a:r>
            <a:r>
              <a:rPr lang="en-US" altLang="zh-CN" sz="2400" dirty="0"/>
              <a:t>padding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zh-CN" altLang="zh-CN" sz="2400" dirty="0"/>
              <a:t>调用函数时注意 System V AMD64 的 16-byte stack alignment；ROP 链中的 </a:t>
            </a:r>
            <a:r>
              <a:rPr lang="zh-CN" altLang="zh-CN" sz="2400" dirty="0">
                <a:latin typeface="Consolas" panose="020B0609020204030204" pitchFamily="49" charset="0"/>
              </a:rPr>
              <a:t>ret 数量可能改变 %rsp </a:t>
            </a:r>
            <a:r>
              <a:rPr lang="zh-CN" altLang="zh-CN" sz="2400" dirty="0"/>
              <a:t>的对齐状态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US" altLang="zh-CN" sz="2400" dirty="0"/>
              <a:t>exploit string </a:t>
            </a:r>
            <a:r>
              <a:rPr lang="zh-CN" altLang="en-US" sz="2400" dirty="0"/>
              <a:t>中不能出现 </a:t>
            </a:r>
            <a:r>
              <a:rPr lang="en-US" altLang="zh-CN" sz="2400" dirty="0">
                <a:latin typeface="Consolas" panose="020B0609020204030204" pitchFamily="49" charset="0"/>
              </a:rPr>
              <a:t>0x0a</a:t>
            </a:r>
            <a:r>
              <a:rPr lang="en-US" altLang="zh-CN" sz="2400" dirty="0"/>
              <a:t> (</a:t>
            </a:r>
            <a:r>
              <a:rPr lang="zh-CN" altLang="en-US" sz="2400" dirty="0"/>
              <a:t>换行</a:t>
            </a:r>
            <a:r>
              <a:rPr lang="en-US" altLang="zh-CN" sz="2400" dirty="0"/>
              <a:t>)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885495172"/>
      </p:ext>
    </p:extLst>
  </p:cSld>
  <p:clrMapOvr>
    <a:masterClrMapping/>
  </p:clrMapOvr>
</p:sld>
</file>

<file path=ppt/theme/theme1.xml><?xml version="1.0" encoding="utf-8"?>
<a:theme xmlns:a="http://schemas.openxmlformats.org/drawingml/2006/main" name="拱道">
  <a:themeElements>
    <a:clrScheme name="拱道">
      <a:dk1>
        <a:sysClr val="windowText" lastClr="000000"/>
      </a:dk1>
      <a:lt1>
        <a:sysClr val="window" lastClr="FFFFFF"/>
      </a:lt1>
      <a:dk2>
        <a:srgbClr val="424C4E"/>
      </a:dk2>
      <a:lt2>
        <a:srgbClr val="EDE9E7"/>
      </a:lt2>
      <a:accent1>
        <a:srgbClr val="9FA597"/>
      </a:accent1>
      <a:accent2>
        <a:srgbClr val="AEA67E"/>
      </a:accent2>
      <a:accent3>
        <a:srgbClr val="957D71"/>
      </a:accent3>
      <a:accent4>
        <a:srgbClr val="C88769"/>
      </a:accent4>
      <a:accent5>
        <a:srgbClr val="97A4AA"/>
      </a:accent5>
      <a:accent6>
        <a:srgbClr val="9FA4A5"/>
      </a:accent6>
      <a:hlink>
        <a:srgbClr val="8C9484"/>
      </a:hlink>
      <a:folHlink>
        <a:srgbClr val="C17957"/>
      </a:folHlink>
    </a:clrScheme>
    <a:fontScheme name="Sept 1">
      <a:majorFont>
        <a:latin typeface="Times New Roman"/>
        <a:ea typeface="黑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" id="{CCBE687C-D9F1-4254-B066-5079611C2397}" vid="{9D57D580-D4A7-454F-BF49-8DDDB4A8185C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Archway</Template>
  <TotalTime>214</TotalTime>
  <Words>1908</Words>
  <Application>Microsoft Office PowerPoint</Application>
  <PresentationFormat>宽屏</PresentationFormat>
  <Paragraphs>229</Paragraphs>
  <Slides>18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9" baseType="lpstr">
      <vt:lpstr>等线</vt:lpstr>
      <vt:lpstr>黑体</vt:lpstr>
      <vt:lpstr>楷体</vt:lpstr>
      <vt:lpstr>宋体</vt:lpstr>
      <vt:lpstr>Arial</vt:lpstr>
      <vt:lpstr>Cambria Math</vt:lpstr>
      <vt:lpstr>Consolas</vt:lpstr>
      <vt:lpstr>Goudy Old Style</vt:lpstr>
      <vt:lpstr>Times New Roman</vt:lpstr>
      <vt:lpstr>Wingdings</vt:lpstr>
      <vt:lpstr>拱道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Plenilune Liao</dc:creator>
  <cp:lastModifiedBy>Plenilune Liao</cp:lastModifiedBy>
  <cp:revision>14</cp:revision>
  <dcterms:created xsi:type="dcterms:W3CDTF">2026-10-12T15:19:12Z</dcterms:created>
  <dcterms:modified xsi:type="dcterms:W3CDTF">2026-10-13T11:44:51Z</dcterms:modified>
</cp:coreProperties>
</file>