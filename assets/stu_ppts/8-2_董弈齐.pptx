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72" r:id="rId6"/>
    <p:sldId id="273" r:id="rId7"/>
    <p:sldId id="258" r:id="rId8"/>
    <p:sldId id="259" r:id="rId9"/>
    <p:sldId id="260" r:id="rId10"/>
    <p:sldId id="261" r:id="rId11"/>
    <p:sldId id="262" r:id="rId12"/>
    <p:sldId id="276" r:id="rId13"/>
    <p:sldId id="264" r:id="rId14"/>
    <p:sldId id="265" r:id="rId15"/>
    <p:sldId id="266" r:id="rId16"/>
    <p:sldId id="267" r:id="rId17"/>
    <p:sldId id="268" r:id="rId18"/>
    <p:sldId id="274" r:id="rId19"/>
    <p:sldId id="270" r:id="rId20"/>
    <p:sldId id="279" r:id="rId21"/>
    <p:sldId id="280" r:id="rId22"/>
    <p:sldId id="278" r:id="rId23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建议用时：0.3 分钟</a:t>
            </a:r>
          </a:p>
          <a:p/>
          <a:p>
            <a:r>
              <a:t>本次围绕课堂前三节回顾：内存抽象与总线事务、主存的 RAM 器件、磁盘与 SSD 的存储技术。最后简要衔接局部性与缓存层次。</a:t>
            </a:r>
          </a:p>
          <a:p/>
          <a:p>
            <a:r>
              <a:t>来源：课堂 12-memory-hierarchy.pdf，第 2 页；CSAPP 第3版，第 6.1 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建议用时：0.5 分钟</a:t>
            </a:r>
          </a:p>
          <a:p/>
          <a:p>
            <a:r>
              <a:t>顺序按课堂前三节安排。前面学过汇编中的访存指令，本次往下看它的器件与事务实现。RAM 部分关注 bit、字、地址三个层次；外存部分关注容量和时间的计算，以及数据怎样回到主存。</a:t>
            </a:r>
          </a:p>
          <a:p/>
          <a:p>
            <a:r>
              <a:t>来源：课堂 12-memory-hierarchy.pdf，第 2 页；CSAPP 第3版，第 6.1 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建议用时：1.2 分钟</a:t>
            </a:r>
          </a:p>
          <a:p/>
          <a:p>
            <a:r>
              <a:t>沿图指出 CPU 内的寄存器、ALU 和总线接口；CPU 通过系统总线连到 I/O bridge，再通过 memory bus 与主存交互。图是课件的传统结构模型，不把它理解为所有现代处理器的具体布线。总线不是存储器，地址也不是本次读写的数据。用这一点连接下一页的 movq。</a:t>
            </a:r>
          </a:p>
          <a:p/>
          <a:p>
            <a:r>
              <a:t>来源：课堂 12-memory-hierarchy.pdf，第 3 页；CSAPP 第3版，第 6.1.1 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建议用时：1.5 分钟</a:t>
            </a:r>
          </a:p>
          <a:p/>
          <a:p>
            <a:r>
              <a:t>先按左侧三个阶段解释 load，再让右侧 store 与之对应。load 的数据从主存返回寄存器；store 的数据从寄存器送往主存，但两者首先都必须告诉主存目标地址。movq 的 q 表示8字节数据宽度。结合汇编区分 A 和 $A：读取地址 A 的内容，与把地址数值本身放入寄存器不是一回事。指令发出和传输完成也不是同一事件。</a:t>
            </a:r>
          </a:p>
          <a:p/>
          <a:p>
            <a:r>
              <a:t>来源：课堂 12-memory-hierarchy.pdf，第 4–9 页；CSAPP 第3版，第 6.1.1 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建议用时：1.4 分钟</a:t>
            </a:r>
          </a:p>
          <a:p/>
          <a:p>
            <a:r>
              <a:t>从单元结构推出性能差别：SRAM 用更多晶体管维持稳定状态，持续供电时无需刷新；DRAM 用电容保存电荷，因漏电而需周期刷新。DRAM 每bit单元简单，适合做大容量主存；SRAM适合小而快的cache。重点纠正 static 与 nonvolatile 的混淆：静态只表示不用周期刷新，掉电一样丢失。不要把课件的相对速度、成本表当作所有产品的固定比例。</a:t>
            </a:r>
          </a:p>
          <a:p/>
          <a:p>
            <a:r>
              <a:t>来源：课堂 12-memory-hierarchy.pdf，第 11–13 页；CSAPP 第3版，第 6.1.1 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建议用时：1.6 分钟</a:t>
            </a:r>
          </a:p>
          <a:p/>
          <a:p>
            <a:r>
              <a:t>先解释 d×w 的两个数，不要把16×8误当成16行8列。课件芯片有16个supercell，每个8bit，以4行4列组织。读取(2,1)时，RAS先选择第2行并载入行缓冲，再用CAS选择第1列输出8bit。4行和4列各需2bit地址，地址引脚分两个阶段复用；数据引脚是另外8条。行列地址不是两份数据。</a:t>
            </a:r>
          </a:p>
          <a:p/>
          <a:p>
            <a:r>
              <a:t>来源：课堂 12-memory-hierarchy.pdf，第 16–18 页；CSAPP 第3版，第 6.1.1 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建议用时：1.4 分钟</a:t>
            </a:r>
          </a:p>
          <a:p/>
          <a:p>
            <a:r>
              <a:t>八个芯片接收同一行列地址，每片提供同一个supercell中的8bit，组合为64bit主存字。分别核算宽度和容量：8×8bit=64bit；每片8M×8bit=8MB，八片64MB。课件用M、MB记法；按二进制芯片容量理解时M是2^20个位置。最常见错误是将64bit与64MB混淆，或计算容量时忘记8bit=1Byte。</a:t>
            </a:r>
          </a:p>
          <a:p/>
          <a:p>
            <a:r>
              <a:t>来源：课堂 12-memory-hierarchy.pdf，第 19 页；CSAPP 第3版，第 6.1.1 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建议用时：1.4 分钟</a:t>
            </a:r>
          </a:p>
          <a:p/>
          <a:p>
            <a:r>
              <a:t>先从单个盘片的表面讲到磁道和扇区，再看右图的多盘片结构。柱面不是一条单独的磁道，而是所有表面同半径磁道的集合。盘片旋转，磁臂沿半径移动；课件中各磁头随磁臂一起移动。把径向移动和旋转区分开，后面才能区分seek和rotational latency。图裁自原课件第24页。</a:t>
            </a:r>
          </a:p>
          <a:p/>
          <a:p>
            <a:r>
              <a:t>来源：课堂 12-memory-hierarchy.pdf，第 23–29 页；CSAPP 第3版，第 6.1.2 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建议用时：1.4 分钟</a:t>
            </a:r>
          </a:p>
          <a:p/>
          <a:p>
            <a:r>
              <a:t>先从单个盘片的表面讲到磁道和扇区，再看右图的多盘片结构。柱面不是一条单独的磁道，而是所有表面同半径磁道的集合。盘片旋转，磁臂沿半径移动；课件中各磁头随磁臂一起移动。把径向移动和旋转区分开，后面才能区分seek和rotational latency。图裁自原课件第24页。</a:t>
            </a:r>
          </a:p>
          <a:p/>
          <a:p>
            <a:r>
              <a:t>来源：课堂 12-memory-hierarchy.pdf，第 23–29 页；CSAPP 第3版，第 6.1.2 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建议用时：1.4 分钟</a:t>
            </a:r>
          </a:p>
          <a:p/>
          <a:p>
            <a:r>
              <a:t>先解释为什么必须用平均扇区数：外圈长，按分区记录时每道可容纳更多扇区。然后按单位推导容量公式，逐项读出参数的含义，不能只背五个数字相乘。512B每扇区、平均300扇区每道、每面20000道、每片2面、共5片。乘得30720000000Byte，以十进制GB表示是30.72GB。</a:t>
            </a:r>
          </a:p>
          <a:p/>
          <a:p>
            <a:r>
              <a:t>来源：课堂 12-memory-hierarchy.pdf，第 25–27 页；CSAPP 第3版，第 6.1.2 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建议用时：2.2 分钟</a:t>
            </a:r>
          </a:p>
          <a:p/>
          <a:p>
            <a:r>
              <a:t>这页是外存部分的计算重点。先把每分钟7200转换成每圈60/7200秒，再乘1000得到毫秒。平均等半圈，所以旋转等待4.1667ms。传输一个扇区占一圈的1/400，得到0.0208ms。保留中间精度时总时间13.1875ms，约13.19ms。课件将4.1667先粗略写成4，得到13.02ms；两者是近似精度不同。让听众能说清半圈和1/400各自的物理意义。总时间主要来自机械寻道与旋转等待。</a:t>
            </a:r>
          </a:p>
          <a:p/>
          <a:p>
            <a:r>
              <a:t>来源：课堂 12-memory-hierarchy.pdf，第 28–42 页；CSAPP 第3版，第 6.1.2 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建议用时：1.3 分钟</a:t>
            </a:r>
          </a:p>
          <a:p/>
          <a:p>
            <a:r>
              <a:t>把磁盘的机械访问连接到系统中的数据流。主机看到逻辑块号，不必直接指定盘片几何位置。CPU把命令、逻辑块号和目的主存地址交给控制器；控制器读设备，通过DMA写主存；完成后中断。DMA不等于直接送入CPU寄存器，中断不携带整个扇区。对比前面的movq：一条CPU访存指令与一次设备块读取是不同层次的操作。</a:t>
            </a:r>
          </a:p>
          <a:p/>
          <a:p>
            <a:r>
              <a:t>来源：课堂 12-memory-hierarchy.pdf，第 43–46 页；CSAPP 第3版，第 6.1.2 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建议用时：1.6 分钟</a:t>
            </a:r>
          </a:p>
          <a:p/>
          <a:p>
            <a:r>
              <a:t>SSD消除了机械运动，但并非没有写入限制。闪存按页读写，擦除必须针对整块；已写入的页不能像普通RAM那样任意原位覆盖。控制器可将新版本写到其他已擦除页并更新映射，回收旧块时再搬走有效数据后擦除。不是每次主机小写都立即擦除旧块；FTL会调度和合并工作。磨损均衡把擦写分散到不同块。不同闪存产品耐久度不同，课件的寿命值是示例量级。</a:t>
            </a:r>
          </a:p>
          <a:p/>
          <a:p>
            <a:r>
              <a:t>来源：课堂 12-memory-hierarchy.pdf，第 47–49 页；CSAPP 第3版，第 6.1.3 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建议用时：1.3 分钟</a:t>
            </a:r>
          </a:p>
          <a:p/>
          <a:p>
            <a:r>
              <a:t>只概述本次简单提到的概念。时间局部性是近期再用，空间局部性是邻近地址近期使用。例如循环体反复执行、顺序访问数组。较快层暂存较慢层的部分数据，局部性使这些数据较可能被再次用到。按寄存器、cache、主存、外存读一遍层次，说明hit和miss的直观意义后结束。</a:t>
            </a:r>
          </a:p>
          <a:p/>
          <a:p>
            <a:r>
              <a:t>来源：课堂 12-memory-hierarchy.pdf，第 53、58、60–64 页；CSAPP 第3版，第 6.2–6.3 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0" Type="http://schemas.openxmlformats.org/officeDocument/2006/relationships/notesSlide" Target="../notesSlides/notesSlide5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6.xml"/><Relationship Id="rId18" Type="http://schemas.openxmlformats.org/officeDocument/2006/relationships/image" Target="../media/image1.jpeg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2" Type="http://schemas.openxmlformats.org/officeDocument/2006/relationships/notesSlide" Target="../notesSlides/notesSlide12.xml"/><Relationship Id="rId11" Type="http://schemas.openxmlformats.org/officeDocument/2006/relationships/slideLayout" Target="../slideLayouts/slideLayout6.xml"/><Relationship Id="rId10" Type="http://schemas.openxmlformats.org/officeDocument/2006/relationships/image" Target="../media/image9.png"/><Relationship Id="rId1" Type="http://schemas.openxmlformats.org/officeDocument/2006/relationships/tags" Target="../tags/tag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>
            <a:spLocks noGrp="1"/>
          </p:cNvSpPr>
          <p:nvPr/>
        </p:nvSpPr>
        <p:spPr>
          <a:xfrm>
            <a:off x="638175" y="828675"/>
            <a:ext cx="10877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95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95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ICS</a:t>
            </a:r>
            <a:endParaRPr sz="195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38175" y="1552575"/>
            <a:ext cx="2009775" cy="47625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38175" y="2114550"/>
            <a:ext cx="10858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39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9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9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9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9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9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9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9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9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9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9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9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存储技术与内存访问</a:t>
            </a:r>
            <a:endParaRPr sz="3900" b="1">
              <a:solidFill>
                <a:srgbClr val="1F3A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38175" y="3238500"/>
            <a:ext cx="1085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Memory Hierarchy</a:t>
            </a:r>
            <a:endParaRPr sz="2625" b="1">
              <a:solidFill>
                <a:srgbClr val="1F3A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4710" y="4365625"/>
            <a:ext cx="62496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（陆老师似乎没有讲完，我的回课按照</a:t>
            </a:r>
            <a:r>
              <a:rPr lang="en-US" altLang="zh-CN"/>
              <a:t>6.1-6.3</a:t>
            </a:r>
            <a:r>
              <a:rPr lang="zh-CN" altLang="en-US"/>
              <a:t>梳理，</a:t>
            </a:r>
            <a:r>
              <a:rPr lang="en-US" altLang="zh-CN"/>
              <a:t>cache</a:t>
            </a:r>
            <a:r>
              <a:rPr lang="zh-CN" altLang="en-US"/>
              <a:t>的部分跟着课堂进度稍微</a:t>
            </a:r>
            <a:r>
              <a:rPr lang="zh-CN" altLang="en-US"/>
              <a:t>涉及一些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387715" y="5346065"/>
            <a:ext cx="3108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董弈齐</a:t>
            </a:r>
            <a:endParaRPr lang="zh-CN" altLang="en-US"/>
          </a:p>
        </p:txBody>
      </p:sp>
      <p:pic>
        <p:nvPicPr>
          <p:cNvPr id="8" name="图片 7" descr="20210328234915_fba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4375" y="404495"/>
            <a:ext cx="4977130" cy="33153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矩形 12"/>
          <p:cNvSpPr>
            <a:spLocks noGrp="1"/>
          </p:cNvSpPr>
          <p:nvPr/>
        </p:nvSpPr>
        <p:spPr>
          <a:xfrm>
            <a:off x="409575" y="381000"/>
            <a:ext cx="85725" cy="381000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285750"/>
            <a:ext cx="111537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本次回课内容</a:t>
            </a:r>
            <a:endParaRPr sz="2625" b="1">
              <a:solidFill>
                <a:srgbClr val="1F3A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81050" y="1600200"/>
            <a:ext cx="85725" cy="85725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47750" y="1476375"/>
            <a:ext cx="1000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内存抽象与总线</a:t>
            </a:r>
            <a:endParaRPr sz="1800" b="1">
              <a:solidFill>
                <a:srgbClr val="1F3A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047750" y="1885950"/>
            <a:ext cx="100012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一条内存读写指令，如何落实为地址、数据与控制信号的交互。</a:t>
            </a:r>
            <a:endParaRPr sz="16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2838450"/>
            <a:ext cx="85725" cy="85725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047750" y="2714625"/>
            <a:ext cx="1000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RAM：主存的基本器件</a:t>
            </a:r>
            <a:endParaRPr sz="1800" b="1">
              <a:solidFill>
                <a:srgbClr val="1F3A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47750" y="3124200"/>
            <a:ext cx="100012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SRAM / DRAM 的差别；DRAM 的行列访问、芯片组织和模块容量。</a:t>
            </a:r>
            <a:endParaRPr sz="16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81050" y="4076700"/>
            <a:ext cx="85725" cy="85725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047750" y="3952875"/>
            <a:ext cx="1000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存储技术与趋势</a:t>
            </a:r>
            <a:endParaRPr sz="1800" b="1">
              <a:solidFill>
                <a:srgbClr val="1F3A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047750" y="4362450"/>
            <a:ext cx="100012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磁盘的结构、容量和访问时间；DMA；SSD 的页读写与块擦除。</a:t>
            </a:r>
            <a:endParaRPr sz="16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47750" y="5495925"/>
            <a:ext cx="10001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75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75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75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75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75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75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75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75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75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75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75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575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sz="1575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局部性与 cache 层次</a:t>
            </a:r>
            <a:endParaRPr sz="1575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存储方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670" y="620395"/>
            <a:ext cx="11387455" cy="54819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屏幕截图 2026-10-26 2146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570" y="1052830"/>
            <a:ext cx="9495155" cy="5168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409575" y="381000"/>
            <a:ext cx="85725" cy="381000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285750"/>
            <a:ext cx="111537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 与主存之间的总线</a:t>
            </a:r>
            <a:endParaRPr sz="2625" b="1">
              <a:solidFill>
                <a:srgbClr val="1F3A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1180" y="838200"/>
            <a:ext cx="11320145" cy="28124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总线是一组传送地址、数据和控制信号的连线，通常由多个设备共享。</a:t>
            </a:r>
            <a:endParaRPr sz="1725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I/O</a:t>
            </a:r>
            <a:r>
              <a:rPr lang="zh-CN" altLang="en-US"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桥</a:t>
            </a:r>
            <a:r>
              <a:rPr lang="en-US" altLang="zh-CN"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系统主线</a:t>
            </a:r>
            <a:r>
              <a:rPr lang="en-US" altLang="zh-CN"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内存主线</a:t>
            </a:r>
            <a:r>
              <a:rPr lang="en-US" altLang="zh-CN"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主线</a:t>
            </a:r>
            <a:r>
              <a:rPr lang="zh-CN" altLang="en-US"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四个概念：</a:t>
            </a:r>
            <a:endParaRPr lang="zh-CN" altLang="en-US" sz="1725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主线：</a:t>
            </a:r>
            <a:r>
              <a:rPr lang="en-US" altLang="zh-CN"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交通网</a:t>
            </a:r>
            <a:r>
              <a:rPr lang="en-US" altLang="zh-CN"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endParaRPr lang="en-US" altLang="zh-CN" sz="1725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内存主线：连接</a:t>
            </a:r>
            <a:r>
              <a:rPr lang="en-US" altLang="zh-CN"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</a:t>
            </a:r>
            <a:r>
              <a:rPr lang="zh-CN" altLang="en-US"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与内存</a:t>
            </a:r>
            <a:r>
              <a:rPr lang="zh-CN" altLang="en-US"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的高速</a:t>
            </a:r>
            <a:endParaRPr lang="zh-CN" altLang="en-US" sz="1725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系统总线：连接</a:t>
            </a:r>
            <a:r>
              <a:rPr lang="en-US" altLang="zh-CN"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</a:t>
            </a:r>
            <a:r>
              <a:rPr lang="zh-CN" altLang="en-US"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I/O</a:t>
            </a:r>
            <a:r>
              <a:rPr lang="zh-CN" altLang="en-US"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桥</a:t>
            </a:r>
            <a:endParaRPr lang="zh-CN" altLang="en-US" sz="1725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I/O</a:t>
            </a:r>
            <a:r>
              <a:rPr lang="zh-CN" altLang="en-US"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桥：“三岔路口”一头连着系统总线（对接 </a:t>
            </a:r>
            <a:r>
              <a:rPr lang="en-US" altLang="zh-CN"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CPU），</a:t>
            </a:r>
            <a:r>
              <a:rPr lang="zh-CN" altLang="en-US"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一头连着内存总线（对接内存），另一头连着 </a:t>
            </a:r>
            <a:r>
              <a:rPr lang="en-US" altLang="zh-CN"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I/O </a:t>
            </a:r>
            <a:r>
              <a:rPr lang="zh-CN" altLang="en-US"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总线（对接硬盘、</a:t>
            </a:r>
            <a:r>
              <a:rPr lang="en-US" altLang="zh-CN"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USB、</a:t>
            </a:r>
            <a:r>
              <a:rPr lang="zh-CN" altLang="en-US"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网卡等）</a:t>
            </a:r>
            <a:endParaRPr lang="zh-CN" altLang="en-US" sz="1725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altLang="en-US" sz="1725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altLang="en-US" sz="1725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7777" y="3068955"/>
            <a:ext cx="9111395" cy="36671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矩形 14"/>
          <p:cNvSpPr>
            <a:spLocks noGrp="1"/>
          </p:cNvSpPr>
          <p:nvPr/>
        </p:nvSpPr>
        <p:spPr>
          <a:xfrm>
            <a:off x="409575" y="381000"/>
            <a:ext cx="85725" cy="381000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285750"/>
            <a:ext cx="111537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内存读与写</a:t>
            </a:r>
            <a:endParaRPr sz="2625" b="1">
              <a:solidFill>
                <a:srgbClr val="1F3A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09625" y="1381125"/>
            <a:ext cx="5048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95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95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读：movq A, %rax</a:t>
            </a:r>
            <a:endParaRPr sz="1950" b="1">
              <a:solidFill>
                <a:srgbClr val="1F3A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429375" y="1381125"/>
            <a:ext cx="5048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95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95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写：movq %rax, A</a:t>
            </a:r>
            <a:endParaRPr sz="1950" b="1">
              <a:solidFill>
                <a:srgbClr val="1F3A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09625" y="1924050"/>
            <a:ext cx="10382250" cy="9525"/>
          </a:xfrm>
          <a:prstGeom prst="rect">
            <a:avLst/>
          </a:prstGeom>
          <a:solidFill>
            <a:srgbClr val="BACADB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2305050"/>
            <a:ext cx="50958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CPU 发出地址 A</a:t>
            </a:r>
            <a:endParaRPr sz="1725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429375" y="2305050"/>
            <a:ext cx="4953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CPU 发出地址 A</a:t>
            </a:r>
            <a:endParaRPr sz="1725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9625" y="3190875"/>
            <a:ext cx="50958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主存取出 A 处的数据 x，送上总线</a:t>
            </a:r>
            <a:endParaRPr sz="1725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429375" y="3190875"/>
            <a:ext cx="4953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CPU 发出寄存器中的数据 y</a:t>
            </a:r>
            <a:endParaRPr sz="1725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09625" y="4076700"/>
            <a:ext cx="50958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CPU 接收 x，写入 %rax</a:t>
            </a:r>
            <a:endParaRPr sz="1725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429375" y="4076700"/>
            <a:ext cx="4953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主存接收 y，写入地址 A</a:t>
            </a:r>
            <a:endParaRPr sz="1725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48375" y="2257425"/>
            <a:ext cx="9525" cy="2590800"/>
          </a:xfrm>
          <a:prstGeom prst="rect">
            <a:avLst/>
          </a:prstGeom>
          <a:solidFill>
            <a:srgbClr val="BACADB"/>
          </a:solidFill>
          <a:ln w="0">
            <a:noFill/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矩形 23"/>
          <p:cNvSpPr>
            <a:spLocks noGrp="1"/>
          </p:cNvSpPr>
          <p:nvPr/>
        </p:nvSpPr>
        <p:spPr>
          <a:xfrm>
            <a:off x="409575" y="381000"/>
            <a:ext cx="85725" cy="381000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285750"/>
            <a:ext cx="111537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SRAM 与 DRAM</a:t>
            </a:r>
            <a:endParaRPr sz="2625" b="1">
              <a:solidFill>
                <a:srgbClr val="1F3A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57250" y="1371600"/>
            <a:ext cx="447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95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95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SRAM（Static RAM）</a:t>
            </a:r>
            <a:endParaRPr sz="1950" b="1">
              <a:solidFill>
                <a:srgbClr val="1F3A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429375" y="1371600"/>
            <a:ext cx="47148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95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95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DRAM（Dynamic RAM）</a:t>
            </a:r>
            <a:endParaRPr sz="1950" b="1">
              <a:solidFill>
                <a:srgbClr val="1F3A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57250" y="2076450"/>
            <a:ext cx="1095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存储单元</a:t>
            </a:r>
            <a:endParaRPr sz="15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981200" y="2076450"/>
            <a:ext cx="38290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或 8 个晶体管 / bit</a:t>
            </a:r>
            <a:endParaRPr sz="1575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429375" y="2076450"/>
            <a:ext cx="1095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存储单元</a:t>
            </a:r>
            <a:endParaRPr sz="15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7553325" y="2076450"/>
            <a:ext cx="38576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个晶体管 + 1 个电容 / bit</a:t>
            </a:r>
            <a:endParaRPr sz="1575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857250" y="2876550"/>
            <a:ext cx="1095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状态保持</a:t>
            </a:r>
            <a:endParaRPr sz="15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981200" y="2876550"/>
            <a:ext cx="38290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持续供电时无需周期刷新</a:t>
            </a:r>
            <a:endParaRPr sz="1575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429375" y="2876550"/>
            <a:ext cx="1095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状态保持</a:t>
            </a:r>
            <a:endParaRPr sz="15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7553325" y="2876550"/>
            <a:ext cx="38576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电容电荷会流失，需要周期刷新</a:t>
            </a:r>
            <a:endParaRPr sz="1575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857250" y="3676650"/>
            <a:ext cx="1095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速度成本</a:t>
            </a:r>
            <a:endParaRPr sz="15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1981200" y="3676650"/>
            <a:ext cx="38290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较快、密度较低、每 bit 成本较高</a:t>
            </a:r>
            <a:endParaRPr sz="1575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6429375" y="3676650"/>
            <a:ext cx="1095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速度成本</a:t>
            </a:r>
            <a:endParaRPr sz="15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7553325" y="3676650"/>
            <a:ext cx="38576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较慢、密度较高、每 bit 成本较低</a:t>
            </a:r>
            <a:endParaRPr sz="1575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857250" y="4476750"/>
            <a:ext cx="1095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常见用途</a:t>
            </a:r>
            <a:endParaRPr sz="15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1981200" y="4476750"/>
            <a:ext cx="38290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Cache</a:t>
            </a:r>
            <a:endParaRPr sz="1575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6429375" y="4476750"/>
            <a:ext cx="1095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常见用途</a:t>
            </a:r>
            <a:endParaRPr sz="15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7553325" y="4476750"/>
            <a:ext cx="38576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主存、帧缓冲</a:t>
            </a:r>
            <a:endParaRPr sz="1575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6057900" y="1962150"/>
            <a:ext cx="9525" cy="3209925"/>
          </a:xfrm>
          <a:prstGeom prst="rect">
            <a:avLst/>
          </a:prstGeom>
          <a:solidFill>
            <a:srgbClr val="BACADB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57250" y="5400675"/>
            <a:ext cx="10477500" cy="9525"/>
          </a:xfrm>
          <a:prstGeom prst="rect">
            <a:avLst/>
          </a:prstGeom>
          <a:solidFill>
            <a:srgbClr val="BACADB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57250" y="5619750"/>
            <a:ext cx="104775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725" b="1">
                <a:solidFill>
                  <a:srgbClr val="BB4B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BB4B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BB4B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BB4B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BB4B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BB4B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BB4B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BB4B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BB4B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BB4B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1">
                <a:solidFill>
                  <a:srgbClr val="BB4B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BB4B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都在断电后丢失数据</a:t>
            </a:r>
            <a:endParaRPr sz="1725" b="1">
              <a:solidFill>
                <a:srgbClr val="BB4B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5" name="图片 24" descr="20210328234915_fba3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04605" y="4725035"/>
            <a:ext cx="3025140" cy="20148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2" name="矩形 41"/>
          <p:cNvSpPr>
            <a:spLocks noGrp="1"/>
          </p:cNvSpPr>
          <p:nvPr/>
        </p:nvSpPr>
        <p:spPr>
          <a:xfrm>
            <a:off x="409575" y="381000"/>
            <a:ext cx="85725" cy="381000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285750"/>
            <a:ext cx="111537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DRAM 的行列组织与读操作</a:t>
            </a:r>
            <a:endParaRPr sz="2625" b="1">
              <a:solidFill>
                <a:srgbClr val="1F3A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09625" y="1228725"/>
            <a:ext cx="1047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7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× w：d 个 supercell，每个 w bit，总容量为 d × w bit。</a:t>
            </a:r>
            <a:endParaRPr sz="1725" b="1">
              <a:solidFill>
                <a:srgbClr val="1F3A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76300" y="2076450"/>
            <a:ext cx="638175" cy="638175"/>
          </a:xfrm>
          <a:prstGeom prst="rect">
            <a:avLst/>
          </a:prstGeom>
          <a:solidFill>
            <a:srgbClr val="F5F7FA"/>
          </a:solidFill>
          <a:ln w="9525">
            <a:solidFill>
              <a:srgbClr val="BACADB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76300" y="2190750"/>
            <a:ext cx="6381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(0,0)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543050" y="2076450"/>
            <a:ext cx="638175" cy="638175"/>
          </a:xfrm>
          <a:prstGeom prst="rect">
            <a:avLst/>
          </a:prstGeom>
          <a:solidFill>
            <a:srgbClr val="F5F7FA"/>
          </a:solidFill>
          <a:ln w="9525">
            <a:solidFill>
              <a:srgbClr val="BACADB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543050" y="2190750"/>
            <a:ext cx="6381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(0,1)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209800" y="2076450"/>
            <a:ext cx="638175" cy="638175"/>
          </a:xfrm>
          <a:prstGeom prst="rect">
            <a:avLst/>
          </a:prstGeom>
          <a:solidFill>
            <a:srgbClr val="F5F7FA"/>
          </a:solidFill>
          <a:ln w="9525">
            <a:solidFill>
              <a:srgbClr val="BACADB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2209800" y="2190750"/>
            <a:ext cx="6381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(0,2)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876550" y="2076450"/>
            <a:ext cx="638175" cy="638175"/>
          </a:xfrm>
          <a:prstGeom prst="rect">
            <a:avLst/>
          </a:prstGeom>
          <a:solidFill>
            <a:srgbClr val="F5F7FA"/>
          </a:solidFill>
          <a:ln w="9525">
            <a:solidFill>
              <a:srgbClr val="BACADB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2876550" y="2190750"/>
            <a:ext cx="6381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(0,3)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76300" y="2743200"/>
            <a:ext cx="638175" cy="638175"/>
          </a:xfrm>
          <a:prstGeom prst="rect">
            <a:avLst/>
          </a:prstGeom>
          <a:solidFill>
            <a:srgbClr val="F5F7FA"/>
          </a:solidFill>
          <a:ln w="9525">
            <a:solidFill>
              <a:srgbClr val="BACADB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76300" y="2857500"/>
            <a:ext cx="6381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(1,0)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543050" y="2743200"/>
            <a:ext cx="638175" cy="638175"/>
          </a:xfrm>
          <a:prstGeom prst="rect">
            <a:avLst/>
          </a:prstGeom>
          <a:solidFill>
            <a:srgbClr val="F5F7FA"/>
          </a:solidFill>
          <a:ln w="9525">
            <a:solidFill>
              <a:srgbClr val="BACADB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543050" y="2857500"/>
            <a:ext cx="6381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(1,1)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209800" y="2743200"/>
            <a:ext cx="638175" cy="638175"/>
          </a:xfrm>
          <a:prstGeom prst="rect">
            <a:avLst/>
          </a:prstGeom>
          <a:solidFill>
            <a:srgbClr val="F5F7FA"/>
          </a:solidFill>
          <a:ln w="9525">
            <a:solidFill>
              <a:srgbClr val="BACADB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2209800" y="2857500"/>
            <a:ext cx="6381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(1,2)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876550" y="2743200"/>
            <a:ext cx="638175" cy="638175"/>
          </a:xfrm>
          <a:prstGeom prst="rect">
            <a:avLst/>
          </a:prstGeom>
          <a:solidFill>
            <a:srgbClr val="F5F7FA"/>
          </a:solidFill>
          <a:ln w="9525">
            <a:solidFill>
              <a:srgbClr val="BACADB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2876550" y="2857500"/>
            <a:ext cx="6381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(1,3)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76300" y="3409950"/>
            <a:ext cx="638175" cy="638175"/>
          </a:xfrm>
          <a:prstGeom prst="rect">
            <a:avLst/>
          </a:prstGeom>
          <a:solidFill>
            <a:srgbClr val="EAF2F8"/>
          </a:solidFill>
          <a:ln w="9525">
            <a:solidFill>
              <a:srgbClr val="BACADB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76300" y="3524250"/>
            <a:ext cx="6381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(2,0)</a:t>
            </a:r>
            <a:endParaRPr sz="12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543050" y="3409950"/>
            <a:ext cx="638175" cy="638175"/>
          </a:xfrm>
          <a:prstGeom prst="rect">
            <a:avLst/>
          </a:prstGeom>
          <a:solidFill>
            <a:srgbClr val="FFF4CB"/>
          </a:solidFill>
          <a:ln w="9525">
            <a:solidFill>
              <a:srgbClr val="BACADB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543050" y="3524250"/>
            <a:ext cx="6381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(2,1)</a:t>
            </a:r>
            <a:endParaRPr sz="12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209800" y="3409950"/>
            <a:ext cx="638175" cy="638175"/>
          </a:xfrm>
          <a:prstGeom prst="rect">
            <a:avLst/>
          </a:prstGeom>
          <a:solidFill>
            <a:srgbClr val="EAF2F8"/>
          </a:solidFill>
          <a:ln w="9525">
            <a:solidFill>
              <a:srgbClr val="BACADB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2209800" y="3524250"/>
            <a:ext cx="6381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(2,2)</a:t>
            </a:r>
            <a:endParaRPr sz="12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2876550" y="3409950"/>
            <a:ext cx="638175" cy="638175"/>
          </a:xfrm>
          <a:prstGeom prst="rect">
            <a:avLst/>
          </a:prstGeom>
          <a:solidFill>
            <a:srgbClr val="EAF2F8"/>
          </a:solidFill>
          <a:ln w="9525">
            <a:solidFill>
              <a:srgbClr val="BACADB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2876550" y="3524250"/>
            <a:ext cx="6381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(2,3)</a:t>
            </a:r>
            <a:endParaRPr sz="12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76300" y="4076700"/>
            <a:ext cx="638175" cy="638175"/>
          </a:xfrm>
          <a:prstGeom prst="rect">
            <a:avLst/>
          </a:prstGeom>
          <a:solidFill>
            <a:srgbClr val="F5F7FA"/>
          </a:solidFill>
          <a:ln w="9525">
            <a:solidFill>
              <a:srgbClr val="BACADB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76300" y="4191000"/>
            <a:ext cx="6381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(3,0)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543050" y="4076700"/>
            <a:ext cx="638175" cy="638175"/>
          </a:xfrm>
          <a:prstGeom prst="rect">
            <a:avLst/>
          </a:prstGeom>
          <a:solidFill>
            <a:srgbClr val="F5F7FA"/>
          </a:solidFill>
          <a:ln w="9525">
            <a:solidFill>
              <a:srgbClr val="BACADB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543050" y="4191000"/>
            <a:ext cx="6381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(3,1)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2209800" y="4076700"/>
            <a:ext cx="638175" cy="638175"/>
          </a:xfrm>
          <a:prstGeom prst="rect">
            <a:avLst/>
          </a:prstGeom>
          <a:solidFill>
            <a:srgbClr val="F5F7FA"/>
          </a:solidFill>
          <a:ln w="9525">
            <a:solidFill>
              <a:srgbClr val="BACADB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2209800" y="4191000"/>
            <a:ext cx="6381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(3,2)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2876550" y="4076700"/>
            <a:ext cx="638175" cy="638175"/>
          </a:xfrm>
          <a:prstGeom prst="rect">
            <a:avLst/>
          </a:prstGeom>
          <a:solidFill>
            <a:srgbClr val="F5F7FA"/>
          </a:solidFill>
          <a:ln w="9525">
            <a:solidFill>
              <a:srgbClr val="BACADB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2876550" y="4191000"/>
            <a:ext cx="6381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(3,3)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76300" y="4867275"/>
            <a:ext cx="2857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4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4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 × 8 芯片：4 行 × 4 列</a:t>
            </a:r>
            <a:endParaRPr sz="1425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76300" y="5276850"/>
            <a:ext cx="2905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每格 8 bit，共 128 bit</a:t>
            </a:r>
            <a:endParaRPr sz="1500" b="1">
              <a:solidFill>
                <a:srgbClr val="1F3A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4286250" y="2095500"/>
            <a:ext cx="704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RAS：选中第 2 行，整行复制到 row buffer。</a:t>
            </a:r>
            <a:endParaRPr sz="1725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4286250" y="3086100"/>
            <a:ext cx="704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CAS：选中第 1 列，输出 supercell (2, 1)。</a:t>
            </a:r>
            <a:endParaRPr sz="1725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4286250" y="4076700"/>
            <a:ext cx="6953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同一地址引脚分两次送出行、列地址；数据线输出的是 8 bit 数据。</a:t>
            </a:r>
            <a:endParaRPr sz="16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4286250" y="5200650"/>
            <a:ext cx="6905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650" b="0">
                <a:solidFill>
                  <a:srgbClr val="BB4B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0">
                <a:solidFill>
                  <a:srgbClr val="BB4B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0">
                <a:solidFill>
                  <a:srgbClr val="BB4B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0">
                <a:solidFill>
                  <a:srgbClr val="BB4B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0">
                <a:solidFill>
                  <a:srgbClr val="BB4B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0">
                <a:solidFill>
                  <a:srgbClr val="BB4B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0">
                <a:solidFill>
                  <a:srgbClr val="BB4B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0">
                <a:solidFill>
                  <a:srgbClr val="BB4B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0">
                <a:solidFill>
                  <a:srgbClr val="BB4B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0">
                <a:solidFill>
                  <a:srgbClr val="BB4B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650" b="0">
                <a:solidFill>
                  <a:srgbClr val="BB4B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BB4B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行地址与列地址用于定位；row buffer 暂存的是一整行数据。</a:t>
            </a:r>
            <a:endParaRPr sz="1650" b="0">
              <a:solidFill>
                <a:srgbClr val="BB4B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409575" y="381000"/>
            <a:ext cx="85725" cy="381000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285750"/>
            <a:ext cx="111537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DRAM 芯片如何组成内存模块</a:t>
            </a:r>
            <a:endParaRPr sz="2625" b="1">
              <a:solidFill>
                <a:srgbClr val="1F3A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7710" y="1772285"/>
            <a:ext cx="5570855" cy="3810000"/>
          </a:xfrm>
          <a:prstGeom prst="rect">
            <a:avLst/>
          </a:prstGeom>
        </p:spPr>
      </p:pic>
      <p:sp>
        <p:nvSpPr>
          <p:cNvPr id="38" name="文本框 37"/>
          <p:cNvSpPr txBox="1"/>
          <p:nvPr/>
        </p:nvSpPr>
        <p:spPr>
          <a:xfrm>
            <a:off x="335280" y="1484630"/>
            <a:ext cx="5080000" cy="2035175"/>
          </a:xfrm>
          <a:prstGeom prst="rect">
            <a:avLst/>
          </a:prstGeom>
        </p:spPr>
        <p:txBody>
          <a:bodyPr>
            <a:spAutoFit/>
          </a:bodyPr>
          <a:p>
            <a:r>
              <a:rPr sz="1575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每一个都连线是做不到的，buffer的好处是如果取到相近位置的数据那回相对比较快（在计算机里面往往会访问相邻的数据）</a:t>
            </a:r>
            <a:endParaRPr sz="1575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575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575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存一个64位数，是8颗芯片每一个存1位，出来直接是64位（做不到一个出64根线）</a:t>
            </a:r>
            <a:endParaRPr sz="1575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575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575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二维阵列：降低芯片上面地址引脚的数量</a:t>
            </a:r>
            <a:endParaRPr sz="1575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矩形 12"/>
          <p:cNvSpPr>
            <a:spLocks noGrp="1"/>
          </p:cNvSpPr>
          <p:nvPr/>
        </p:nvSpPr>
        <p:spPr>
          <a:xfrm>
            <a:off x="409575" y="381000"/>
            <a:ext cx="85725" cy="381000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285750"/>
            <a:ext cx="111537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易失性存储与非易失性</a:t>
            </a:r>
            <a:r>
              <a:rPr lang="zh-CN"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存储</a:t>
            </a:r>
            <a:endParaRPr lang="zh-CN" sz="2625" b="1">
              <a:solidFill>
                <a:srgbClr val="1F3A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7625" y="836295"/>
            <a:ext cx="11493500" cy="57543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易失性存储：</a:t>
            </a:r>
            <a:r>
              <a:rPr lang="en-US" altLang="zh-CN" sz="1600"/>
              <a:t>DRAM</a:t>
            </a:r>
            <a:r>
              <a:rPr lang="zh-CN" altLang="en-US" sz="1600"/>
              <a:t>与</a:t>
            </a:r>
            <a:r>
              <a:rPr lang="en-US" altLang="zh-CN" sz="1600"/>
              <a:t>SRAM</a:t>
            </a:r>
            <a:endParaRPr lang="en-US" altLang="zh-CN" sz="1600"/>
          </a:p>
          <a:p>
            <a:r>
              <a:rPr lang="en-US" altLang="zh-CN" sz="1600"/>
              <a:t> - S(static)RAM</a:t>
            </a:r>
            <a:r>
              <a:rPr lang="zh-CN" altLang="en-US" sz="1600"/>
              <a:t>：</a:t>
            </a:r>
            <a:endParaRPr lang="zh-CN" altLang="en-US" sz="1600"/>
          </a:p>
          <a:p>
            <a:r>
              <a:rPr lang="zh-CN" altLang="en-US" sz="1600"/>
              <a:t> </a:t>
            </a:r>
            <a:r>
              <a:rPr lang="en-US" altLang="zh-CN" sz="1600"/>
              <a:t>- D(dynamic)RAM</a:t>
            </a:r>
            <a:r>
              <a:rPr lang="zh-CN" altLang="en-US" sz="1600"/>
              <a:t>：</a:t>
            </a:r>
            <a:endParaRPr lang="zh-CN" altLang="en-US" sz="1600"/>
          </a:p>
          <a:p>
            <a:pPr lvl="1"/>
            <a:r>
              <a:rPr lang="zh-CN" altLang="en-US" sz="1600"/>
              <a:t> </a:t>
            </a:r>
            <a:r>
              <a:rPr lang="en-US" altLang="zh-CN" sz="1600"/>
              <a:t>- </a:t>
            </a:r>
            <a:r>
              <a:rPr lang="zh-CN" altLang="en-US" sz="1600"/>
              <a:t>主要受限于电容，电容提升的性能在近来很有限</a:t>
            </a:r>
            <a:endParaRPr lang="zh-CN" altLang="en-US" sz="1600"/>
          </a:p>
          <a:p>
            <a:pPr lvl="1"/>
            <a:r>
              <a:rPr lang="zh-CN" altLang="en-US" sz="1600"/>
              <a:t> </a:t>
            </a:r>
            <a:r>
              <a:rPr lang="en-US" altLang="zh-CN" sz="1600"/>
              <a:t>- </a:t>
            </a:r>
            <a:r>
              <a:rPr lang="zh-CN" altLang="en-US" sz="1600"/>
              <a:t>其他提升方法</a:t>
            </a:r>
            <a:endParaRPr lang="zh-CN" altLang="en-US" sz="1600"/>
          </a:p>
          <a:p>
            <a:pPr lvl="2"/>
            <a:r>
              <a:rPr lang="zh-CN" altLang="en-US" sz="1600"/>
              <a:t> </a:t>
            </a:r>
            <a:r>
              <a:rPr lang="en-US" altLang="zh-CN" sz="1600"/>
              <a:t>- FPM DRAM</a:t>
            </a:r>
            <a:r>
              <a:rPr lang="zh-CN" altLang="en-US" sz="1600"/>
              <a:t>：允许对于同一行连续的访问可以直接从行缓冲区得到服务</a:t>
            </a:r>
            <a:endParaRPr lang="zh-CN" altLang="en-US" sz="1600"/>
          </a:p>
          <a:p>
            <a:pPr lvl="2"/>
            <a:r>
              <a:rPr lang="zh-CN" altLang="en-US" sz="1600"/>
              <a:t> </a:t>
            </a:r>
            <a:r>
              <a:rPr lang="en-US" altLang="zh-CN" sz="1600"/>
              <a:t>- EDO DRAM</a:t>
            </a:r>
            <a:r>
              <a:rPr lang="zh-CN" altLang="en-US" sz="1600"/>
              <a:t>：允许各个</a:t>
            </a:r>
            <a:r>
              <a:rPr lang="en-US" altLang="zh-CN" sz="1600"/>
              <a:t>CAAS</a:t>
            </a:r>
            <a:r>
              <a:rPr lang="zh-CN" altLang="en-US" sz="1600"/>
              <a:t>信号在时间上靠的更紧密</a:t>
            </a:r>
            <a:endParaRPr lang="zh-CN" altLang="en-US" sz="1600"/>
          </a:p>
          <a:p>
            <a:pPr lvl="2"/>
            <a:r>
              <a:rPr lang="zh-CN" altLang="en-US" sz="1600"/>
              <a:t> </a:t>
            </a:r>
            <a:r>
              <a:rPr lang="en-US" altLang="zh-CN" sz="1600"/>
              <a:t>- synchronous DRAM(SDRAM)</a:t>
            </a:r>
            <a:r>
              <a:rPr lang="zh-CN" altLang="en-US" sz="1600">
                <a:ea typeface="宋体" panose="02010600030101010101" pitchFamily="2" charset="-122"/>
              </a:rPr>
              <a:t>：</a:t>
            </a:r>
            <a:r>
              <a:rPr lang="zh-CN" altLang="en-US" sz="1600"/>
              <a:t>保证都是时钟上升沿工作，时间同步让速度更快</a:t>
            </a:r>
            <a:endParaRPr lang="zh-CN" altLang="en-US" sz="1600"/>
          </a:p>
          <a:p>
            <a:pPr lvl="2"/>
            <a:r>
              <a:rPr lang="zh-CN" altLang="en-US" sz="1600"/>
              <a:t> </a:t>
            </a:r>
            <a:r>
              <a:rPr lang="en-US" altLang="zh-CN" sz="1600"/>
              <a:t>- double data-rate synchronous DRAM(DDR SDRAM)</a:t>
            </a:r>
            <a:endParaRPr lang="en-US" altLang="zh-CN" sz="1600"/>
          </a:p>
          <a:p>
            <a:pPr lvl="3"/>
            <a:r>
              <a:rPr lang="en-US" altLang="zh-CN" sz="1600"/>
              <a:t> - </a:t>
            </a:r>
            <a:r>
              <a:rPr lang="zh-CN" altLang="en-US" sz="1600"/>
              <a:t>上升沿和下降沿都能做</a:t>
            </a:r>
            <a:endParaRPr lang="zh-CN" altLang="en-US" sz="1600"/>
          </a:p>
          <a:p>
            <a:pPr lvl="3"/>
            <a:r>
              <a:rPr lang="zh-CN" altLang="en-US" sz="1600"/>
              <a:t> </a:t>
            </a:r>
            <a:r>
              <a:rPr lang="en-US" altLang="zh-CN" sz="1600"/>
              <a:t>- </a:t>
            </a:r>
            <a:r>
              <a:rPr lang="zh-CN" altLang="en-US" sz="1600"/>
              <a:t>最根本的是电容速度需要跟上</a:t>
            </a:r>
            <a:endParaRPr lang="zh-CN" altLang="en-US" sz="1600"/>
          </a:p>
          <a:p>
            <a:pPr lvl="3"/>
            <a:r>
              <a:rPr lang="zh-CN" altLang="en-US" sz="1600"/>
              <a:t> </a:t>
            </a:r>
            <a:r>
              <a:rPr lang="en-US" altLang="zh-CN" sz="1600"/>
              <a:t>- </a:t>
            </a:r>
            <a:r>
              <a:rPr lang="zh-CN" altLang="en-US" sz="1600"/>
              <a:t>从当前需要的数据旁边把另外一个数也拿回来，“速度变快”（</a:t>
            </a:r>
            <a:r>
              <a:rPr lang="en-US" altLang="zh-CN" sz="1600"/>
              <a:t>DDR</a:t>
            </a:r>
            <a:r>
              <a:rPr lang="zh-CN" altLang="en-US" sz="1600"/>
              <a:t>）</a:t>
            </a:r>
            <a:endParaRPr lang="zh-CN" altLang="en-US" sz="1600"/>
          </a:p>
          <a:p>
            <a:pPr lvl="2"/>
            <a:r>
              <a:rPr lang="en-US" altLang="zh-CN" sz="1600"/>
              <a:t> - DDR2 DDR3 DDR4</a:t>
            </a:r>
            <a:r>
              <a:rPr lang="zh-CN" altLang="en-US" sz="1600"/>
              <a:t>同理，分别变成</a:t>
            </a:r>
            <a:r>
              <a:rPr lang="en-US" altLang="zh-CN" sz="1600"/>
              <a:t>4bit 8bit 16bit</a:t>
            </a:r>
            <a:endParaRPr lang="en-US" altLang="zh-CN" sz="1600"/>
          </a:p>
          <a:p>
            <a:endParaRPr lang="en-US" altLang="zh-CN" sz="1600"/>
          </a:p>
          <a:p>
            <a:r>
              <a:rPr lang="zh-CN" altLang="en-US" sz="1600"/>
              <a:t> </a:t>
            </a:r>
            <a:r>
              <a:rPr lang="en-US" altLang="zh-CN" sz="1600"/>
              <a:t>- </a:t>
            </a:r>
            <a:r>
              <a:rPr lang="zh-CN" altLang="en-US" sz="1600"/>
              <a:t>非易失性存储</a:t>
            </a:r>
            <a:endParaRPr lang="zh-CN" altLang="en-US" sz="1600"/>
          </a:p>
          <a:p>
            <a:r>
              <a:rPr lang="zh-CN" altLang="en-US" sz="1600"/>
              <a:t> </a:t>
            </a:r>
            <a:r>
              <a:rPr lang="en-US" altLang="zh-CN" sz="1600"/>
              <a:t>- read only memory</a:t>
            </a:r>
            <a:r>
              <a:rPr lang="zh-CN" altLang="en-US" sz="1600"/>
              <a:t>（</a:t>
            </a:r>
            <a:r>
              <a:rPr lang="en-US" altLang="zh-CN" sz="1600"/>
              <a:t>ROM</a:t>
            </a:r>
            <a:r>
              <a:rPr lang="zh-CN" altLang="en-US" sz="1600"/>
              <a:t>）：二进制编码在工厂制造的时候就把线烧制好，信号设定好</a:t>
            </a:r>
            <a:endParaRPr lang="zh-CN" altLang="en-US" sz="1600"/>
          </a:p>
          <a:p>
            <a:r>
              <a:rPr lang="zh-CN" altLang="en-US" sz="1600"/>
              <a:t> </a:t>
            </a:r>
            <a:r>
              <a:rPr lang="en-US" altLang="zh-CN" sz="1600"/>
              <a:t>- programmable ROM</a:t>
            </a:r>
            <a:r>
              <a:rPr lang="zh-CN" altLang="en-US" sz="1600"/>
              <a:t>（</a:t>
            </a:r>
            <a:r>
              <a:rPr lang="en-US" altLang="zh-CN" sz="1600"/>
              <a:t>PROM</a:t>
            </a:r>
            <a:r>
              <a:rPr lang="zh-CN" altLang="en-US" sz="1600"/>
              <a:t>）：可以编程一次的</a:t>
            </a:r>
            <a:endParaRPr lang="zh-CN" altLang="en-US" sz="1600"/>
          </a:p>
          <a:p>
            <a:r>
              <a:rPr lang="zh-CN" altLang="en-US" sz="1600"/>
              <a:t> </a:t>
            </a:r>
            <a:r>
              <a:rPr lang="en-US" altLang="zh-CN" sz="1600"/>
              <a:t>- erasable PROM</a:t>
            </a:r>
            <a:r>
              <a:rPr lang="zh-CN" altLang="en-US" sz="1600"/>
              <a:t>（</a:t>
            </a:r>
            <a:r>
              <a:rPr lang="en-US" altLang="zh-CN" sz="1600"/>
              <a:t>EPROM</a:t>
            </a:r>
            <a:r>
              <a:rPr lang="zh-CN" altLang="en-US" sz="1600"/>
              <a:t>）：可擦除</a:t>
            </a:r>
            <a:endParaRPr lang="zh-CN" altLang="en-US" sz="1600"/>
          </a:p>
          <a:p>
            <a:r>
              <a:rPr lang="zh-CN" altLang="en-US" sz="1600"/>
              <a:t> </a:t>
            </a:r>
            <a:r>
              <a:rPr lang="en-US" altLang="zh-CN" sz="1600"/>
              <a:t>- electrically erasable PROM</a:t>
            </a:r>
            <a:r>
              <a:rPr lang="zh-CN" altLang="en-US" sz="1600"/>
              <a:t>（</a:t>
            </a:r>
            <a:r>
              <a:rPr lang="en-US" altLang="zh-CN" sz="1600"/>
              <a:t>EEPROM</a:t>
            </a:r>
            <a:r>
              <a:rPr lang="zh-CN" altLang="en-US" sz="1600"/>
              <a:t>）：电可擦除</a:t>
            </a:r>
            <a:endParaRPr lang="zh-CN" altLang="en-US" sz="1600"/>
          </a:p>
          <a:p>
            <a:r>
              <a:rPr lang="zh-CN" altLang="en-US" sz="1600"/>
              <a:t> </a:t>
            </a:r>
            <a:r>
              <a:rPr lang="en-US" altLang="zh-CN" sz="1600"/>
              <a:t>- </a:t>
            </a:r>
            <a:r>
              <a:rPr lang="zh-CN" altLang="en-US" sz="1600"/>
              <a:t>用途</a:t>
            </a:r>
            <a:endParaRPr lang="zh-CN" altLang="en-US" sz="1600"/>
          </a:p>
          <a:p>
            <a:pPr lvl="1"/>
            <a:r>
              <a:rPr lang="zh-CN" altLang="en-US" sz="1600"/>
              <a:t> </a:t>
            </a:r>
            <a:r>
              <a:rPr lang="en-US" altLang="zh-CN" sz="1600"/>
              <a:t>- </a:t>
            </a:r>
            <a:r>
              <a:rPr lang="zh-CN" altLang="en-US" sz="1600"/>
              <a:t>固件</a:t>
            </a:r>
            <a:r>
              <a:rPr lang="en-US" altLang="zh-CN" sz="1600"/>
              <a:t>programs stored in a ROM (BIOS</a:t>
            </a:r>
            <a:r>
              <a:rPr lang="zh-CN" altLang="en-US" sz="1600"/>
              <a:t>是电可擦除的</a:t>
            </a:r>
            <a:r>
              <a:rPr lang="en-US" altLang="zh-CN" sz="1600"/>
              <a:t>, controllers for disks, network cards, graphics accelerators, security subsystems,…)</a:t>
            </a:r>
            <a:endParaRPr lang="en-US" altLang="zh-CN" sz="1600"/>
          </a:p>
          <a:p>
            <a:pPr lvl="1"/>
            <a:r>
              <a:rPr lang="en-US" altLang="zh-CN" sz="1600"/>
              <a:t> - </a:t>
            </a:r>
            <a:r>
              <a:rPr lang="zh-CN" altLang="en-US" sz="1600"/>
              <a:t>缺点就是速度慢，写入非常慢，读入也比较慢，只能作为硬盘、部分小的程序使用</a:t>
            </a:r>
            <a:endParaRPr lang="zh-CN" altLang="en-US"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矩形 12"/>
          <p:cNvSpPr>
            <a:spLocks noGrp="1"/>
          </p:cNvSpPr>
          <p:nvPr/>
        </p:nvSpPr>
        <p:spPr>
          <a:xfrm>
            <a:off x="409575" y="381000"/>
            <a:ext cx="85725" cy="381000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285750"/>
            <a:ext cx="111537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磁盘几何：盘片、磁道、扇区与柱面</a:t>
            </a:r>
            <a:endParaRPr sz="2625" b="1">
              <a:solidFill>
                <a:srgbClr val="1F3A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90575" y="1562100"/>
            <a:ext cx="48101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Platter / surface</a:t>
            </a:r>
            <a:endParaRPr sz="1800" b="1">
              <a:solidFill>
                <a:srgbClr val="1F3A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90575" y="1952625"/>
            <a:ext cx="4810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盘片通常有两个可记录表面。</a:t>
            </a:r>
            <a:endParaRPr sz="16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90575" y="2619375"/>
            <a:ext cx="48101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Track</a:t>
            </a:r>
            <a:endParaRPr sz="1800" b="1">
              <a:solidFill>
                <a:srgbClr val="1F3A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90575" y="3009900"/>
            <a:ext cx="4810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一个表面上的同心圆磁道。</a:t>
            </a:r>
            <a:endParaRPr sz="16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90575" y="3676650"/>
            <a:ext cx="48101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Sector</a:t>
            </a:r>
            <a:endParaRPr sz="1800" b="1">
              <a:solidFill>
                <a:srgbClr val="1F3A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90575" y="4067175"/>
            <a:ext cx="4810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磁道进一步划分为扇区。</a:t>
            </a:r>
            <a:endParaRPr sz="16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90575" y="4733925"/>
            <a:ext cx="48101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Cylinder</a:t>
            </a:r>
            <a:endParaRPr sz="1800" b="1">
              <a:solidFill>
                <a:srgbClr val="1F3A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90575" y="5124450"/>
            <a:ext cx="4810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所有表面上，同半径磁道的集合。</a:t>
            </a:r>
            <a:endParaRPr sz="16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1675" y="1700782"/>
            <a:ext cx="5572125" cy="3694561"/>
          </a:xfrm>
          <a:prstGeom prst="rect">
            <a:avLst/>
          </a:prstGeom>
        </p:spPr>
      </p:pic>
      <p:sp>
        <p:nvSpPr>
          <p:cNvPr id="12" name="矩形 11"/>
          <p:cNvSpPr>
            <a:spLocks noGrp="1"/>
          </p:cNvSpPr>
          <p:nvPr/>
        </p:nvSpPr>
        <p:spPr>
          <a:xfrm>
            <a:off x="6124575" y="5629275"/>
            <a:ext cx="51435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磁头随磁臂一起移动到目标柱面</a:t>
            </a:r>
            <a:endParaRPr sz="1575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409575" y="381000"/>
            <a:ext cx="85725" cy="381000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285750"/>
            <a:ext cx="111537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磁盘容量计算</a:t>
            </a:r>
            <a:endParaRPr sz="2625" b="1">
              <a:solidFill>
                <a:srgbClr val="1F3A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1381125"/>
            <a:ext cx="1057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外圈磁道更长；现代磁盘按 recording zones 配置每道扇区数。</a:t>
            </a:r>
            <a:endParaRPr sz="1725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19150" y="1933575"/>
            <a:ext cx="10572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不同区域的每道扇区数不同，因此估算容量时使用平均值。</a:t>
            </a:r>
            <a:endParaRPr sz="1725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19150" y="2581275"/>
            <a:ext cx="10525125" cy="9525"/>
          </a:xfrm>
          <a:prstGeom prst="rect">
            <a:avLst/>
          </a:prstGeom>
          <a:solidFill>
            <a:srgbClr val="BACADB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19150" y="2828925"/>
            <a:ext cx="10572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7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容量 = B/扇区 × 平均扇区/磁道 × 磁道/表面</a:t>
            </a:r>
            <a:endParaRPr sz="1725" b="1">
              <a:solidFill>
                <a:srgbClr val="1F3A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7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× 表面/盘片 × 盘片/磁盘</a:t>
            </a:r>
            <a:endParaRPr sz="1725" b="1">
              <a:solidFill>
                <a:srgbClr val="1F3A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19150" y="5734050"/>
            <a:ext cx="1057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75" b="0">
                <a:solidFill>
                  <a:srgbClr val="BB4B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75" b="0">
                <a:solidFill>
                  <a:srgbClr val="BB4B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75" b="0">
                <a:solidFill>
                  <a:srgbClr val="BB4B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75" b="0">
                <a:solidFill>
                  <a:srgbClr val="BB4B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75" b="0">
                <a:solidFill>
                  <a:srgbClr val="BB4B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75" b="0">
                <a:solidFill>
                  <a:srgbClr val="BB4B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75" b="0">
                <a:solidFill>
                  <a:srgbClr val="BB4B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75" b="0">
                <a:solidFill>
                  <a:srgbClr val="BB4B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75" b="0">
                <a:solidFill>
                  <a:srgbClr val="BB4B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75" b="0">
                <a:solidFill>
                  <a:srgbClr val="BB4B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75" b="0">
                <a:solidFill>
                  <a:srgbClr val="BB4B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575" b="0">
              <a:solidFill>
                <a:srgbClr val="BB4B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7755" y="2381502"/>
            <a:ext cx="5572125" cy="3694561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862965" y="3930015"/>
            <a:ext cx="4944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（想象：如何统计一栋楼</a:t>
            </a:r>
            <a:r>
              <a:rPr lang="zh-CN" altLang="en-US"/>
              <a:t>有多少人？）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409575" y="381000"/>
            <a:ext cx="85725" cy="381000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285750"/>
            <a:ext cx="111537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磁盘访问时间：寻道、旋转等待、传输</a:t>
            </a:r>
            <a:endParaRPr sz="2625" b="1">
              <a:solidFill>
                <a:srgbClr val="1F3A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1247775"/>
            <a:ext cx="10572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17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7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7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7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7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7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7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7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7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7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17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</a:t>
            </a:r>
            <a:r>
              <a:rPr lang="en-US" sz="217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sz="217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access</a:t>
            </a:r>
            <a:r>
              <a:rPr lang="en-US" sz="217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sz="217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T</a:t>
            </a:r>
            <a:r>
              <a:rPr lang="en-US" sz="217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sz="217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seek</a:t>
            </a:r>
            <a:r>
              <a:rPr lang="en-US" sz="217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sz="217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T</a:t>
            </a:r>
            <a:r>
              <a:rPr lang="en-US" sz="217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sz="217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rotation</a:t>
            </a:r>
            <a:r>
              <a:rPr lang="en-US" sz="217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sz="217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T</a:t>
            </a:r>
            <a:r>
              <a:rPr lang="en-US" sz="217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sz="217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transfer</a:t>
            </a:r>
            <a:r>
              <a:rPr lang="en-US" sz="217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sz="2175" b="1">
              <a:solidFill>
                <a:srgbClr val="1F3A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19150" y="1844358"/>
            <a:ext cx="5080000" cy="2061210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600"/>
              <a:t>磁盘操作</a:t>
            </a:r>
            <a:endParaRPr lang="zh-CN" altLang="en-US" sz="1600"/>
          </a:p>
          <a:p>
            <a:pPr lvl="1"/>
            <a:r>
              <a:rPr lang="zh-CN" altLang="en-US" sz="1600"/>
              <a:t> </a:t>
            </a:r>
            <a:r>
              <a:rPr lang="en-US" altLang="zh-CN" sz="1600"/>
              <a:t>- </a:t>
            </a:r>
            <a:r>
              <a:rPr lang="zh-CN" altLang="en-US" sz="1600"/>
              <a:t>先寻道</a:t>
            </a:r>
            <a:endParaRPr lang="zh-CN" altLang="en-US" sz="1600"/>
          </a:p>
          <a:p>
            <a:pPr lvl="1"/>
            <a:r>
              <a:rPr lang="zh-CN" altLang="en-US" sz="1600"/>
              <a:t> </a:t>
            </a:r>
            <a:r>
              <a:rPr lang="en-US" altLang="zh-CN" sz="1600"/>
              <a:t>- </a:t>
            </a:r>
            <a:r>
              <a:rPr lang="zh-CN" altLang="en-US" sz="1600"/>
              <a:t>等区域转过来（区域逆时针转）</a:t>
            </a:r>
            <a:endParaRPr lang="zh-CN" altLang="en-US" sz="1600"/>
          </a:p>
          <a:p>
            <a:pPr lvl="1"/>
            <a:r>
              <a:rPr lang="zh-CN" altLang="en-US" sz="1600"/>
              <a:t> </a:t>
            </a:r>
            <a:r>
              <a:rPr lang="en-US" altLang="zh-CN" sz="1600"/>
              <a:t>- </a:t>
            </a:r>
            <a:r>
              <a:rPr lang="zh-CN" altLang="en-US" sz="1600"/>
              <a:t>读完一小段待读区域</a:t>
            </a:r>
            <a:endParaRPr lang="zh-CN" altLang="en-US" sz="1600"/>
          </a:p>
          <a:p>
            <a:pPr lvl="1"/>
            <a:endParaRPr lang="zh-CN" altLang="en-US" sz="1600"/>
          </a:p>
          <a:p>
            <a:pPr marL="0" lvl="0"/>
            <a:r>
              <a:rPr lang="zh-CN" altLang="en-US" sz="1600"/>
              <a:t>寻道与旋转等待占</a:t>
            </a:r>
            <a:r>
              <a:rPr lang="zh-CN" altLang="en-US" sz="1600"/>
              <a:t>主要的时间</a:t>
            </a:r>
            <a:endParaRPr lang="zh-CN" altLang="en-US" sz="1600"/>
          </a:p>
          <a:p>
            <a:pPr marL="0" lvl="0"/>
            <a:r>
              <a:rPr lang="zh-CN" altLang="en-US" sz="1600"/>
              <a:t>存储容量相关的，单位常常是10^ </a:t>
            </a:r>
            <a:r>
              <a:rPr lang="en-US" altLang="zh-CN" sz="1600"/>
              <a:t>n，I/O</a:t>
            </a:r>
            <a:r>
              <a:rPr lang="zh-CN" altLang="en-US" sz="1600"/>
              <a:t>相关的一般是2 ^ </a:t>
            </a:r>
            <a:r>
              <a:rPr lang="en-US" altLang="zh-CN" sz="1600"/>
              <a:t>n</a:t>
            </a:r>
            <a:r>
              <a:rPr lang="zh-CN" altLang="en-US" sz="1600"/>
              <a:t>为什么？</a:t>
            </a:r>
            <a:endParaRPr lang="zh-CN" altLang="en-US" sz="160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180" y="4076700"/>
            <a:ext cx="6608445" cy="272224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1765" y="4004945"/>
            <a:ext cx="6616700" cy="2768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矩形 12"/>
          <p:cNvSpPr>
            <a:spLocks noGrp="1"/>
          </p:cNvSpPr>
          <p:nvPr/>
        </p:nvSpPr>
        <p:spPr>
          <a:xfrm>
            <a:off x="409575" y="381000"/>
            <a:ext cx="85725" cy="381000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285750"/>
            <a:ext cx="111537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一次磁盘读取与 DMA</a:t>
            </a:r>
            <a:endParaRPr sz="2625" b="1">
              <a:solidFill>
                <a:srgbClr val="1F3A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47370" y="1715770"/>
            <a:ext cx="85725" cy="85725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14070" y="1591945"/>
            <a:ext cx="1000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CPU 提交请求</a:t>
            </a:r>
            <a:endParaRPr sz="1800" b="1">
              <a:solidFill>
                <a:srgbClr val="1F3A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14070" y="2001520"/>
            <a:ext cx="100012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向磁盘控制器写入读命令、逻辑块号 L、目的主存地址 B。</a:t>
            </a:r>
            <a:endParaRPr sz="16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47370" y="2973070"/>
            <a:ext cx="85725" cy="85725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814070" y="2849245"/>
            <a:ext cx="1000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控制器读取并搬运</a:t>
            </a:r>
            <a:endParaRPr sz="1800" b="1">
              <a:solidFill>
                <a:srgbClr val="1F3A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814070" y="3258820"/>
            <a:ext cx="100012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控制器读出扇区，使用 DMA 将数据写入主存缓冲区 B。</a:t>
            </a:r>
            <a:endParaRPr sz="16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547370" y="4230370"/>
            <a:ext cx="85725" cy="85725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814070" y="4106545"/>
            <a:ext cx="1000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完成后通知 CPU</a:t>
            </a:r>
            <a:endParaRPr sz="1800" b="1">
              <a:solidFill>
                <a:srgbClr val="1F3A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814070" y="4516120"/>
            <a:ext cx="100012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DMA 传输完成后，磁盘控制器通过中断通知 CPU。</a:t>
            </a:r>
            <a:endParaRPr sz="16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47750" y="5524500"/>
            <a:ext cx="101917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650" b="0">
                <a:solidFill>
                  <a:srgbClr val="BB4B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0">
                <a:solidFill>
                  <a:srgbClr val="BB4B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0">
                <a:solidFill>
                  <a:srgbClr val="BB4B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0">
                <a:solidFill>
                  <a:srgbClr val="BB4B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0">
                <a:solidFill>
                  <a:srgbClr val="BB4B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0">
                <a:solidFill>
                  <a:srgbClr val="BB4B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0">
                <a:solidFill>
                  <a:srgbClr val="BB4B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0">
                <a:solidFill>
                  <a:srgbClr val="BB4B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0">
                <a:solidFill>
                  <a:srgbClr val="BB4B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0">
                <a:solidFill>
                  <a:srgbClr val="BB4B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650" b="0">
                <a:solidFill>
                  <a:srgbClr val="BB4B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650" b="0">
              <a:solidFill>
                <a:srgbClr val="BB4B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4290" y="981075"/>
            <a:ext cx="5472430" cy="45434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409575" y="381000"/>
            <a:ext cx="85725" cy="381000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285750"/>
            <a:ext cx="111537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SSD：页读写与块擦除</a:t>
            </a:r>
            <a:endParaRPr sz="2625" b="1">
              <a:solidFill>
                <a:srgbClr val="1F3A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7710" y="116205"/>
            <a:ext cx="6182995" cy="395478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95300" y="1340485"/>
            <a:ext cx="5080000" cy="2245360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2000" b="1"/>
              <a:t>SSD </a:t>
            </a:r>
            <a:r>
              <a:rPr lang="zh-CN" altLang="en-US" sz="2000" b="1"/>
              <a:t>没有机械运动部件（</a:t>
            </a:r>
            <a:r>
              <a:rPr lang="en-US" altLang="zh-CN" sz="2000" b="1"/>
              <a:t>No moving parts</a:t>
            </a:r>
            <a:r>
              <a:rPr lang="zh-CN" altLang="en-US" sz="2000" b="1"/>
              <a:t>） </a:t>
            </a:r>
            <a:r>
              <a:rPr lang="en-US" altLang="zh-CN" sz="2000" b="1"/>
              <a:t>→ </a:t>
            </a:r>
            <a:r>
              <a:rPr lang="zh-CN" altLang="en-US" sz="2000" b="1"/>
              <a:t>因此速度更快（</a:t>
            </a:r>
            <a:r>
              <a:rPr lang="en-US" altLang="zh-CN" sz="2000" b="1"/>
              <a:t>faster</a:t>
            </a:r>
            <a:r>
              <a:rPr lang="zh-CN" altLang="en-US" sz="2000" b="1"/>
              <a:t>）、功耗更低（</a:t>
            </a:r>
            <a:r>
              <a:rPr lang="en-US" altLang="zh-CN" sz="2000" b="1"/>
              <a:t>less power</a:t>
            </a:r>
            <a:r>
              <a:rPr lang="zh-CN" altLang="en-US" sz="2000" b="1"/>
              <a:t>）、更加坚固耐用（</a:t>
            </a:r>
            <a:r>
              <a:rPr lang="en-US" altLang="zh-CN" sz="2000" b="1"/>
              <a:t>more rugged</a:t>
            </a:r>
            <a:r>
              <a:rPr lang="zh-CN" altLang="en-US" sz="2000" b="1"/>
              <a:t>）</a:t>
            </a:r>
            <a:endParaRPr lang="zh-CN" altLang="en-US" sz="2000" b="1"/>
          </a:p>
          <a:p>
            <a:endParaRPr lang="zh-CN" altLang="en-US" sz="2000" b="1"/>
          </a:p>
          <a:p>
            <a:r>
              <a:rPr lang="zh-CN" altLang="en-US" sz="2000" b="1"/>
              <a:t>容易磨损 一页所属的块整个被擦除之后才能写这一页</a:t>
            </a:r>
            <a:endParaRPr lang="zh-CN" altLang="en-US" sz="2000"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35280" y="548640"/>
            <a:ext cx="11409045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磁盘界的“摩尔定律”：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Kryder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定律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背景：1980 年代，希捷（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Seagate）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公司的前 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CTO Mark Kryder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观察到：机械硬盘的磁记录面密度（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Areal Density，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即每平方英寸能存多少比特）大约每 11 到 13 个月翻一倍。对比摩尔定律（18-24个月翻倍）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书上说是两年： 随着时间推移，受制于物理极限，这个翻倍速度放缓了。在 2000 年代到 2010 年代，它确实降到了大约每 1.5 到 2 年翻一番。因此，“容量两年翻倍”是教材为了教学方便提炼的宏观规律。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和经典摩尔定律的区别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经典摩尔定律：看的是晶体管数量。通过缩小芯片制程，在同样大小的硅片上塞进两倍的晶体管。所以它不仅容量变大，速度也更快（虽然近几年也降速了）。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磁盘定律：看的是磁记录密度。改进磁头材料和记录介质。它的容量虽然翻倍了，但机械结构的寻道时间（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Seek Time）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和转速（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RPM）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几乎没有变化。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矩形 12"/>
          <p:cNvSpPr>
            <a:spLocks noGrp="1"/>
          </p:cNvSpPr>
          <p:nvPr/>
        </p:nvSpPr>
        <p:spPr>
          <a:xfrm>
            <a:off x="409575" y="381000"/>
            <a:ext cx="85725" cy="381000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285750"/>
            <a:ext cx="111537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局部性与存储层次</a:t>
            </a:r>
            <a:endParaRPr sz="2625" b="1">
              <a:solidFill>
                <a:srgbClr val="1F3A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1400175"/>
            <a:ext cx="4857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87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局部性：程序的访问规律</a:t>
            </a:r>
            <a:endParaRPr sz="1875" b="1">
              <a:solidFill>
                <a:srgbClr val="1F3A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19150" y="2076450"/>
            <a:ext cx="4857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时间局部性：近期用过的对象，可能很快再次使用。</a:t>
            </a:r>
            <a:endParaRPr sz="1725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19150" y="3143250"/>
            <a:ext cx="4857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空间局部性：相邻地址的对象，常在相近时间被访问。</a:t>
            </a:r>
            <a:endParaRPr sz="1725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981700" y="1571625"/>
            <a:ext cx="9525" cy="2495550"/>
          </a:xfrm>
          <a:prstGeom prst="rect">
            <a:avLst/>
          </a:prstGeom>
          <a:solidFill>
            <a:srgbClr val="BACADB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419850" y="1400175"/>
            <a:ext cx="48863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87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Cache：保存下层数据的子集</a:t>
            </a:r>
            <a:endParaRPr sz="1875" b="1">
              <a:solidFill>
                <a:srgbClr val="1F3A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384290" y="1916430"/>
            <a:ext cx="48863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用较小、较快的存储，暂存较大、较慢存储中的部分数据。</a:t>
            </a:r>
            <a:endParaRPr sz="1725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419850" y="2602230"/>
            <a:ext cx="4886325" cy="16744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命中时直接使用；未命中时从下一层取入。</a:t>
            </a:r>
            <a:endParaRPr sz="1725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缓存</a:t>
            </a:r>
            <a:endParaRPr lang="zh-CN" altLang="en-US" sz="1725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缓存命中</a:t>
            </a:r>
            <a:endParaRPr lang="zh-CN" altLang="en-US" sz="1725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缓存不命中</a:t>
            </a:r>
            <a:endParaRPr lang="zh-CN" altLang="en-US" sz="1725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强制性不命中</a:t>
            </a:r>
            <a:endParaRPr lang="zh-CN" altLang="en-US" sz="1725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7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冲突不命中</a:t>
            </a:r>
            <a:endParaRPr lang="zh-CN" altLang="en-US" sz="1725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19150" y="4457700"/>
            <a:ext cx="10477500" cy="9525"/>
          </a:xfrm>
          <a:prstGeom prst="rect">
            <a:avLst/>
          </a:prstGeom>
          <a:solidFill>
            <a:srgbClr val="BACADB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2639695" y="4857750"/>
            <a:ext cx="1047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F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寄存器 → Cache（SRAM）→ 主存（DRAM）→ SSD / 磁盘</a:t>
            </a:r>
            <a:endParaRPr sz="1800" b="1">
              <a:solidFill>
                <a:srgbClr val="1F3A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135505" y="5589270"/>
            <a:ext cx="1047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越往下通常容量更大、访问更慢、每字节成本更低。</a:t>
            </a:r>
            <a:endParaRPr sz="16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" name="图片 13" descr="20210328234915_fba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525" y="4076700"/>
            <a:ext cx="3829685" cy="255143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425" y="188595"/>
            <a:ext cx="6921500" cy="31496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15" y="3429000"/>
            <a:ext cx="6980555" cy="32385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5820" y="2781300"/>
            <a:ext cx="7112000" cy="1930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19380" y="548640"/>
            <a:ext cx="11779885" cy="59080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400" b="1"/>
              <a:t>DeepSeek </a:t>
            </a:r>
            <a:r>
              <a:rPr lang="zh-CN" altLang="en-US" sz="1400" b="1"/>
              <a:t>缓存命中率之所以高，核心逻辑在于：它的缓存机制（前缀缓存，</a:t>
            </a:r>
            <a:r>
              <a:rPr lang="en-US" altLang="zh-CN" sz="1400" b="1"/>
              <a:t>Prefix Caching）</a:t>
            </a:r>
            <a:r>
              <a:rPr lang="zh-CN" altLang="en-US" sz="1400" b="1"/>
              <a:t>被设计得完美契合了当前大模型最典型的工作负载模式——“长上下文、短追加、多轮次”。这本质上是时间局部性（</a:t>
            </a:r>
            <a:r>
              <a:rPr lang="en-US" altLang="zh-CN" sz="1400" b="1"/>
              <a:t>Temporal Locality）</a:t>
            </a:r>
            <a:r>
              <a:rPr lang="zh-CN" altLang="en-US" sz="1400" b="1"/>
              <a:t>在 </a:t>
            </a:r>
            <a:r>
              <a:rPr lang="en-US" altLang="zh-CN" sz="1400" b="1"/>
              <a:t>LLM </a:t>
            </a:r>
            <a:r>
              <a:rPr lang="zh-CN" altLang="en-US" sz="1400" b="1"/>
              <a:t>推理场景下的一次极致应用。</a:t>
            </a:r>
            <a:endParaRPr lang="zh-CN" altLang="en-US" sz="1400" b="1"/>
          </a:p>
          <a:p>
            <a:endParaRPr lang="en-US" altLang="zh-CN" sz="1400" b="1"/>
          </a:p>
          <a:p>
            <a:r>
              <a:rPr lang="zh-CN" altLang="en-US" sz="1400" b="1"/>
              <a:t>工作负载特征：命中的“天然土壤”</a:t>
            </a:r>
            <a:endParaRPr lang="zh-CN" altLang="en-US" sz="1400" b="1"/>
          </a:p>
          <a:p>
            <a:r>
              <a:rPr lang="zh-CN" altLang="en-US" sz="1400" b="1"/>
              <a:t>在实际应用（尤其是编程 </a:t>
            </a:r>
            <a:r>
              <a:rPr lang="en-US" altLang="zh-CN" sz="1400" b="1"/>
              <a:t>Agent、</a:t>
            </a:r>
            <a:r>
              <a:rPr lang="zh-CN" altLang="en-US" sz="1400" b="1"/>
              <a:t>长文档分析）中，请求天然具有极高的重复性：</a:t>
            </a:r>
            <a:endParaRPr lang="zh-CN" altLang="en-US" sz="1400" b="1"/>
          </a:p>
          <a:p>
            <a:r>
              <a:rPr lang="zh-CN" altLang="en-US" sz="1400" b="1"/>
              <a:t>长上下文 &amp; 短追加：在多轮对话或 </a:t>
            </a:r>
            <a:r>
              <a:rPr lang="en-US" altLang="zh-CN" sz="1400" b="1"/>
              <a:t>Agent </a:t>
            </a:r>
            <a:r>
              <a:rPr lang="zh-CN" altLang="en-US" sz="1400" b="1"/>
              <a:t>任务中，上下文会累积得很长。一个典型编码任务的轨迹平均有 157 轮，上下文长度达 32.7</a:t>
            </a:r>
            <a:r>
              <a:rPr lang="en-US" altLang="zh-CN" sz="1400" b="1"/>
              <a:t>K tokens，</a:t>
            </a:r>
            <a:r>
              <a:rPr lang="zh-CN" altLang="en-US" sz="1400" b="1"/>
              <a:t>但每轮用户实际新增的内容平均只有 429 </a:t>
            </a:r>
            <a:r>
              <a:rPr lang="en-US" altLang="zh-CN" sz="1400" b="1"/>
              <a:t>tokens。</a:t>
            </a:r>
            <a:r>
              <a:rPr lang="zh-CN" altLang="en-US" sz="1400" b="1"/>
              <a:t>这意味着每一轮请求中，高达 98% 以上都是之前已经算过的历史内容。</a:t>
            </a:r>
            <a:endParaRPr lang="zh-CN" altLang="en-US" sz="1400" b="1"/>
          </a:p>
          <a:p>
            <a:r>
              <a:rPr lang="zh-CN" altLang="en-US" sz="1400" b="1"/>
              <a:t>前缀高度稳定：</a:t>
            </a:r>
            <a:r>
              <a:rPr lang="en-US" altLang="zh-CN" sz="1400" b="1"/>
              <a:t>System Prompt（</a:t>
            </a:r>
            <a:r>
              <a:rPr lang="zh-CN" altLang="en-US" sz="1400" b="1"/>
              <a:t>系统提示）、工具定义、以及之前的历史消息，在后续请求中通常被放在最前面，且内容保持不变。</a:t>
            </a:r>
            <a:r>
              <a:rPr lang="en-US" altLang="zh-CN" sz="1400" b="1"/>
              <a:t>DeepSeek </a:t>
            </a:r>
            <a:r>
              <a:rPr lang="zh-CN" altLang="en-US" sz="1400" b="1"/>
              <a:t>的机制就是从第一个 </a:t>
            </a:r>
            <a:r>
              <a:rPr lang="en-US" altLang="zh-CN" sz="1400" b="1"/>
              <a:t>token </a:t>
            </a:r>
            <a:r>
              <a:rPr lang="zh-CN" altLang="en-US" sz="1400" b="1"/>
              <a:t>开始逐字比对，只要前缀完全匹配，就直接复用。这种稳定不变的前缀，为高命中率提供了基础。</a:t>
            </a:r>
            <a:endParaRPr lang="zh-CN" altLang="en-US" sz="1400" b="1"/>
          </a:p>
          <a:p>
            <a:r>
              <a:rPr lang="zh-CN" altLang="en-US" sz="1400" b="1"/>
              <a:t>宏观数据佐证：</a:t>
            </a:r>
            <a:r>
              <a:rPr lang="en-US" altLang="zh-CN" sz="1400" b="1"/>
              <a:t>DeepSeek </a:t>
            </a:r>
            <a:r>
              <a:rPr lang="zh-CN" altLang="en-US" sz="1400" b="1"/>
              <a:t>线上数据显示，平均每个请求携带 77</a:t>
            </a:r>
            <a:r>
              <a:rPr lang="en-US" altLang="zh-CN" sz="1400" b="1"/>
              <a:t>K token </a:t>
            </a:r>
            <a:r>
              <a:rPr lang="zh-CN" altLang="en-US" sz="1400" b="1"/>
              <a:t>的输入，其中 96% 的内容都能命中缓存。在典型的 </a:t>
            </a:r>
            <a:r>
              <a:rPr lang="en-US" altLang="zh-CN" sz="1400" b="1"/>
              <a:t>Agent </a:t>
            </a:r>
            <a:r>
              <a:rPr lang="zh-CN" altLang="en-US" sz="1400" b="1"/>
              <a:t>场景下，命中率甚至可稳定在 95% 以上，官方原生优化在理想状况下能达到 95%-98%。</a:t>
            </a:r>
            <a:endParaRPr lang="zh-CN" altLang="en-US" sz="1400" b="1"/>
          </a:p>
          <a:p>
            <a:endParaRPr lang="en-US" altLang="zh-CN" sz="1400" b="1"/>
          </a:p>
          <a:p>
            <a:r>
              <a:rPr lang="zh-CN" altLang="en-US" sz="1400" b="1"/>
              <a:t>机制设计：主动“创造”命中的条件</a:t>
            </a:r>
            <a:endParaRPr lang="zh-CN" altLang="en-US" sz="1400" b="1"/>
          </a:p>
          <a:p>
            <a:r>
              <a:rPr lang="zh-CN" altLang="en-US" sz="1400" b="1"/>
              <a:t>除了依赖工作负载，</a:t>
            </a:r>
            <a:r>
              <a:rPr lang="en-US" altLang="zh-CN" sz="1400" b="1"/>
              <a:t>DeepSeek </a:t>
            </a:r>
            <a:r>
              <a:rPr lang="zh-CN" altLang="en-US" sz="1400" b="1"/>
              <a:t>的缓存系统本身也在主动优化命中策略，而不是被动等待：</a:t>
            </a:r>
            <a:endParaRPr lang="zh-CN" altLang="en-US" sz="1400" b="1"/>
          </a:p>
          <a:p>
            <a:r>
              <a:rPr lang="zh-CN" altLang="en-US" sz="1400" b="1"/>
              <a:t>自动化的前缀缓存：系统对所有用户默认开启，无需手动干预。每次请求都会触发缓存构建，并智能地识别和复用重复的前缀部分。</a:t>
            </a:r>
            <a:endParaRPr lang="zh-CN" altLang="en-US" sz="1400" b="1"/>
          </a:p>
          <a:p>
            <a:r>
              <a:rPr lang="zh-CN" altLang="en-US" sz="1400" b="1"/>
              <a:t>智能的“落盘”策略：为了不让缓存“白算”，系统会：</a:t>
            </a:r>
            <a:endParaRPr lang="zh-CN" altLang="en-US" sz="1400" b="1"/>
          </a:p>
          <a:p>
            <a:r>
              <a:rPr lang="zh-CN" altLang="en-US" sz="1400" b="1"/>
              <a:t>在请求边界（用户输入结束/模型输出结束）主动落盘缓存。</a:t>
            </a:r>
            <a:endParaRPr lang="zh-CN" altLang="en-US" sz="1400" b="1"/>
          </a:p>
          <a:p>
            <a:r>
              <a:rPr lang="zh-CN" altLang="en-US" sz="1400" b="1"/>
              <a:t>自动检测公共前缀，即使请求中途分叉，也能把公共部分（如一份长文档）存下来，供后续复用。</a:t>
            </a:r>
            <a:endParaRPr lang="zh-CN" altLang="en-US" sz="1400" b="1"/>
          </a:p>
          <a:p>
            <a:r>
              <a:rPr lang="zh-CN" altLang="en-US" sz="1400" b="1"/>
              <a:t>对长输入/输出按固定 </a:t>
            </a:r>
            <a:r>
              <a:rPr lang="en-US" altLang="zh-CN" sz="1400" b="1"/>
              <a:t>token </a:t>
            </a:r>
            <a:r>
              <a:rPr lang="zh-CN" altLang="en-US" sz="1400" b="1"/>
              <a:t>间隔进行切分落盘，避免长内容因为“没到头”而完全无法被缓存。</a:t>
            </a:r>
            <a:endParaRPr lang="zh-CN" altLang="en-US" sz="1400" b="1"/>
          </a:p>
          <a:p>
            <a:endParaRPr lang="en-US" altLang="zh-CN" sz="1400" b="1"/>
          </a:p>
          <a:p>
            <a:r>
              <a:rPr lang="zh-CN" altLang="en-US" sz="1400" b="1"/>
              <a:t>底层架构：</a:t>
            </a:r>
            <a:r>
              <a:rPr lang="en-US" altLang="zh-CN" sz="1400" b="1"/>
              <a:t>DualPath </a:t>
            </a:r>
            <a:r>
              <a:rPr lang="zh-CN" altLang="en-US" sz="1400" b="1"/>
              <a:t>为高命中率“保驾护航”</a:t>
            </a:r>
            <a:endParaRPr lang="zh-CN" altLang="en-US" sz="1400" b="1"/>
          </a:p>
          <a:p>
            <a:r>
              <a:rPr lang="zh-CN" altLang="en-US" sz="1400" b="1"/>
              <a:t>高命中率也带来了新问题：海量的缓存命中意味着系统需要频繁地从存储中加载巨大的 </a:t>
            </a:r>
            <a:r>
              <a:rPr lang="en-US" altLang="zh-CN" sz="1400" b="1"/>
              <a:t>KV-Cache，</a:t>
            </a:r>
            <a:r>
              <a:rPr lang="zh-CN" altLang="en-US" sz="1400" b="1"/>
              <a:t>这很容易造成 </a:t>
            </a:r>
            <a:r>
              <a:rPr lang="en-US" altLang="zh-CN" sz="1400" b="1"/>
              <a:t>I/O </a:t>
            </a:r>
            <a:r>
              <a:rPr lang="zh-CN" altLang="en-US" sz="1400" b="1"/>
              <a:t>瓶颈。</a:t>
            </a:r>
            <a:r>
              <a:rPr lang="en-US" altLang="zh-CN" sz="1400" b="1"/>
              <a:t>DeepSeek </a:t>
            </a:r>
            <a:r>
              <a:rPr lang="zh-CN" altLang="en-US" sz="1400" b="1"/>
              <a:t>的 </a:t>
            </a:r>
            <a:r>
              <a:rPr lang="en-US" altLang="zh-CN" sz="1400" b="1"/>
              <a:t>DualPath </a:t>
            </a:r>
            <a:r>
              <a:rPr lang="zh-CN" altLang="en-US" sz="1400" b="1"/>
              <a:t>架构正是为此设计的：</a:t>
            </a:r>
            <a:endParaRPr lang="zh-CN" altLang="en-US" sz="1400" b="1"/>
          </a:p>
          <a:p>
            <a:r>
              <a:rPr lang="zh-CN" altLang="en-US" sz="1400" b="1"/>
              <a:t>传统架构下，所有 </a:t>
            </a:r>
            <a:r>
              <a:rPr lang="en-US" altLang="zh-CN" sz="1400" b="1"/>
              <a:t>KV-Cache </a:t>
            </a:r>
            <a:r>
              <a:rPr lang="zh-CN" altLang="en-US" sz="1400" b="1"/>
              <a:t>都从预填充引擎（</a:t>
            </a:r>
            <a:r>
              <a:rPr lang="en-US" altLang="zh-CN" sz="1400" b="1"/>
              <a:t>Prefill，</a:t>
            </a:r>
            <a:r>
              <a:rPr lang="zh-CN" altLang="en-US" sz="1400" b="1"/>
              <a:t>负责“读题”）的存储网卡读取，这成为了单点瓶颈，而解码引擎（</a:t>
            </a:r>
            <a:r>
              <a:rPr lang="en-US" altLang="zh-CN" sz="1400" b="1"/>
              <a:t>Decode，</a:t>
            </a:r>
            <a:r>
              <a:rPr lang="zh-CN" altLang="en-US" sz="1400" b="1"/>
              <a:t>负责“答题”）的带宽却被闲置。</a:t>
            </a:r>
            <a:r>
              <a:rPr lang="en-US" altLang="zh-CN" sz="1400" b="1"/>
              <a:t>DualPath </a:t>
            </a:r>
            <a:r>
              <a:rPr lang="zh-CN" altLang="en-US" sz="1400" b="1"/>
              <a:t>的核心创新是引入“存储到解码”的第二条路径：让解码引擎闲置的带宽也参与加载 </a:t>
            </a:r>
            <a:r>
              <a:rPr lang="en-US" altLang="zh-CN" sz="1400" b="1"/>
              <a:t>KV-Cache，</a:t>
            </a:r>
            <a:r>
              <a:rPr lang="zh-CN" altLang="en-US" sz="1400" b="1"/>
              <a:t>然后通过高速 </a:t>
            </a:r>
            <a:r>
              <a:rPr lang="en-US" altLang="zh-CN" sz="1400" b="1"/>
              <a:t>RDMA </a:t>
            </a:r>
            <a:r>
              <a:rPr lang="zh-CN" altLang="en-US" sz="1400" b="1"/>
              <a:t>网络传给预填充引擎，从而将集群的存储带宽池化，打破单点瓶颈。正是这套架构，保障了在 95%+ 高命中率下，系统依然能高效运转，避免 </a:t>
            </a:r>
            <a:r>
              <a:rPr lang="en-US" altLang="zh-CN" sz="1400" b="1"/>
              <a:t>I/O </a:t>
            </a:r>
            <a:r>
              <a:rPr lang="zh-CN" altLang="en-US" sz="1400" b="1"/>
              <a:t>拖垮性能。</a:t>
            </a:r>
            <a:endParaRPr lang="zh-CN" altLang="en-US" sz="1400" b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715010" y="2348865"/>
            <a:ext cx="984567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感谢大家的聆听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qwq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以及一个彩蛋（不知道有没有人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get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到笑点）：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在2025年，购买 1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PB（Petabyte，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约1000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TB）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存储设备的价格跨度极大，从几万元到上百万元人民币不等。具体花多少钱，完全取决于你选择哪种存储介质，以及是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DIY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组装还是购买企业级成品阵列。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（见课本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10" y="4653280"/>
            <a:ext cx="8956040" cy="7842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252.75,&quot;left&quot;:67.5,&quot;top&quot;:154.5,&quot;width&quot;:831}"/>
</p:tagLst>
</file>

<file path=ppt/tags/tag2.xml><?xml version="1.0" encoding="utf-8"?>
<p:tagLst xmlns:p="http://schemas.openxmlformats.org/presentationml/2006/main">
  <p:tag name="KSO_WM_DIAGRAM_VIRTUALLY_FRAME" val="{&quot;height&quot;:252.75,&quot;left&quot;:67.5,&quot;top&quot;:154.5,&quot;width&quot;:831}"/>
</p:tagLst>
</file>

<file path=ppt/tags/tag3.xml><?xml version="1.0" encoding="utf-8"?>
<p:tagLst xmlns:p="http://schemas.openxmlformats.org/presentationml/2006/main">
  <p:tag name="KSO_WM_DIAGRAM_VIRTUALLY_FRAME" val="{&quot;height&quot;:252.75,&quot;left&quot;:67.5,&quot;top&quot;:154.5,&quot;width&quot;:831}"/>
</p:tagLst>
</file>

<file path=ppt/tags/tag4.xml><?xml version="1.0" encoding="utf-8"?>
<p:tagLst xmlns:p="http://schemas.openxmlformats.org/presentationml/2006/main">
  <p:tag name="KSO_WM_DIAGRAM_VIRTUALLY_FRAME" val="{&quot;height&quot;:252.75,&quot;left&quot;:67.5,&quot;top&quot;:154.5,&quot;width&quot;:831}"/>
</p:tagLst>
</file>

<file path=ppt/tags/tag5.xml><?xml version="1.0" encoding="utf-8"?>
<p:tagLst xmlns:p="http://schemas.openxmlformats.org/presentationml/2006/main">
  <p:tag name="KSO_WM_DIAGRAM_VIRTUALLY_FRAME" val="{&quot;height&quot;:252.75,&quot;left&quot;:67.5,&quot;top&quot;:154.5,&quot;width&quot;:831}"/>
</p:tagLst>
</file>

<file path=ppt/tags/tag6.xml><?xml version="1.0" encoding="utf-8"?>
<p:tagLst xmlns:p="http://schemas.openxmlformats.org/presentationml/2006/main">
  <p:tag name="KSO_WM_DIAGRAM_VIRTUALLY_FRAME" val="{&quot;height&quot;:252.75,&quot;left&quot;:67.5,&quot;top&quot;:154.5,&quot;width&quot;:831}"/>
</p:tagLst>
</file>

<file path=ppt/tags/tag7.xml><?xml version="1.0" encoding="utf-8"?>
<p:tagLst xmlns:p="http://schemas.openxmlformats.org/presentationml/2006/main">
  <p:tag name="KSO_WM_DIAGRAM_VIRTUALLY_FRAME" val="{&quot;height&quot;:252.75,&quot;left&quot;:67.5,&quot;top&quot;:154.5,&quot;width&quot;:831}"/>
</p:tagLst>
</file>

<file path=ppt/tags/tag8.xml><?xml version="1.0" encoding="utf-8"?>
<p:tagLst xmlns:p="http://schemas.openxmlformats.org/presentationml/2006/main">
  <p:tag name="KSO_WM_DIAGRAM_VIRTUALLY_FRAME" val="{&quot;height&quot;:252.75,&quot;left&quot;:67.5,&quot;top&quot;:154.5,&quot;width&quot;:831}"/>
</p:tagLst>
</file>

<file path=ppt/tags/tag9.xml><?xml version="1.0" encoding="utf-8"?>
<p:tagLst xmlns:p="http://schemas.openxmlformats.org/presentationml/2006/main">
  <p:tag name="KSO_WM_DIAGRAM_VIRTUALLY_FRAME" val="{&quot;height&quot;:252.75,&quot;left&quot;:67.5,&quot;top&quot;:154.5,&quot;width&quot;:831}"/>
</p:tagLst>
</file>

<file path=ppt/tags/tag10.xml><?xml version="1.0" encoding="utf-8"?>
<p:tagLst xmlns:p="http://schemas.openxmlformats.org/presentationml/2006/main">
  <p:tag name="KSO_WM_DIAGRAM_VIRTUALLY_FRAME" val="{&quot;height&quot;:252.75,&quot;left&quot;:67.5,&quot;top&quot;:154.5,&quot;width&quot;:831}"/>
</p:tagLst>
</file>

<file path=ppt/tags/tag11.xml><?xml version="1.0" encoding="utf-8"?>
<p:tagLst xmlns:p="http://schemas.openxmlformats.org/presentationml/2006/main">
  <p:tag name="KSO_WM_DIAGRAM_VIRTUALLY_FRAME" val="{&quot;height&quot;:252.75,&quot;left&quot;:67.5,&quot;top&quot;:154.5,&quot;width&quot;:831}"/>
</p:tagLst>
</file>

<file path=ppt/tags/tag12.xml><?xml version="1.0" encoding="utf-8"?>
<p:tagLst xmlns:p="http://schemas.openxmlformats.org/presentationml/2006/main">
  <p:tag name="KSO_WM_DIAGRAM_VIRTUALLY_FRAME" val="{&quot;height&quot;:252.75,&quot;left&quot;:67.5,&quot;top&quot;:154.5,&quot;width&quot;:831}"/>
</p:tagLst>
</file>

<file path=ppt/tags/tag13.xml><?xml version="1.0" encoding="utf-8"?>
<p:tagLst xmlns:p="http://schemas.openxmlformats.org/presentationml/2006/main">
  <p:tag name="KSO_WM_DIAGRAM_VIRTUALLY_FRAME" val="{&quot;height&quot;:252.75,&quot;left&quot;:67.5,&quot;top&quot;:154.5,&quot;width&quot;:831}"/>
</p:tagLst>
</file>

<file path=ppt/tags/tag14.xml><?xml version="1.0" encoding="utf-8"?>
<p:tagLst xmlns:p="http://schemas.openxmlformats.org/presentationml/2006/main">
  <p:tag name="KSO_WM_DIAGRAM_VIRTUALLY_FRAME" val="{&quot;height&quot;:252.75,&quot;left&quot;:67.5,&quot;top&quot;:154.5,&quot;width&quot;:831}"/>
</p:tagLst>
</file>

<file path=ppt/tags/tag15.xml><?xml version="1.0" encoding="utf-8"?>
<p:tagLst xmlns:p="http://schemas.openxmlformats.org/presentationml/2006/main">
  <p:tag name="KSO_WM_DIAGRAM_VIRTUALLY_FRAME" val="{&quot;height&quot;:252.75,&quot;left&quot;:67.5,&quot;top&quot;:154.5,&quot;width&quot;:831}"/>
</p:tagLst>
</file>

<file path=ppt/tags/tag16.xml><?xml version="1.0" encoding="utf-8"?>
<p:tagLst xmlns:p="http://schemas.openxmlformats.org/presentationml/2006/main">
  <p:tag name="KSO_WM_DIAGRAM_VIRTUALLY_FRAME" val="{&quot;height&quot;:252.75,&quot;left&quot;:67.5,&quot;top&quot;:154.5,&quot;width&quot;:831}"/>
</p:tagLst>
</file>

<file path=ppt/tags/tag17.xml><?xml version="1.0" encoding="utf-8"?>
<p:tagLst xmlns:p="http://schemas.openxmlformats.org/presentationml/2006/main">
  <p:tag name="KSO_WM_DIAGRAM_VIRTUALLY_FRAME" val="{&quot;height&quot;:252.75,&quot;left&quot;:67.5,&quot;top&quot;:154.5,&quot;width&quot;:831}"/>
</p:tagLst>
</file>

<file path=ppt/tags/tag18.xml><?xml version="1.0" encoding="utf-8"?>
<p:tagLst xmlns:p="http://schemas.openxmlformats.org/presentationml/2006/main">
  <p:tag name="KSO_WM_DIAGRAM_VIRTUALLY_FRAME" val="{&quot;height&quot;:270,&quot;left&quot;:43.1,&quot;top&quot;:125.35,&quot;width&quot;:808.5}"/>
</p:tagLst>
</file>

<file path=ppt/tags/tag19.xml><?xml version="1.0" encoding="utf-8"?>
<p:tagLst xmlns:p="http://schemas.openxmlformats.org/presentationml/2006/main">
  <p:tag name="KSO_WM_DIAGRAM_VIRTUALLY_FRAME" val="{&quot;height&quot;:270,&quot;left&quot;:43.1,&quot;top&quot;:125.35,&quot;width&quot;:808.5}"/>
</p:tagLst>
</file>

<file path=ppt/tags/tag20.xml><?xml version="1.0" encoding="utf-8"?>
<p:tagLst xmlns:p="http://schemas.openxmlformats.org/presentationml/2006/main">
  <p:tag name="KSO_WM_DIAGRAM_VIRTUALLY_FRAME" val="{&quot;height&quot;:270,&quot;left&quot;:43.1,&quot;top&quot;:125.35,&quot;width&quot;:808.5}"/>
</p:tagLst>
</file>

<file path=ppt/tags/tag21.xml><?xml version="1.0" encoding="utf-8"?>
<p:tagLst xmlns:p="http://schemas.openxmlformats.org/presentationml/2006/main">
  <p:tag name="KSO_WM_DIAGRAM_VIRTUALLY_FRAME" val="{&quot;height&quot;:270,&quot;left&quot;:43.1,&quot;top&quot;:125.35,&quot;width&quot;:808.5}"/>
</p:tagLst>
</file>

<file path=ppt/tags/tag22.xml><?xml version="1.0" encoding="utf-8"?>
<p:tagLst xmlns:p="http://schemas.openxmlformats.org/presentationml/2006/main">
  <p:tag name="KSO_WM_DIAGRAM_VIRTUALLY_FRAME" val="{&quot;height&quot;:270,&quot;left&quot;:43.1,&quot;top&quot;:125.35,&quot;width&quot;:808.5}"/>
</p:tagLst>
</file>

<file path=ppt/tags/tag23.xml><?xml version="1.0" encoding="utf-8"?>
<p:tagLst xmlns:p="http://schemas.openxmlformats.org/presentationml/2006/main">
  <p:tag name="KSO_WM_DIAGRAM_VIRTUALLY_FRAME" val="{&quot;height&quot;:270,&quot;left&quot;:43.1,&quot;top&quot;:125.35,&quot;width&quot;:808.5}"/>
</p:tagLst>
</file>

<file path=ppt/tags/tag24.xml><?xml version="1.0" encoding="utf-8"?>
<p:tagLst xmlns:p="http://schemas.openxmlformats.org/presentationml/2006/main">
  <p:tag name="KSO_WM_DIAGRAM_VIRTUALLY_FRAME" val="{&quot;height&quot;:270,&quot;left&quot;:43.1,&quot;top&quot;:125.35,&quot;width&quot;:808.5}"/>
</p:tagLst>
</file>

<file path=ppt/tags/tag25.xml><?xml version="1.0" encoding="utf-8"?>
<p:tagLst xmlns:p="http://schemas.openxmlformats.org/presentationml/2006/main">
  <p:tag name="KSO_WM_DIAGRAM_VIRTUALLY_FRAME" val="{&quot;height&quot;:270,&quot;left&quot;:43.1,&quot;top&quot;:125.35,&quot;width&quot;:808.5}"/>
</p:tagLst>
</file>

<file path=ppt/tags/tag26.xml><?xml version="1.0" encoding="utf-8"?>
<p:tagLst xmlns:p="http://schemas.openxmlformats.org/presentationml/2006/main">
  <p:tag name="KSO_WM_DIAGRAM_VIRTUALLY_FRAME" val="{&quot;height&quot;:270,&quot;left&quot;:43.1,&quot;top&quot;:125.35,&quot;width&quot;:808.5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4445</Words>
  <Application>WPS 演示</Application>
  <PresentationFormat>Converted Presentation</PresentationFormat>
  <Paragraphs>298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Aptos</vt:lpstr>
      <vt:lpstr>Segoe UI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Jason</cp:lastModifiedBy>
  <cp:revision>7</cp:revision>
  <dcterms:created xsi:type="dcterms:W3CDTF">2026-10-26T14:05:00Z</dcterms:created>
  <dcterms:modified xsi:type="dcterms:W3CDTF">2026-10-26T15:12:25Z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B037C08578A94FEBB38E8E0E2D0219B4_12</vt:lpwstr>
  </property>
  <property fmtid="{D5CDD505-2E9C-101B-9397-08002B2CF9AE}" pid="3" name="KSOProductBuildVer">
    <vt:lpwstr>2052-12.1.0.28505</vt:lpwstr>
  </property>
</Properties>
</file>