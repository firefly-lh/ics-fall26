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tile sx="100000" sy="100000" flip="none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82800"/>
            <a:ext cx="2886075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300" b="0" i="0" kern="0" spc="300" dirty="0">
                <a:solidFill>
                  <a:srgbClr val="FFFFFF">
                    <a:alpha val="75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北京大学 · 《计算机系统导论》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609600" y="2501900"/>
            <a:ext cx="5123160" cy="8318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4800" b="1" i="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第5、6讲 试卷讲评</a:t>
            </a:r>
            <a:endParaRPr lang="zh-CN" sz="4800" dirty="0"/>
          </a:p>
        </p:txBody>
      </p:sp>
      <p:sp>
        <p:nvSpPr>
          <p:cNvPr id="4" name="Shape 2"/>
          <p:cNvSpPr/>
          <p:nvPr/>
        </p:nvSpPr>
        <p:spPr>
          <a:xfrm>
            <a:off x="609600" y="36068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cubicBezTo>
                  <a:pt x="762000" y="0"/>
                  <a:pt x="762000" y="0"/>
                  <a:pt x="762000" y="0"/>
                </a:cubicBezTo>
                <a:lnTo>
                  <a:pt x="762000" y="38100"/>
                </a:lnTo>
                <a:cubicBezTo>
                  <a:pt x="762000" y="38100"/>
                  <a:pt x="762000" y="38100"/>
                  <a:pt x="762000" y="38100"/>
                </a:cubicBezTo>
                <a:lnTo>
                  <a:pt x="0" y="38100"/>
                </a:lnTo>
                <a:cubicBezTo>
                  <a:pt x="0" y="38100"/>
                  <a:pt x="0" y="38100"/>
                  <a:pt x="0" y="381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C8A24A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968750"/>
            <a:ext cx="2740223" cy="3492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2000" b="1" i="0" dirty="0">
                <a:solidFill>
                  <a:srgbClr val="FFFFFF">
                    <a:alpha val="92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杜元楚</a:t>
            </a:r>
            <a:r>
              <a:rPr lang="en-US" altLang="zh-CN" sz="2000" b="1" i="0" dirty="0">
                <a:solidFill>
                  <a:srgbClr val="FFFFFF">
                    <a:alpha val="92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2500012920</a:t>
            </a:r>
            <a:endParaRPr lang="en-US" altLang="zh-CN" sz="2000" b="1" i="0" dirty="0">
              <a:solidFill>
                <a:srgbClr val="FFFFFF">
                  <a:alpha val="92000"/>
                </a:srgbClr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9600" y="4514850"/>
            <a:ext cx="1543546" cy="273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zh-CN" sz="1600" dirty="0"/>
          </a:p>
        </p:txBody>
      </p:sp>
      <p:sp>
        <p:nvSpPr>
          <p:cNvPr id="8" name="Text 6"/>
          <p:cNvSpPr/>
          <p:nvPr/>
        </p:nvSpPr>
        <p:spPr>
          <a:xfrm>
            <a:off x="10058400" y="5937250"/>
            <a:ext cx="1524000" cy="2095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200" b="0" i="0" dirty="0">
                <a:solidFill>
                  <a:srgbClr val="FFFFFF">
                    <a:alpha val="55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解题思路与知识点解析</a:t>
            </a:r>
            <a:endParaRPr lang="zh-CN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95300"/>
            <a:ext cx="1625600" cy="5524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3200" b="1" i="0" dirty="0">
                <a:solidFill>
                  <a:srgbClr val="1C2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讲评概览</a:t>
            </a:r>
            <a:endParaRPr lang="zh-CN" sz="3200" dirty="0"/>
          </a:p>
        </p:txBody>
      </p:sp>
      <p:sp>
        <p:nvSpPr>
          <p:cNvPr id="3" name="Shape 1"/>
          <p:cNvSpPr/>
          <p:nvPr/>
        </p:nvSpPr>
        <p:spPr>
          <a:xfrm>
            <a:off x="609600" y="1174750"/>
            <a:ext cx="609600" cy="31750"/>
          </a:xfrm>
          <a:custGeom>
            <a:avLst/>
            <a:gdLst/>
            <a:ahLst/>
            <a:cxnLst/>
            <a:rect l="l" t="t" r="r" b="b"/>
            <a:pathLst>
              <a:path w="609600" h="31750">
                <a:moveTo>
                  <a:pt x="0" y="0"/>
                </a:moveTo>
                <a:lnTo>
                  <a:pt x="609600" y="0"/>
                </a:lnTo>
                <a:cubicBezTo>
                  <a:pt x="609600" y="0"/>
                  <a:pt x="609600" y="0"/>
                  <a:pt x="609600" y="0"/>
                </a:cubicBezTo>
                <a:lnTo>
                  <a:pt x="609600" y="31750"/>
                </a:lnTo>
                <a:cubicBezTo>
                  <a:pt x="609600" y="31750"/>
                  <a:pt x="609600" y="31750"/>
                  <a:pt x="609600" y="31750"/>
                </a:cubicBezTo>
                <a:lnTo>
                  <a:pt x="0" y="31750"/>
                </a:lnTo>
                <a:cubicBezTo>
                  <a:pt x="0" y="31750"/>
                  <a:pt x="0" y="31750"/>
                  <a:pt x="0" y="3175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C8A24A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09600" y="1460500"/>
            <a:ext cx="5359400" cy="4572000"/>
          </a:xfrm>
          <a:custGeom>
            <a:avLst/>
            <a:gdLst/>
            <a:ahLst/>
            <a:cxnLst/>
            <a:rect l="l" t="t" r="r" b="b"/>
            <a:pathLst>
              <a:path w="5359400" h="4572000">
                <a:moveTo>
                  <a:pt x="0" y="0"/>
                </a:moveTo>
                <a:lnTo>
                  <a:pt x="5359400" y="0"/>
                </a:lnTo>
                <a:cubicBezTo>
                  <a:pt x="5359400" y="0"/>
                  <a:pt x="5359400" y="0"/>
                  <a:pt x="5359400" y="0"/>
                </a:cubicBezTo>
                <a:lnTo>
                  <a:pt x="5359400" y="4572000"/>
                </a:lnTo>
                <a:cubicBezTo>
                  <a:pt x="5359400" y="4572000"/>
                  <a:pt x="5359400" y="4572000"/>
                  <a:pt x="5359400" y="4572000"/>
                </a:cubicBezTo>
                <a:lnTo>
                  <a:pt x="0" y="4572000"/>
                </a:lnTo>
                <a:cubicBezTo>
                  <a:pt x="0" y="4572000"/>
                  <a:pt x="0" y="4572000"/>
                  <a:pt x="0" y="45720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09600" y="1479550"/>
            <a:ext cx="5359400" cy="0"/>
          </a:xfrm>
          <a:prstGeom prst="line">
            <a:avLst/>
          </a:prstGeom>
          <a:noFill/>
          <a:ln w="38100">
            <a:solidFill>
              <a:srgbClr val="1E3A6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965825" y="1460500"/>
            <a:ext cx="0" cy="457200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09600" y="6029325"/>
            <a:ext cx="5359400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12775" y="1460500"/>
            <a:ext cx="0" cy="457200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69950" y="1778000"/>
            <a:ext cx="1735336" cy="3492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2000" b="1" i="0" dirty="0">
                <a:solidFill>
                  <a:srgbClr val="1E3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第5讲 汇编基础</a:t>
            </a:r>
            <a:endParaRPr lang="zh-CN" sz="2000" dirty="0"/>
          </a:p>
        </p:txBody>
      </p:sp>
      <p:sp>
        <p:nvSpPr>
          <p:cNvPr id="10" name="Text 8"/>
          <p:cNvSpPr/>
          <p:nvPr/>
        </p:nvSpPr>
        <p:spPr>
          <a:xfrm>
            <a:off x="4445397" y="1752600"/>
            <a:ext cx="1263253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2200" b="1" i="0" dirty="0">
                <a:solidFill>
                  <a:srgbClr val="C8A2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16分 · 4题</a:t>
            </a:r>
            <a:endParaRPr lang="zh-CN" sz="2200" dirty="0"/>
          </a:p>
        </p:txBody>
      </p:sp>
      <p:sp>
        <p:nvSpPr>
          <p:cNvPr id="11" name="Shape 9"/>
          <p:cNvSpPr/>
          <p:nvPr/>
        </p:nvSpPr>
        <p:spPr>
          <a:xfrm>
            <a:off x="869950" y="2886075"/>
            <a:ext cx="4838700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869950" y="2470150"/>
            <a:ext cx="406400" cy="279400"/>
          </a:xfrm>
          <a:custGeom>
            <a:avLst/>
            <a:gdLst/>
            <a:ahLst/>
            <a:cxnLst/>
            <a:rect l="l" t="t" r="r" b="b"/>
            <a:pathLst>
              <a:path w="406400" h="279400">
                <a:moveTo>
                  <a:pt x="0" y="0"/>
                </a:moveTo>
                <a:lnTo>
                  <a:pt x="406400" y="0"/>
                </a:lnTo>
                <a:cubicBezTo>
                  <a:pt x="406400" y="0"/>
                  <a:pt x="406400" y="0"/>
                  <a:pt x="406400" y="0"/>
                </a:cubicBezTo>
                <a:lnTo>
                  <a:pt x="406400" y="279400"/>
                </a:lnTo>
                <a:cubicBezTo>
                  <a:pt x="406400" y="279400"/>
                  <a:pt x="406400" y="279400"/>
                  <a:pt x="406400" y="279400"/>
                </a:cubicBezTo>
                <a:lnTo>
                  <a:pt x="0" y="279400"/>
                </a:lnTo>
                <a:cubicBezTo>
                  <a:pt x="0" y="279400"/>
                  <a:pt x="0" y="279400"/>
                  <a:pt x="0" y="2794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3B6BB5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46051" y="2489200"/>
            <a:ext cx="254099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1" i="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5.1</a:t>
            </a:r>
            <a:endParaRPr lang="zh-CN" sz="1400" dirty="0"/>
          </a:p>
        </p:txBody>
      </p:sp>
      <p:sp>
        <p:nvSpPr>
          <p:cNvPr id="14" name="Text 12"/>
          <p:cNvSpPr/>
          <p:nvPr/>
        </p:nvSpPr>
        <p:spPr>
          <a:xfrm>
            <a:off x="1403350" y="2482850"/>
            <a:ext cx="609699" cy="273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600" b="0" i="0" dirty="0">
                <a:solidFill>
                  <a:srgbClr val="1C2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条件码</a:t>
            </a:r>
            <a:endParaRPr lang="zh-CN" sz="1600" dirty="0"/>
          </a:p>
        </p:txBody>
      </p:sp>
      <p:sp>
        <p:nvSpPr>
          <p:cNvPr id="15" name="Text 13"/>
          <p:cNvSpPr/>
          <p:nvPr/>
        </p:nvSpPr>
        <p:spPr>
          <a:xfrm>
            <a:off x="5389166" y="2482850"/>
            <a:ext cx="319484" cy="273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600" b="1" i="0" dirty="0">
                <a:solidFill>
                  <a:srgbClr val="1E3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2分</a:t>
            </a:r>
            <a:endParaRPr lang="zh-CN" sz="1600" dirty="0"/>
          </a:p>
        </p:txBody>
      </p:sp>
      <p:sp>
        <p:nvSpPr>
          <p:cNvPr id="16" name="Shape 14"/>
          <p:cNvSpPr/>
          <p:nvPr/>
        </p:nvSpPr>
        <p:spPr>
          <a:xfrm>
            <a:off x="869950" y="3438525"/>
            <a:ext cx="4838700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869950" y="3022600"/>
            <a:ext cx="406400" cy="279400"/>
          </a:xfrm>
          <a:custGeom>
            <a:avLst/>
            <a:gdLst/>
            <a:ahLst/>
            <a:cxnLst/>
            <a:rect l="l" t="t" r="r" b="b"/>
            <a:pathLst>
              <a:path w="406400" h="279400">
                <a:moveTo>
                  <a:pt x="0" y="0"/>
                </a:moveTo>
                <a:lnTo>
                  <a:pt x="406400" y="0"/>
                </a:lnTo>
                <a:cubicBezTo>
                  <a:pt x="406400" y="0"/>
                  <a:pt x="406400" y="0"/>
                  <a:pt x="406400" y="0"/>
                </a:cubicBezTo>
                <a:lnTo>
                  <a:pt x="406400" y="279400"/>
                </a:lnTo>
                <a:cubicBezTo>
                  <a:pt x="406400" y="279400"/>
                  <a:pt x="406400" y="279400"/>
                  <a:pt x="406400" y="279400"/>
                </a:cubicBezTo>
                <a:lnTo>
                  <a:pt x="0" y="279400"/>
                </a:lnTo>
                <a:cubicBezTo>
                  <a:pt x="0" y="279400"/>
                  <a:pt x="0" y="279400"/>
                  <a:pt x="0" y="2794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3B6BB5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46051" y="3041650"/>
            <a:ext cx="254099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1" i="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5.2</a:t>
            </a:r>
            <a:endParaRPr lang="zh-CN" sz="1400" dirty="0"/>
          </a:p>
        </p:txBody>
      </p:sp>
      <p:sp>
        <p:nvSpPr>
          <p:cNvPr id="19" name="Text 17"/>
          <p:cNvSpPr/>
          <p:nvPr/>
        </p:nvSpPr>
        <p:spPr>
          <a:xfrm>
            <a:off x="1403350" y="3035300"/>
            <a:ext cx="812899" cy="273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600" b="0" i="0" dirty="0">
                <a:solidFill>
                  <a:srgbClr val="1C2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条件跳转</a:t>
            </a:r>
            <a:endParaRPr lang="zh-CN" sz="1600" dirty="0"/>
          </a:p>
        </p:txBody>
      </p:sp>
      <p:sp>
        <p:nvSpPr>
          <p:cNvPr id="20" name="Text 18"/>
          <p:cNvSpPr/>
          <p:nvPr/>
        </p:nvSpPr>
        <p:spPr>
          <a:xfrm>
            <a:off x="5389166" y="3035300"/>
            <a:ext cx="319484" cy="273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600" b="1" i="0" dirty="0">
                <a:solidFill>
                  <a:srgbClr val="1E3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4分</a:t>
            </a:r>
            <a:endParaRPr lang="zh-CN" sz="1600" dirty="0"/>
          </a:p>
        </p:txBody>
      </p:sp>
      <p:sp>
        <p:nvSpPr>
          <p:cNvPr id="21" name="Shape 19"/>
          <p:cNvSpPr/>
          <p:nvPr/>
        </p:nvSpPr>
        <p:spPr>
          <a:xfrm>
            <a:off x="869950" y="3990975"/>
            <a:ext cx="4838700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869950" y="3575050"/>
            <a:ext cx="406400" cy="279400"/>
          </a:xfrm>
          <a:custGeom>
            <a:avLst/>
            <a:gdLst/>
            <a:ahLst/>
            <a:cxnLst/>
            <a:rect l="l" t="t" r="r" b="b"/>
            <a:pathLst>
              <a:path w="406400" h="279400">
                <a:moveTo>
                  <a:pt x="0" y="0"/>
                </a:moveTo>
                <a:lnTo>
                  <a:pt x="406400" y="0"/>
                </a:lnTo>
                <a:cubicBezTo>
                  <a:pt x="406400" y="0"/>
                  <a:pt x="406400" y="0"/>
                  <a:pt x="406400" y="0"/>
                </a:cubicBezTo>
                <a:lnTo>
                  <a:pt x="406400" y="279400"/>
                </a:lnTo>
                <a:cubicBezTo>
                  <a:pt x="406400" y="279400"/>
                  <a:pt x="406400" y="279400"/>
                  <a:pt x="406400" y="279400"/>
                </a:cubicBezTo>
                <a:lnTo>
                  <a:pt x="0" y="279400"/>
                </a:lnTo>
                <a:cubicBezTo>
                  <a:pt x="0" y="279400"/>
                  <a:pt x="0" y="279400"/>
                  <a:pt x="0" y="2794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3B6BB5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46051" y="3594100"/>
            <a:ext cx="254099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1" i="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5.3</a:t>
            </a:r>
            <a:endParaRPr lang="zh-CN" sz="1400" dirty="0"/>
          </a:p>
        </p:txBody>
      </p:sp>
      <p:sp>
        <p:nvSpPr>
          <p:cNvPr id="24" name="Text 22"/>
          <p:cNvSpPr/>
          <p:nvPr/>
        </p:nvSpPr>
        <p:spPr>
          <a:xfrm>
            <a:off x="1403350" y="3587750"/>
            <a:ext cx="812899" cy="273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600" b="0" i="0" dirty="0">
                <a:solidFill>
                  <a:srgbClr val="1C2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循环结构</a:t>
            </a:r>
            <a:endParaRPr lang="zh-CN" sz="1600" dirty="0"/>
          </a:p>
        </p:txBody>
      </p:sp>
      <p:sp>
        <p:nvSpPr>
          <p:cNvPr id="25" name="Text 23"/>
          <p:cNvSpPr/>
          <p:nvPr/>
        </p:nvSpPr>
        <p:spPr>
          <a:xfrm>
            <a:off x="5389166" y="3587750"/>
            <a:ext cx="319484" cy="273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600" b="1" i="0" dirty="0">
                <a:solidFill>
                  <a:srgbClr val="1E3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4分</a:t>
            </a:r>
            <a:endParaRPr lang="zh-CN" sz="1600" dirty="0"/>
          </a:p>
        </p:txBody>
      </p:sp>
      <p:sp>
        <p:nvSpPr>
          <p:cNvPr id="26" name="Shape 24"/>
          <p:cNvSpPr/>
          <p:nvPr/>
        </p:nvSpPr>
        <p:spPr>
          <a:xfrm>
            <a:off x="869950" y="4127500"/>
            <a:ext cx="406400" cy="279400"/>
          </a:xfrm>
          <a:custGeom>
            <a:avLst/>
            <a:gdLst/>
            <a:ahLst/>
            <a:cxnLst/>
            <a:rect l="l" t="t" r="r" b="b"/>
            <a:pathLst>
              <a:path w="406400" h="279400">
                <a:moveTo>
                  <a:pt x="0" y="0"/>
                </a:moveTo>
                <a:lnTo>
                  <a:pt x="406400" y="0"/>
                </a:lnTo>
                <a:cubicBezTo>
                  <a:pt x="406400" y="0"/>
                  <a:pt x="406400" y="0"/>
                  <a:pt x="406400" y="0"/>
                </a:cubicBezTo>
                <a:lnTo>
                  <a:pt x="406400" y="279400"/>
                </a:lnTo>
                <a:cubicBezTo>
                  <a:pt x="406400" y="279400"/>
                  <a:pt x="406400" y="279400"/>
                  <a:pt x="406400" y="279400"/>
                </a:cubicBezTo>
                <a:lnTo>
                  <a:pt x="0" y="279400"/>
                </a:lnTo>
                <a:cubicBezTo>
                  <a:pt x="0" y="279400"/>
                  <a:pt x="0" y="279400"/>
                  <a:pt x="0" y="2794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3B6BB5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946051" y="4146550"/>
            <a:ext cx="254099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1" i="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5.4</a:t>
            </a:r>
            <a:endParaRPr lang="zh-CN" sz="1400" dirty="0"/>
          </a:p>
        </p:txBody>
      </p:sp>
      <p:sp>
        <p:nvSpPr>
          <p:cNvPr id="28" name="Text 26"/>
          <p:cNvSpPr/>
          <p:nvPr/>
        </p:nvSpPr>
        <p:spPr>
          <a:xfrm>
            <a:off x="1403350" y="4140200"/>
            <a:ext cx="609699" cy="273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600" b="0" i="0" dirty="0">
                <a:solidFill>
                  <a:srgbClr val="1C2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跳转表</a:t>
            </a:r>
            <a:endParaRPr lang="zh-CN" sz="1600" dirty="0"/>
          </a:p>
        </p:txBody>
      </p:sp>
      <p:sp>
        <p:nvSpPr>
          <p:cNvPr id="29" name="Text 27"/>
          <p:cNvSpPr/>
          <p:nvPr/>
        </p:nvSpPr>
        <p:spPr>
          <a:xfrm>
            <a:off x="5389166" y="4140200"/>
            <a:ext cx="319484" cy="273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600" b="1" i="0" dirty="0">
                <a:solidFill>
                  <a:srgbClr val="1E3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6分</a:t>
            </a:r>
            <a:endParaRPr lang="zh-CN" sz="1600" dirty="0"/>
          </a:p>
        </p:txBody>
      </p:sp>
      <p:sp>
        <p:nvSpPr>
          <p:cNvPr id="30" name="Shape 28"/>
          <p:cNvSpPr/>
          <p:nvPr/>
        </p:nvSpPr>
        <p:spPr>
          <a:xfrm>
            <a:off x="6223000" y="1460500"/>
            <a:ext cx="5359400" cy="4572000"/>
          </a:xfrm>
          <a:custGeom>
            <a:avLst/>
            <a:gdLst/>
            <a:ahLst/>
            <a:cxnLst/>
            <a:rect l="l" t="t" r="r" b="b"/>
            <a:pathLst>
              <a:path w="5359400" h="4572000">
                <a:moveTo>
                  <a:pt x="0" y="0"/>
                </a:moveTo>
                <a:lnTo>
                  <a:pt x="5359400" y="0"/>
                </a:lnTo>
                <a:cubicBezTo>
                  <a:pt x="5359400" y="0"/>
                  <a:pt x="5359400" y="0"/>
                  <a:pt x="5359400" y="0"/>
                </a:cubicBezTo>
                <a:lnTo>
                  <a:pt x="5359400" y="4572000"/>
                </a:lnTo>
                <a:cubicBezTo>
                  <a:pt x="5359400" y="4572000"/>
                  <a:pt x="5359400" y="4572000"/>
                  <a:pt x="5359400" y="4572000"/>
                </a:cubicBezTo>
                <a:lnTo>
                  <a:pt x="0" y="4572000"/>
                </a:lnTo>
                <a:cubicBezTo>
                  <a:pt x="0" y="4572000"/>
                  <a:pt x="0" y="4572000"/>
                  <a:pt x="0" y="45720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6223000" y="1479550"/>
            <a:ext cx="5359400" cy="0"/>
          </a:xfrm>
          <a:prstGeom prst="line">
            <a:avLst/>
          </a:prstGeom>
          <a:noFill/>
          <a:ln w="38100">
            <a:solidFill>
              <a:srgbClr val="C8A24A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11579225" y="1460500"/>
            <a:ext cx="0" cy="457200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6223000" y="6029325"/>
            <a:ext cx="5359400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6226175" y="1460500"/>
            <a:ext cx="0" cy="457200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483350" y="1778000"/>
            <a:ext cx="2243336" cy="3492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2000" b="1" i="0" dirty="0">
                <a:solidFill>
                  <a:srgbClr val="1E3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第6讲 栈与过程调用</a:t>
            </a:r>
            <a:endParaRPr lang="zh-CN" sz="2000" dirty="0"/>
          </a:p>
        </p:txBody>
      </p:sp>
      <p:sp>
        <p:nvSpPr>
          <p:cNvPr id="36" name="Text 34"/>
          <p:cNvSpPr/>
          <p:nvPr/>
        </p:nvSpPr>
        <p:spPr>
          <a:xfrm>
            <a:off x="10058797" y="1752600"/>
            <a:ext cx="1263253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2200" b="1" i="0" dirty="0">
                <a:solidFill>
                  <a:srgbClr val="C8A2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16分 · 3题</a:t>
            </a:r>
            <a:endParaRPr lang="zh-CN" sz="2200" dirty="0"/>
          </a:p>
        </p:txBody>
      </p:sp>
      <p:sp>
        <p:nvSpPr>
          <p:cNvPr id="37" name="Shape 35"/>
          <p:cNvSpPr/>
          <p:nvPr/>
        </p:nvSpPr>
        <p:spPr>
          <a:xfrm>
            <a:off x="6483350" y="2886075"/>
            <a:ext cx="4838700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6483350" y="2470150"/>
            <a:ext cx="406400" cy="279400"/>
          </a:xfrm>
          <a:custGeom>
            <a:avLst/>
            <a:gdLst/>
            <a:ahLst/>
            <a:cxnLst/>
            <a:rect l="l" t="t" r="r" b="b"/>
            <a:pathLst>
              <a:path w="406400" h="279400">
                <a:moveTo>
                  <a:pt x="0" y="0"/>
                </a:moveTo>
                <a:lnTo>
                  <a:pt x="406400" y="0"/>
                </a:lnTo>
                <a:cubicBezTo>
                  <a:pt x="406400" y="0"/>
                  <a:pt x="406400" y="0"/>
                  <a:pt x="406400" y="0"/>
                </a:cubicBezTo>
                <a:lnTo>
                  <a:pt x="406400" y="279400"/>
                </a:lnTo>
                <a:cubicBezTo>
                  <a:pt x="406400" y="279400"/>
                  <a:pt x="406400" y="279400"/>
                  <a:pt x="406400" y="279400"/>
                </a:cubicBezTo>
                <a:lnTo>
                  <a:pt x="0" y="279400"/>
                </a:lnTo>
                <a:cubicBezTo>
                  <a:pt x="0" y="279400"/>
                  <a:pt x="0" y="279400"/>
                  <a:pt x="0" y="2794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C8A24A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559451" y="2489200"/>
            <a:ext cx="254099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1" i="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6.1</a:t>
            </a:r>
            <a:endParaRPr lang="zh-CN" sz="1400" dirty="0"/>
          </a:p>
        </p:txBody>
      </p:sp>
      <p:sp>
        <p:nvSpPr>
          <p:cNvPr id="40" name="Text 38"/>
          <p:cNvSpPr/>
          <p:nvPr/>
        </p:nvSpPr>
        <p:spPr>
          <a:xfrm>
            <a:off x="7016750" y="2482850"/>
            <a:ext cx="609699" cy="273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600" b="0" i="0" dirty="0">
                <a:solidFill>
                  <a:srgbClr val="1C2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栈操作</a:t>
            </a:r>
            <a:endParaRPr lang="zh-CN" sz="1600" dirty="0"/>
          </a:p>
        </p:txBody>
      </p:sp>
      <p:sp>
        <p:nvSpPr>
          <p:cNvPr id="41" name="Text 39"/>
          <p:cNvSpPr/>
          <p:nvPr/>
        </p:nvSpPr>
        <p:spPr>
          <a:xfrm>
            <a:off x="11002566" y="2482850"/>
            <a:ext cx="319484" cy="273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600" b="1" i="0" dirty="0">
                <a:solidFill>
                  <a:srgbClr val="1E3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4分</a:t>
            </a:r>
            <a:endParaRPr lang="zh-CN" sz="1600" dirty="0"/>
          </a:p>
        </p:txBody>
      </p:sp>
      <p:sp>
        <p:nvSpPr>
          <p:cNvPr id="42" name="Shape 40"/>
          <p:cNvSpPr/>
          <p:nvPr/>
        </p:nvSpPr>
        <p:spPr>
          <a:xfrm>
            <a:off x="6483350" y="3438525"/>
            <a:ext cx="4838700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6483350" y="3022600"/>
            <a:ext cx="406400" cy="279400"/>
          </a:xfrm>
          <a:custGeom>
            <a:avLst/>
            <a:gdLst/>
            <a:ahLst/>
            <a:cxnLst/>
            <a:rect l="l" t="t" r="r" b="b"/>
            <a:pathLst>
              <a:path w="406400" h="279400">
                <a:moveTo>
                  <a:pt x="0" y="0"/>
                </a:moveTo>
                <a:lnTo>
                  <a:pt x="406400" y="0"/>
                </a:lnTo>
                <a:cubicBezTo>
                  <a:pt x="406400" y="0"/>
                  <a:pt x="406400" y="0"/>
                  <a:pt x="406400" y="0"/>
                </a:cubicBezTo>
                <a:lnTo>
                  <a:pt x="406400" y="279400"/>
                </a:lnTo>
                <a:cubicBezTo>
                  <a:pt x="406400" y="279400"/>
                  <a:pt x="406400" y="279400"/>
                  <a:pt x="406400" y="279400"/>
                </a:cubicBezTo>
                <a:lnTo>
                  <a:pt x="0" y="279400"/>
                </a:lnTo>
                <a:cubicBezTo>
                  <a:pt x="0" y="279400"/>
                  <a:pt x="0" y="279400"/>
                  <a:pt x="0" y="2794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C8A24A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559451" y="3041650"/>
            <a:ext cx="254099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1" i="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6.2</a:t>
            </a:r>
            <a:endParaRPr lang="zh-CN" sz="1400" dirty="0"/>
          </a:p>
        </p:txBody>
      </p:sp>
      <p:sp>
        <p:nvSpPr>
          <p:cNvPr id="45" name="Text 43"/>
          <p:cNvSpPr/>
          <p:nvPr/>
        </p:nvSpPr>
        <p:spPr>
          <a:xfrm>
            <a:off x="7016750" y="3035300"/>
            <a:ext cx="812899" cy="273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600" b="0" i="0" dirty="0">
                <a:solidFill>
                  <a:srgbClr val="1C2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过程调用</a:t>
            </a:r>
            <a:endParaRPr lang="zh-CN" sz="1600" dirty="0"/>
          </a:p>
        </p:txBody>
      </p:sp>
      <p:sp>
        <p:nvSpPr>
          <p:cNvPr id="46" name="Text 44"/>
          <p:cNvSpPr/>
          <p:nvPr/>
        </p:nvSpPr>
        <p:spPr>
          <a:xfrm>
            <a:off x="11002566" y="3035300"/>
            <a:ext cx="319484" cy="273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600" b="1" i="0" dirty="0">
                <a:solidFill>
                  <a:srgbClr val="1E3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4分</a:t>
            </a:r>
            <a:endParaRPr lang="zh-CN" sz="1600" dirty="0"/>
          </a:p>
        </p:txBody>
      </p:sp>
      <p:sp>
        <p:nvSpPr>
          <p:cNvPr id="47" name="Shape 45"/>
          <p:cNvSpPr/>
          <p:nvPr/>
        </p:nvSpPr>
        <p:spPr>
          <a:xfrm>
            <a:off x="6483350" y="3990975"/>
            <a:ext cx="4838700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6483350" y="3575050"/>
            <a:ext cx="406400" cy="279400"/>
          </a:xfrm>
          <a:custGeom>
            <a:avLst/>
            <a:gdLst/>
            <a:ahLst/>
            <a:cxnLst/>
            <a:rect l="l" t="t" r="r" b="b"/>
            <a:pathLst>
              <a:path w="406400" h="279400">
                <a:moveTo>
                  <a:pt x="0" y="0"/>
                </a:moveTo>
                <a:lnTo>
                  <a:pt x="406400" y="0"/>
                </a:lnTo>
                <a:cubicBezTo>
                  <a:pt x="406400" y="0"/>
                  <a:pt x="406400" y="0"/>
                  <a:pt x="406400" y="0"/>
                </a:cubicBezTo>
                <a:lnTo>
                  <a:pt x="406400" y="279400"/>
                </a:lnTo>
                <a:cubicBezTo>
                  <a:pt x="406400" y="279400"/>
                  <a:pt x="406400" y="279400"/>
                  <a:pt x="406400" y="279400"/>
                </a:cubicBezTo>
                <a:lnTo>
                  <a:pt x="0" y="279400"/>
                </a:lnTo>
                <a:cubicBezTo>
                  <a:pt x="0" y="279400"/>
                  <a:pt x="0" y="279400"/>
                  <a:pt x="0" y="2794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C8A24A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559451" y="3594100"/>
            <a:ext cx="254099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1" i="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6.3</a:t>
            </a:r>
            <a:endParaRPr lang="zh-CN" sz="1400" dirty="0"/>
          </a:p>
        </p:txBody>
      </p:sp>
      <p:sp>
        <p:nvSpPr>
          <p:cNvPr id="50" name="Text 48"/>
          <p:cNvSpPr/>
          <p:nvPr/>
        </p:nvSpPr>
        <p:spPr>
          <a:xfrm>
            <a:off x="7016750" y="3587750"/>
            <a:ext cx="1422499" cy="273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600" b="0" i="0" dirty="0">
                <a:solidFill>
                  <a:srgbClr val="1C2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过程调用和栈帧</a:t>
            </a:r>
            <a:endParaRPr lang="zh-CN" sz="1600" dirty="0"/>
          </a:p>
        </p:txBody>
      </p:sp>
      <p:sp>
        <p:nvSpPr>
          <p:cNvPr id="51" name="Text 49"/>
          <p:cNvSpPr/>
          <p:nvPr/>
        </p:nvSpPr>
        <p:spPr>
          <a:xfrm>
            <a:off x="11002566" y="3587750"/>
            <a:ext cx="319484" cy="273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600" b="1" i="0" dirty="0">
                <a:solidFill>
                  <a:srgbClr val="1E3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8分</a:t>
            </a:r>
            <a:endParaRPr lang="zh-CN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55588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300" b="1" i="0" kern="0" spc="200" dirty="0">
                <a:solidFill>
                  <a:srgbClr val="3B6BB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LECTURE 5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609600" y="831850"/>
            <a:ext cx="3383955" cy="6731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3900" b="1" i="0" dirty="0">
                <a:solidFill>
                  <a:srgbClr val="1E3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第5讲 汇编基础</a:t>
            </a:r>
            <a:endParaRPr lang="zh-CN" sz="3900" dirty="0"/>
          </a:p>
        </p:txBody>
      </p:sp>
      <p:sp>
        <p:nvSpPr>
          <p:cNvPr id="4" name="Shape 2"/>
          <p:cNvSpPr/>
          <p:nvPr/>
        </p:nvSpPr>
        <p:spPr>
          <a:xfrm>
            <a:off x="609600" y="1682750"/>
            <a:ext cx="609600" cy="31750"/>
          </a:xfrm>
          <a:custGeom>
            <a:avLst/>
            <a:gdLst/>
            <a:ahLst/>
            <a:cxnLst/>
            <a:rect l="l" t="t" r="r" b="b"/>
            <a:pathLst>
              <a:path w="609600" h="31750">
                <a:moveTo>
                  <a:pt x="0" y="0"/>
                </a:moveTo>
                <a:lnTo>
                  <a:pt x="609600" y="0"/>
                </a:lnTo>
                <a:cubicBezTo>
                  <a:pt x="609600" y="0"/>
                  <a:pt x="609600" y="0"/>
                  <a:pt x="609600" y="0"/>
                </a:cubicBezTo>
                <a:lnTo>
                  <a:pt x="609600" y="31750"/>
                </a:lnTo>
                <a:cubicBezTo>
                  <a:pt x="609600" y="31750"/>
                  <a:pt x="609600" y="31750"/>
                  <a:pt x="609600" y="31750"/>
                </a:cubicBezTo>
                <a:lnTo>
                  <a:pt x="0" y="31750"/>
                </a:lnTo>
                <a:cubicBezTo>
                  <a:pt x="0" y="31750"/>
                  <a:pt x="0" y="31750"/>
                  <a:pt x="0" y="3175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C8A24A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09600" y="1993900"/>
            <a:ext cx="2590800" cy="3556000"/>
          </a:xfrm>
          <a:custGeom>
            <a:avLst/>
            <a:gdLst/>
            <a:ahLst/>
            <a:cxnLst/>
            <a:rect l="l" t="t" r="r" b="b"/>
            <a:pathLst>
              <a:path w="2590800" h="3556000">
                <a:moveTo>
                  <a:pt x="0" y="0"/>
                </a:moveTo>
                <a:lnTo>
                  <a:pt x="2590800" y="0"/>
                </a:lnTo>
                <a:cubicBezTo>
                  <a:pt x="2590800" y="0"/>
                  <a:pt x="2590800" y="0"/>
                  <a:pt x="2590800" y="0"/>
                </a:cubicBezTo>
                <a:lnTo>
                  <a:pt x="2590800" y="3556000"/>
                </a:lnTo>
                <a:cubicBezTo>
                  <a:pt x="2590800" y="3556000"/>
                  <a:pt x="2590800" y="3556000"/>
                  <a:pt x="2590800" y="3556000"/>
                </a:cubicBezTo>
                <a:lnTo>
                  <a:pt x="0" y="3556000"/>
                </a:lnTo>
                <a:cubicBezTo>
                  <a:pt x="0" y="3556000"/>
                  <a:pt x="0" y="3556000"/>
                  <a:pt x="0" y="35560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09600" y="2012950"/>
            <a:ext cx="2590800" cy="0"/>
          </a:xfrm>
          <a:prstGeom prst="line">
            <a:avLst/>
          </a:prstGeom>
          <a:noFill/>
          <a:ln w="38100">
            <a:solidFill>
              <a:srgbClr val="3B6BB5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197225" y="1993900"/>
            <a:ext cx="0" cy="355600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09600" y="5546725"/>
            <a:ext cx="2590800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12775" y="1993900"/>
            <a:ext cx="0" cy="355600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844550" y="2286000"/>
            <a:ext cx="558800" cy="330200"/>
          </a:xfrm>
          <a:custGeom>
            <a:avLst/>
            <a:gdLst/>
            <a:ahLst/>
            <a:cxnLst/>
            <a:rect l="l" t="t" r="r" b="b"/>
            <a:pathLst>
              <a:path w="558800" h="330200">
                <a:moveTo>
                  <a:pt x="0" y="0"/>
                </a:moveTo>
                <a:lnTo>
                  <a:pt x="558800" y="0"/>
                </a:lnTo>
                <a:cubicBezTo>
                  <a:pt x="558800" y="0"/>
                  <a:pt x="558800" y="0"/>
                  <a:pt x="558800" y="0"/>
                </a:cubicBezTo>
                <a:lnTo>
                  <a:pt x="558800" y="330200"/>
                </a:lnTo>
                <a:cubicBezTo>
                  <a:pt x="558800" y="330200"/>
                  <a:pt x="558800" y="330200"/>
                  <a:pt x="558800" y="330200"/>
                </a:cubicBezTo>
                <a:lnTo>
                  <a:pt x="0" y="330200"/>
                </a:lnTo>
                <a:cubicBezTo>
                  <a:pt x="0" y="330200"/>
                  <a:pt x="0" y="330200"/>
                  <a:pt x="0" y="3302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3B6BB5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05979" y="2336800"/>
            <a:ext cx="235942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300" b="1" i="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5.1</a:t>
            </a:r>
            <a:endParaRPr lang="zh-CN" sz="1300" dirty="0"/>
          </a:p>
        </p:txBody>
      </p:sp>
      <p:sp>
        <p:nvSpPr>
          <p:cNvPr id="12" name="Text 10"/>
          <p:cNvSpPr/>
          <p:nvPr/>
        </p:nvSpPr>
        <p:spPr>
          <a:xfrm>
            <a:off x="844550" y="2813050"/>
            <a:ext cx="762000" cy="3492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2000" b="1" i="0" dirty="0">
                <a:solidFill>
                  <a:srgbClr val="1C2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条件码</a:t>
            </a:r>
            <a:endParaRPr lang="zh-CN" sz="2000" dirty="0"/>
          </a:p>
        </p:txBody>
      </p:sp>
      <p:sp>
        <p:nvSpPr>
          <p:cNvPr id="13" name="Text 11"/>
          <p:cNvSpPr/>
          <p:nvPr/>
        </p:nvSpPr>
        <p:spPr>
          <a:xfrm>
            <a:off x="844550" y="4908550"/>
            <a:ext cx="439241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2200" b="1" i="0" dirty="0">
                <a:solidFill>
                  <a:srgbClr val="C8A2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2分</a:t>
            </a:r>
            <a:endParaRPr lang="zh-CN" sz="2200" dirty="0"/>
          </a:p>
        </p:txBody>
      </p:sp>
      <p:sp>
        <p:nvSpPr>
          <p:cNvPr id="14" name="Shape 12"/>
          <p:cNvSpPr/>
          <p:nvPr/>
        </p:nvSpPr>
        <p:spPr>
          <a:xfrm>
            <a:off x="3403600" y="1993900"/>
            <a:ext cx="2590800" cy="3556000"/>
          </a:xfrm>
          <a:custGeom>
            <a:avLst/>
            <a:gdLst/>
            <a:ahLst/>
            <a:cxnLst/>
            <a:rect l="l" t="t" r="r" b="b"/>
            <a:pathLst>
              <a:path w="2590800" h="3556000">
                <a:moveTo>
                  <a:pt x="0" y="0"/>
                </a:moveTo>
                <a:lnTo>
                  <a:pt x="2590800" y="0"/>
                </a:lnTo>
                <a:cubicBezTo>
                  <a:pt x="2590800" y="0"/>
                  <a:pt x="2590800" y="0"/>
                  <a:pt x="2590800" y="0"/>
                </a:cubicBezTo>
                <a:lnTo>
                  <a:pt x="2590800" y="3556000"/>
                </a:lnTo>
                <a:cubicBezTo>
                  <a:pt x="2590800" y="3556000"/>
                  <a:pt x="2590800" y="3556000"/>
                  <a:pt x="2590800" y="3556000"/>
                </a:cubicBezTo>
                <a:lnTo>
                  <a:pt x="0" y="3556000"/>
                </a:lnTo>
                <a:cubicBezTo>
                  <a:pt x="0" y="3556000"/>
                  <a:pt x="0" y="3556000"/>
                  <a:pt x="0" y="35560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403600" y="2012950"/>
            <a:ext cx="2590800" cy="0"/>
          </a:xfrm>
          <a:prstGeom prst="line">
            <a:avLst/>
          </a:prstGeom>
          <a:noFill/>
          <a:ln w="38100">
            <a:solidFill>
              <a:srgbClr val="3B6BB5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991225" y="1993900"/>
            <a:ext cx="0" cy="355600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403600" y="5546725"/>
            <a:ext cx="2590800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406775" y="1993900"/>
            <a:ext cx="0" cy="355600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638550" y="2286000"/>
            <a:ext cx="558800" cy="330200"/>
          </a:xfrm>
          <a:custGeom>
            <a:avLst/>
            <a:gdLst/>
            <a:ahLst/>
            <a:cxnLst/>
            <a:rect l="l" t="t" r="r" b="b"/>
            <a:pathLst>
              <a:path w="558800" h="330200">
                <a:moveTo>
                  <a:pt x="0" y="0"/>
                </a:moveTo>
                <a:lnTo>
                  <a:pt x="558800" y="0"/>
                </a:lnTo>
                <a:cubicBezTo>
                  <a:pt x="558800" y="0"/>
                  <a:pt x="558800" y="0"/>
                  <a:pt x="558800" y="0"/>
                </a:cubicBezTo>
                <a:lnTo>
                  <a:pt x="558800" y="330200"/>
                </a:lnTo>
                <a:cubicBezTo>
                  <a:pt x="558800" y="330200"/>
                  <a:pt x="558800" y="330200"/>
                  <a:pt x="558800" y="330200"/>
                </a:cubicBezTo>
                <a:lnTo>
                  <a:pt x="0" y="330200"/>
                </a:lnTo>
                <a:cubicBezTo>
                  <a:pt x="0" y="330200"/>
                  <a:pt x="0" y="330200"/>
                  <a:pt x="0" y="3302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3B6BB5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799979" y="2336800"/>
            <a:ext cx="235942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300" b="1" i="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5.2</a:t>
            </a:r>
            <a:endParaRPr lang="zh-CN" sz="1300" dirty="0"/>
          </a:p>
        </p:txBody>
      </p:sp>
      <p:sp>
        <p:nvSpPr>
          <p:cNvPr id="21" name="Text 19"/>
          <p:cNvSpPr/>
          <p:nvPr/>
        </p:nvSpPr>
        <p:spPr>
          <a:xfrm>
            <a:off x="3638550" y="2813050"/>
            <a:ext cx="1016000" cy="3492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2000" b="1" i="0" dirty="0">
                <a:solidFill>
                  <a:srgbClr val="1C2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条件跳转</a:t>
            </a:r>
            <a:endParaRPr lang="zh-CN" sz="2000" dirty="0"/>
          </a:p>
        </p:txBody>
      </p:sp>
      <p:sp>
        <p:nvSpPr>
          <p:cNvPr id="22" name="Text 20"/>
          <p:cNvSpPr/>
          <p:nvPr/>
        </p:nvSpPr>
        <p:spPr>
          <a:xfrm>
            <a:off x="3638550" y="4908550"/>
            <a:ext cx="439241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2200" b="1" i="0" dirty="0">
                <a:solidFill>
                  <a:srgbClr val="C8A2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4分</a:t>
            </a:r>
            <a:endParaRPr lang="zh-CN" sz="2200" dirty="0"/>
          </a:p>
        </p:txBody>
      </p:sp>
      <p:sp>
        <p:nvSpPr>
          <p:cNvPr id="23" name="Shape 21"/>
          <p:cNvSpPr/>
          <p:nvPr/>
        </p:nvSpPr>
        <p:spPr>
          <a:xfrm>
            <a:off x="6197600" y="1993900"/>
            <a:ext cx="2590800" cy="3556000"/>
          </a:xfrm>
          <a:custGeom>
            <a:avLst/>
            <a:gdLst/>
            <a:ahLst/>
            <a:cxnLst/>
            <a:rect l="l" t="t" r="r" b="b"/>
            <a:pathLst>
              <a:path w="2590800" h="3556000">
                <a:moveTo>
                  <a:pt x="0" y="0"/>
                </a:moveTo>
                <a:lnTo>
                  <a:pt x="2590800" y="0"/>
                </a:lnTo>
                <a:cubicBezTo>
                  <a:pt x="2590800" y="0"/>
                  <a:pt x="2590800" y="0"/>
                  <a:pt x="2590800" y="0"/>
                </a:cubicBezTo>
                <a:lnTo>
                  <a:pt x="2590800" y="3556000"/>
                </a:lnTo>
                <a:cubicBezTo>
                  <a:pt x="2590800" y="3556000"/>
                  <a:pt x="2590800" y="3556000"/>
                  <a:pt x="2590800" y="3556000"/>
                </a:cubicBezTo>
                <a:lnTo>
                  <a:pt x="0" y="3556000"/>
                </a:lnTo>
                <a:cubicBezTo>
                  <a:pt x="0" y="3556000"/>
                  <a:pt x="0" y="3556000"/>
                  <a:pt x="0" y="35560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197600" y="2012950"/>
            <a:ext cx="2590800" cy="0"/>
          </a:xfrm>
          <a:prstGeom prst="line">
            <a:avLst/>
          </a:prstGeom>
          <a:noFill/>
          <a:ln w="38100">
            <a:solidFill>
              <a:srgbClr val="3B6BB5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8785225" y="1993900"/>
            <a:ext cx="0" cy="355600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197600" y="5546725"/>
            <a:ext cx="2590800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200775" y="1993900"/>
            <a:ext cx="0" cy="355600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6432550" y="2286000"/>
            <a:ext cx="558800" cy="330200"/>
          </a:xfrm>
          <a:custGeom>
            <a:avLst/>
            <a:gdLst/>
            <a:ahLst/>
            <a:cxnLst/>
            <a:rect l="l" t="t" r="r" b="b"/>
            <a:pathLst>
              <a:path w="558800" h="330200">
                <a:moveTo>
                  <a:pt x="0" y="0"/>
                </a:moveTo>
                <a:lnTo>
                  <a:pt x="558800" y="0"/>
                </a:lnTo>
                <a:cubicBezTo>
                  <a:pt x="558800" y="0"/>
                  <a:pt x="558800" y="0"/>
                  <a:pt x="558800" y="0"/>
                </a:cubicBezTo>
                <a:lnTo>
                  <a:pt x="558800" y="330200"/>
                </a:lnTo>
                <a:cubicBezTo>
                  <a:pt x="558800" y="330200"/>
                  <a:pt x="558800" y="330200"/>
                  <a:pt x="558800" y="330200"/>
                </a:cubicBezTo>
                <a:lnTo>
                  <a:pt x="0" y="330200"/>
                </a:lnTo>
                <a:cubicBezTo>
                  <a:pt x="0" y="330200"/>
                  <a:pt x="0" y="330200"/>
                  <a:pt x="0" y="3302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3B6BB5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593979" y="2336800"/>
            <a:ext cx="235942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300" b="1" i="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5.3</a:t>
            </a:r>
            <a:endParaRPr lang="zh-CN" sz="1300" dirty="0"/>
          </a:p>
        </p:txBody>
      </p:sp>
      <p:sp>
        <p:nvSpPr>
          <p:cNvPr id="30" name="Text 28"/>
          <p:cNvSpPr/>
          <p:nvPr/>
        </p:nvSpPr>
        <p:spPr>
          <a:xfrm>
            <a:off x="6432550" y="2813050"/>
            <a:ext cx="1016000" cy="3492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2000" b="1" i="0" dirty="0">
                <a:solidFill>
                  <a:srgbClr val="1C2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循环结构</a:t>
            </a:r>
            <a:endParaRPr lang="zh-CN" sz="2000" dirty="0"/>
          </a:p>
        </p:txBody>
      </p:sp>
      <p:sp>
        <p:nvSpPr>
          <p:cNvPr id="31" name="Text 29"/>
          <p:cNvSpPr/>
          <p:nvPr/>
        </p:nvSpPr>
        <p:spPr>
          <a:xfrm>
            <a:off x="6432550" y="4908550"/>
            <a:ext cx="439241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2200" b="1" i="0" dirty="0">
                <a:solidFill>
                  <a:srgbClr val="C8A2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4分</a:t>
            </a:r>
            <a:endParaRPr lang="zh-CN" sz="2200" dirty="0"/>
          </a:p>
        </p:txBody>
      </p:sp>
      <p:sp>
        <p:nvSpPr>
          <p:cNvPr id="32" name="Shape 30"/>
          <p:cNvSpPr/>
          <p:nvPr/>
        </p:nvSpPr>
        <p:spPr>
          <a:xfrm>
            <a:off x="8991600" y="1993900"/>
            <a:ext cx="2590800" cy="3556000"/>
          </a:xfrm>
          <a:custGeom>
            <a:avLst/>
            <a:gdLst/>
            <a:ahLst/>
            <a:cxnLst/>
            <a:rect l="l" t="t" r="r" b="b"/>
            <a:pathLst>
              <a:path w="2590800" h="3556000">
                <a:moveTo>
                  <a:pt x="0" y="0"/>
                </a:moveTo>
                <a:lnTo>
                  <a:pt x="2590800" y="0"/>
                </a:lnTo>
                <a:cubicBezTo>
                  <a:pt x="2590800" y="0"/>
                  <a:pt x="2590800" y="0"/>
                  <a:pt x="2590800" y="0"/>
                </a:cubicBezTo>
                <a:lnTo>
                  <a:pt x="2590800" y="3556000"/>
                </a:lnTo>
                <a:cubicBezTo>
                  <a:pt x="2590800" y="3556000"/>
                  <a:pt x="2590800" y="3556000"/>
                  <a:pt x="2590800" y="3556000"/>
                </a:cubicBezTo>
                <a:lnTo>
                  <a:pt x="0" y="3556000"/>
                </a:lnTo>
                <a:cubicBezTo>
                  <a:pt x="0" y="3556000"/>
                  <a:pt x="0" y="3556000"/>
                  <a:pt x="0" y="35560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8991600" y="2012950"/>
            <a:ext cx="2590800" cy="0"/>
          </a:xfrm>
          <a:prstGeom prst="line">
            <a:avLst/>
          </a:prstGeom>
          <a:noFill/>
          <a:ln w="38100">
            <a:solidFill>
              <a:srgbClr val="3B6BB5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11579225" y="1993900"/>
            <a:ext cx="0" cy="355600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8991600" y="5546725"/>
            <a:ext cx="2590800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8994775" y="1993900"/>
            <a:ext cx="0" cy="355600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9226550" y="2286000"/>
            <a:ext cx="558800" cy="330200"/>
          </a:xfrm>
          <a:custGeom>
            <a:avLst/>
            <a:gdLst/>
            <a:ahLst/>
            <a:cxnLst/>
            <a:rect l="l" t="t" r="r" b="b"/>
            <a:pathLst>
              <a:path w="558800" h="330200">
                <a:moveTo>
                  <a:pt x="0" y="0"/>
                </a:moveTo>
                <a:lnTo>
                  <a:pt x="558800" y="0"/>
                </a:lnTo>
                <a:cubicBezTo>
                  <a:pt x="558800" y="0"/>
                  <a:pt x="558800" y="0"/>
                  <a:pt x="558800" y="0"/>
                </a:cubicBezTo>
                <a:lnTo>
                  <a:pt x="558800" y="330200"/>
                </a:lnTo>
                <a:cubicBezTo>
                  <a:pt x="558800" y="330200"/>
                  <a:pt x="558800" y="330200"/>
                  <a:pt x="558800" y="330200"/>
                </a:cubicBezTo>
                <a:lnTo>
                  <a:pt x="0" y="330200"/>
                </a:lnTo>
                <a:cubicBezTo>
                  <a:pt x="0" y="330200"/>
                  <a:pt x="0" y="330200"/>
                  <a:pt x="0" y="3302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3B6BB5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9387979" y="2336800"/>
            <a:ext cx="235942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300" b="1" i="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5.4</a:t>
            </a:r>
            <a:endParaRPr lang="zh-CN" sz="1300" dirty="0"/>
          </a:p>
        </p:txBody>
      </p:sp>
      <p:sp>
        <p:nvSpPr>
          <p:cNvPr id="39" name="Text 37"/>
          <p:cNvSpPr/>
          <p:nvPr/>
        </p:nvSpPr>
        <p:spPr>
          <a:xfrm>
            <a:off x="9226550" y="2813050"/>
            <a:ext cx="762000" cy="3492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2000" b="1" i="0" dirty="0">
                <a:solidFill>
                  <a:srgbClr val="1C2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跳转表</a:t>
            </a:r>
            <a:endParaRPr lang="zh-CN" sz="2000" dirty="0"/>
          </a:p>
        </p:txBody>
      </p:sp>
      <p:sp>
        <p:nvSpPr>
          <p:cNvPr id="40" name="Text 38"/>
          <p:cNvSpPr/>
          <p:nvPr/>
        </p:nvSpPr>
        <p:spPr>
          <a:xfrm>
            <a:off x="9226550" y="4908550"/>
            <a:ext cx="439241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2200" b="1" i="0" dirty="0">
                <a:solidFill>
                  <a:srgbClr val="C8A2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6分</a:t>
            </a:r>
            <a:endParaRPr lang="zh-CN" sz="2200" dirty="0"/>
          </a:p>
        </p:txBody>
      </p:sp>
      <p:sp>
        <p:nvSpPr>
          <p:cNvPr id="41" name="Text 39"/>
          <p:cNvSpPr/>
          <p:nvPr/>
        </p:nvSpPr>
        <p:spPr>
          <a:xfrm>
            <a:off x="844550" y="3308350"/>
            <a:ext cx="1960265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0" i="0" dirty="0">
                <a:solidFill>
                  <a:srgbClr val="1C2333">
                    <a:alpha val="7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test 指令仅按位与设置条</a:t>
            </a:r>
            <a:endParaRPr lang="zh-CN" sz="1400" dirty="0"/>
          </a:p>
        </p:txBody>
      </p:sp>
      <p:sp>
        <p:nvSpPr>
          <p:cNvPr id="42" name="Text 40"/>
          <p:cNvSpPr/>
          <p:nvPr/>
        </p:nvSpPr>
        <p:spPr>
          <a:xfrm>
            <a:off x="844550" y="3592810"/>
            <a:ext cx="1778099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0" i="0" dirty="0">
                <a:solidFill>
                  <a:srgbClr val="1C2333">
                    <a:alpha val="7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件码，不修改目标操作</a:t>
            </a:r>
            <a:endParaRPr lang="zh-CN" sz="1400" dirty="0"/>
          </a:p>
        </p:txBody>
      </p:sp>
      <p:sp>
        <p:nvSpPr>
          <p:cNvPr id="43" name="Text 41"/>
          <p:cNvSpPr/>
          <p:nvPr/>
        </p:nvSpPr>
        <p:spPr>
          <a:xfrm>
            <a:off x="844550" y="3877270"/>
            <a:ext cx="355699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0" i="0" dirty="0">
                <a:solidFill>
                  <a:srgbClr val="1C2333">
                    <a:alpha val="7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数。</a:t>
            </a:r>
            <a:endParaRPr lang="zh-CN" sz="1400" dirty="0"/>
          </a:p>
        </p:txBody>
      </p:sp>
      <p:sp>
        <p:nvSpPr>
          <p:cNvPr id="44" name="Text 42"/>
          <p:cNvSpPr/>
          <p:nvPr/>
        </p:nvSpPr>
        <p:spPr>
          <a:xfrm>
            <a:off x="3638550" y="3308350"/>
            <a:ext cx="2037655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0" i="0" dirty="0">
                <a:solidFill>
                  <a:srgbClr val="1C2333">
                    <a:alpha val="7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cmpq 计算目的−源；有符</a:t>
            </a:r>
            <a:endParaRPr lang="zh-CN" sz="1400" dirty="0"/>
          </a:p>
        </p:txBody>
      </p:sp>
      <p:sp>
        <p:nvSpPr>
          <p:cNvPr id="45" name="Text 43"/>
          <p:cNvSpPr/>
          <p:nvPr/>
        </p:nvSpPr>
        <p:spPr>
          <a:xfrm>
            <a:off x="3638550" y="3592810"/>
            <a:ext cx="1955899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0" i="0" dirty="0">
                <a:solidFill>
                  <a:srgbClr val="1C2333">
                    <a:alpha val="7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号与无符号跳转指令族。</a:t>
            </a:r>
            <a:endParaRPr lang="zh-CN" sz="1400" dirty="0"/>
          </a:p>
        </p:txBody>
      </p:sp>
      <p:sp>
        <p:nvSpPr>
          <p:cNvPr id="46" name="Text 44"/>
          <p:cNvSpPr/>
          <p:nvPr/>
        </p:nvSpPr>
        <p:spPr>
          <a:xfrm>
            <a:off x="6432550" y="3308350"/>
            <a:ext cx="1954411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0" i="0" dirty="0">
                <a:solidFill>
                  <a:srgbClr val="1C2333">
                    <a:alpha val="7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and $3 等价 x%4；shr 2</a:t>
            </a:r>
            <a:endParaRPr lang="zh-CN" sz="1400" dirty="0"/>
          </a:p>
        </p:txBody>
      </p:sp>
      <p:sp>
        <p:nvSpPr>
          <p:cNvPr id="47" name="Text 45"/>
          <p:cNvSpPr/>
          <p:nvPr/>
        </p:nvSpPr>
        <p:spPr>
          <a:xfrm>
            <a:off x="6432550" y="3592810"/>
            <a:ext cx="1954609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0" i="0" dirty="0">
                <a:solidFill>
                  <a:srgbClr val="1C2333">
                    <a:alpha val="7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位 等价 x/4；先判断后循</a:t>
            </a:r>
            <a:endParaRPr lang="zh-CN" sz="1400" dirty="0"/>
          </a:p>
        </p:txBody>
      </p:sp>
      <p:sp>
        <p:nvSpPr>
          <p:cNvPr id="48" name="Text 46"/>
          <p:cNvSpPr/>
          <p:nvPr/>
        </p:nvSpPr>
        <p:spPr>
          <a:xfrm>
            <a:off x="6432550" y="3877270"/>
            <a:ext cx="355699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0" i="0" dirty="0">
                <a:solidFill>
                  <a:srgbClr val="1C2333">
                    <a:alpha val="7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环。</a:t>
            </a:r>
            <a:endParaRPr lang="zh-CN" sz="1400" dirty="0"/>
          </a:p>
        </p:txBody>
      </p:sp>
      <p:sp>
        <p:nvSpPr>
          <p:cNvPr id="49" name="Text 47"/>
          <p:cNvSpPr/>
          <p:nvPr/>
        </p:nvSpPr>
        <p:spPr>
          <a:xfrm>
            <a:off x="9226550" y="3308350"/>
            <a:ext cx="2039938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0" i="0" dirty="0">
                <a:solidFill>
                  <a:srgbClr val="1C2333">
                    <a:alpha val="7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地址数组按索引 O(1) 多分</a:t>
            </a:r>
            <a:endParaRPr lang="zh-CN" sz="1400" dirty="0"/>
          </a:p>
        </p:txBody>
      </p:sp>
      <p:sp>
        <p:nvSpPr>
          <p:cNvPr id="50" name="Text 48"/>
          <p:cNvSpPr/>
          <p:nvPr/>
        </p:nvSpPr>
        <p:spPr>
          <a:xfrm>
            <a:off x="9226550" y="3592810"/>
            <a:ext cx="1778099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0" i="0" dirty="0">
                <a:solidFill>
                  <a:srgbClr val="1C2333">
                    <a:alpha val="7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支；负数进默认分支。</a:t>
            </a:r>
            <a:endParaRPr lang="zh-CN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95300"/>
            <a:ext cx="1905695" cy="5524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3200" b="1" i="0" dirty="0">
                <a:solidFill>
                  <a:srgbClr val="1E3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5.1 条件码</a:t>
            </a:r>
            <a:endParaRPr lang="zh-CN" sz="3200" dirty="0"/>
          </a:p>
        </p:txBody>
      </p:sp>
      <p:sp>
        <p:nvSpPr>
          <p:cNvPr id="3" name="Shape 1"/>
          <p:cNvSpPr/>
          <p:nvPr/>
        </p:nvSpPr>
        <p:spPr>
          <a:xfrm>
            <a:off x="2667695" y="666750"/>
            <a:ext cx="573484" cy="342900"/>
          </a:xfrm>
          <a:custGeom>
            <a:avLst/>
            <a:gdLst/>
            <a:ahLst/>
            <a:cxnLst/>
            <a:rect l="l" t="t" r="r" b="b"/>
            <a:pathLst>
              <a:path w="573484" h="342900">
                <a:moveTo>
                  <a:pt x="0" y="0"/>
                </a:moveTo>
                <a:lnTo>
                  <a:pt x="573485" y="0"/>
                </a:lnTo>
                <a:cubicBezTo>
                  <a:pt x="573485" y="0"/>
                  <a:pt x="573485" y="0"/>
                  <a:pt x="573485" y="0"/>
                </a:cubicBezTo>
                <a:lnTo>
                  <a:pt x="573485" y="342900"/>
                </a:lnTo>
                <a:cubicBezTo>
                  <a:pt x="573485" y="342900"/>
                  <a:pt x="573485" y="342900"/>
                  <a:pt x="573485" y="342900"/>
                </a:cubicBezTo>
                <a:lnTo>
                  <a:pt x="0" y="342900"/>
                </a:lnTo>
                <a:cubicBezTo>
                  <a:pt x="0" y="342900"/>
                  <a:pt x="0" y="342900"/>
                  <a:pt x="0" y="3429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C8A24A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794695" y="711200"/>
            <a:ext cx="319484" cy="273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600" b="1" i="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2分</a:t>
            </a:r>
            <a:endParaRPr lang="zh-CN" sz="1600" dirty="0"/>
          </a:p>
        </p:txBody>
      </p:sp>
      <p:sp>
        <p:nvSpPr>
          <p:cNvPr id="5" name="Shape 3"/>
          <p:cNvSpPr/>
          <p:nvPr/>
        </p:nvSpPr>
        <p:spPr>
          <a:xfrm>
            <a:off x="609600" y="1174750"/>
            <a:ext cx="609600" cy="31750"/>
          </a:xfrm>
          <a:custGeom>
            <a:avLst/>
            <a:gdLst/>
            <a:ahLst/>
            <a:cxnLst/>
            <a:rect l="l" t="t" r="r" b="b"/>
            <a:pathLst>
              <a:path w="609600" h="31750">
                <a:moveTo>
                  <a:pt x="0" y="0"/>
                </a:moveTo>
                <a:lnTo>
                  <a:pt x="609600" y="0"/>
                </a:lnTo>
                <a:cubicBezTo>
                  <a:pt x="609600" y="0"/>
                  <a:pt x="609600" y="0"/>
                  <a:pt x="609600" y="0"/>
                </a:cubicBezTo>
                <a:lnTo>
                  <a:pt x="609600" y="31750"/>
                </a:lnTo>
                <a:cubicBezTo>
                  <a:pt x="609600" y="31750"/>
                  <a:pt x="609600" y="31750"/>
                  <a:pt x="609600" y="31750"/>
                </a:cubicBezTo>
                <a:lnTo>
                  <a:pt x="0" y="31750"/>
                </a:lnTo>
                <a:cubicBezTo>
                  <a:pt x="0" y="31750"/>
                  <a:pt x="0" y="31750"/>
                  <a:pt x="0" y="3175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C8A24A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09600" y="1435100"/>
            <a:ext cx="5614591" cy="1526381"/>
          </a:xfrm>
          <a:custGeom>
            <a:avLst/>
            <a:gdLst/>
            <a:ahLst/>
            <a:cxnLst/>
            <a:rect l="l" t="t" r="r" b="b"/>
            <a:pathLst>
              <a:path w="5614591" h="1526381">
                <a:moveTo>
                  <a:pt x="0" y="0"/>
                </a:moveTo>
                <a:lnTo>
                  <a:pt x="5614591" y="0"/>
                </a:lnTo>
                <a:cubicBezTo>
                  <a:pt x="5614591" y="0"/>
                  <a:pt x="5614591" y="0"/>
                  <a:pt x="5614591" y="0"/>
                </a:cubicBezTo>
                <a:lnTo>
                  <a:pt x="5614591" y="1526381"/>
                </a:lnTo>
                <a:cubicBezTo>
                  <a:pt x="5614591" y="1526381"/>
                  <a:pt x="5614591" y="1526381"/>
                  <a:pt x="5614591" y="1526381"/>
                </a:cubicBezTo>
                <a:lnTo>
                  <a:pt x="0" y="1526381"/>
                </a:lnTo>
                <a:cubicBezTo>
                  <a:pt x="0" y="1526381"/>
                  <a:pt x="0" y="1526381"/>
                  <a:pt x="0" y="1526381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44550" y="1663700"/>
            <a:ext cx="406499" cy="273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600" b="1" i="0" dirty="0">
                <a:solidFill>
                  <a:srgbClr val="1E3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题目</a:t>
            </a:r>
            <a:endParaRPr lang="zh-CN" sz="1600" dirty="0"/>
          </a:p>
        </p:txBody>
      </p:sp>
      <p:grpSp>
        <p:nvGrpSpPr>
          <p:cNvPr id="8" name="ma"/>
          <p:cNvGrpSpPr/>
          <p:nvPr/>
        </p:nvGrpSpPr>
        <p:grpSpPr>
          <a:xfrm>
            <a:off x="844550" y="2063750"/>
            <a:ext cx="5142210" cy="661591"/>
            <a:chOff x="844550" y="2063750"/>
            <a:chExt cx="5142210" cy="661591"/>
          </a:xfrm>
        </p:grpSpPr>
        <p:sp>
          <p:nvSpPr>
            <p:cNvPr id="9" name="Text 0"/>
            <p:cNvSpPr/>
            <p:nvPr/>
          </p:nvSpPr>
          <p:spPr>
            <a:xfrm>
              <a:off x="844550" y="2063750"/>
              <a:ext cx="203299" cy="27305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600" b="0" i="0" dirty="0">
                  <a:solidFill>
                    <a:srgbClr val="1C233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将</a:t>
              </a:r>
              <a:endParaRPr lang="zh-CN" sz="1600" dirty="0"/>
            </a:p>
          </p:txBody>
        </p:sp>
        <p:sp>
          <p:nvSpPr>
            <p:cNvPr id="10" name="Text 1"/>
            <p:cNvSpPr/>
            <p:nvPr/>
          </p:nvSpPr>
          <p:spPr>
            <a:xfrm>
              <a:off x="1641177" y="2063750"/>
              <a:ext cx="1539180" cy="27305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600" b="0" i="0" dirty="0">
                  <a:solidFill>
                    <a:srgbClr val="1C233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存入 %rax，执行</a:t>
              </a:r>
              <a:endParaRPr lang="zh-CN" sz="1600" dirty="0"/>
            </a:p>
          </p:txBody>
        </p:sp>
        <p:sp>
          <p:nvSpPr>
            <p:cNvPr id="11" name="Text 2"/>
            <p:cNvSpPr/>
            <p:nvPr/>
          </p:nvSpPr>
          <p:spPr>
            <a:xfrm>
              <a:off x="5305822" y="2063750"/>
              <a:ext cx="680938" cy="27305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600" b="0" i="0" dirty="0">
                  <a:solidFill>
                    <a:srgbClr val="1C233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，求 ZF</a:t>
              </a:r>
              <a:endParaRPr lang="zh-CN" sz="1600" dirty="0"/>
            </a:p>
          </p:txBody>
        </p:sp>
        <p:sp>
          <p:nvSpPr>
            <p:cNvPr id="12" name="Text 3"/>
            <p:cNvSpPr/>
            <p:nvPr/>
          </p:nvSpPr>
          <p:spPr>
            <a:xfrm>
              <a:off x="844550" y="2452291"/>
              <a:ext cx="1388765" cy="27305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600" b="0" i="0" dirty="0">
                  <a:solidFill>
                    <a:srgbClr val="1C233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和 %rax 的值。</a:t>
              </a:r>
              <a:endParaRPr lang="zh-CN" sz="1600" dirty="0"/>
            </a:p>
          </p:txBody>
        </p:sp>
        <p:sp>
          <p:nvSpPr>
            <p:cNvPr id="13" name="Text 4"/>
            <p:cNvSpPr/>
            <p:nvPr/>
          </p:nvSpPr>
          <p:spPr>
            <a:xfrm>
              <a:off x="1100634" y="2159000"/>
              <a:ext cx="487759" cy="2032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600" b="1" i="0" dirty="0">
                  <a:solidFill>
                    <a:srgbClr val="3B6BB5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0x2A</a:t>
              </a:r>
              <a:endParaRPr lang="zh-CN" sz="1600" dirty="0"/>
            </a:p>
          </p:txBody>
        </p:sp>
        <p:sp>
          <p:nvSpPr>
            <p:cNvPr id="14" name="Text 5"/>
            <p:cNvSpPr/>
            <p:nvPr/>
          </p:nvSpPr>
          <p:spPr>
            <a:xfrm>
              <a:off x="3233142" y="2159000"/>
              <a:ext cx="2072680" cy="2032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600" b="1" i="0" dirty="0">
                  <a:solidFill>
                    <a:srgbClr val="3B6BB5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testq $0x08, %rax</a:t>
              </a:r>
              <a:endParaRPr lang="zh-CN" sz="1600" dirty="0"/>
            </a:p>
          </p:txBody>
        </p:sp>
      </p:grpSp>
      <p:sp>
        <p:nvSpPr>
          <p:cNvPr id="15" name="Shape 6"/>
          <p:cNvSpPr/>
          <p:nvPr/>
        </p:nvSpPr>
        <p:spPr>
          <a:xfrm>
            <a:off x="609600" y="3164681"/>
            <a:ext cx="5614591" cy="2842419"/>
          </a:xfrm>
          <a:custGeom>
            <a:avLst/>
            <a:gdLst/>
            <a:ahLst/>
            <a:cxnLst/>
            <a:rect l="l" t="t" r="r" b="b"/>
            <a:pathLst>
              <a:path w="5614591" h="2842419">
                <a:moveTo>
                  <a:pt x="0" y="0"/>
                </a:moveTo>
                <a:lnTo>
                  <a:pt x="5614591" y="0"/>
                </a:lnTo>
                <a:cubicBezTo>
                  <a:pt x="5614591" y="0"/>
                  <a:pt x="5614591" y="0"/>
                  <a:pt x="5614591" y="0"/>
                </a:cubicBezTo>
                <a:lnTo>
                  <a:pt x="5614591" y="2842419"/>
                </a:lnTo>
                <a:cubicBezTo>
                  <a:pt x="5614591" y="2842419"/>
                  <a:pt x="5614591" y="2842419"/>
                  <a:pt x="5614591" y="2842419"/>
                </a:cubicBezTo>
                <a:lnTo>
                  <a:pt x="0" y="2842419"/>
                </a:lnTo>
                <a:cubicBezTo>
                  <a:pt x="0" y="2842419"/>
                  <a:pt x="0" y="2842419"/>
                  <a:pt x="0" y="2842419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7"/>
          <p:cNvSpPr/>
          <p:nvPr/>
        </p:nvSpPr>
        <p:spPr>
          <a:xfrm>
            <a:off x="609600" y="3167856"/>
            <a:ext cx="5614591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8"/>
          <p:cNvSpPr/>
          <p:nvPr/>
        </p:nvSpPr>
        <p:spPr>
          <a:xfrm>
            <a:off x="6221016" y="3164681"/>
            <a:ext cx="0" cy="2842419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9"/>
          <p:cNvSpPr/>
          <p:nvPr/>
        </p:nvSpPr>
        <p:spPr>
          <a:xfrm>
            <a:off x="609600" y="6003925"/>
            <a:ext cx="5614591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0"/>
          <p:cNvSpPr/>
          <p:nvPr/>
        </p:nvSpPr>
        <p:spPr>
          <a:xfrm>
            <a:off x="635000" y="3164681"/>
            <a:ext cx="0" cy="2842419"/>
          </a:xfrm>
          <a:prstGeom prst="line">
            <a:avLst/>
          </a:prstGeom>
          <a:noFill/>
          <a:ln w="50800">
            <a:solidFill>
              <a:srgbClr val="C8A24A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1"/>
          <p:cNvSpPr/>
          <p:nvPr/>
        </p:nvSpPr>
        <p:spPr>
          <a:xfrm>
            <a:off x="889000" y="3393281"/>
            <a:ext cx="406499" cy="273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600" b="1" i="0" dirty="0">
                <a:solidFill>
                  <a:srgbClr val="1E3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答案</a:t>
            </a:r>
            <a:endParaRPr lang="zh-CN" sz="1600" dirty="0"/>
          </a:p>
        </p:txBody>
      </p:sp>
      <p:sp>
        <p:nvSpPr>
          <p:cNvPr id="21" name="Text 12"/>
          <p:cNvSpPr/>
          <p:nvPr/>
        </p:nvSpPr>
        <p:spPr>
          <a:xfrm>
            <a:off x="889000" y="4034631"/>
            <a:ext cx="232470" cy="5524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3200" b="1" i="0" dirty="0">
                <a:solidFill>
                  <a:srgbClr val="1E3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</a:t>
            </a:r>
            <a:endParaRPr lang="zh-CN" sz="3200" dirty="0"/>
          </a:p>
        </p:txBody>
      </p:sp>
      <p:sp>
        <p:nvSpPr>
          <p:cNvPr id="22" name="Text 13"/>
          <p:cNvSpPr/>
          <p:nvPr/>
        </p:nvSpPr>
        <p:spPr>
          <a:xfrm>
            <a:off x="1375470" y="4072731"/>
            <a:ext cx="97542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3200" b="1" i="0" dirty="0">
                <a:solidFill>
                  <a:srgbClr val="1E3A6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0x2A</a:t>
            </a:r>
            <a:endParaRPr lang="zh-CN" sz="3200" dirty="0"/>
          </a:p>
        </p:txBody>
      </p:sp>
      <p:sp>
        <p:nvSpPr>
          <p:cNvPr id="23" name="Shape 14"/>
          <p:cNvSpPr/>
          <p:nvPr/>
        </p:nvSpPr>
        <p:spPr>
          <a:xfrm>
            <a:off x="6478191" y="1435100"/>
            <a:ext cx="5104209" cy="596900"/>
          </a:xfrm>
          <a:custGeom>
            <a:avLst/>
            <a:gdLst/>
            <a:ahLst/>
            <a:cxnLst/>
            <a:rect l="l" t="t" r="r" b="b"/>
            <a:pathLst>
              <a:path w="5104209" h="596900">
                <a:moveTo>
                  <a:pt x="0" y="0"/>
                </a:moveTo>
                <a:lnTo>
                  <a:pt x="5104209" y="0"/>
                </a:lnTo>
                <a:cubicBezTo>
                  <a:pt x="5104209" y="0"/>
                  <a:pt x="5104209" y="0"/>
                  <a:pt x="5104209" y="0"/>
                </a:cubicBezTo>
                <a:lnTo>
                  <a:pt x="5104209" y="596900"/>
                </a:lnTo>
                <a:cubicBezTo>
                  <a:pt x="5104209" y="596900"/>
                  <a:pt x="5104209" y="596900"/>
                  <a:pt x="5104209" y="596900"/>
                </a:cubicBezTo>
                <a:lnTo>
                  <a:pt x="0" y="596900"/>
                </a:lnTo>
                <a:cubicBezTo>
                  <a:pt x="0" y="596900"/>
                  <a:pt x="0" y="596900"/>
                  <a:pt x="0" y="5969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1E3A6E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5"/>
          <p:cNvSpPr/>
          <p:nvPr/>
        </p:nvSpPr>
        <p:spPr>
          <a:xfrm>
            <a:off x="6706791" y="1606550"/>
            <a:ext cx="1016099" cy="273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600" b="1" i="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核心知识点</a:t>
            </a:r>
            <a:endParaRPr lang="zh-CN" sz="1600" dirty="0"/>
          </a:p>
        </p:txBody>
      </p:sp>
      <p:sp>
        <p:nvSpPr>
          <p:cNvPr id="25" name="Shape 16"/>
          <p:cNvSpPr/>
          <p:nvPr/>
        </p:nvSpPr>
        <p:spPr>
          <a:xfrm>
            <a:off x="6478191" y="2032000"/>
            <a:ext cx="5104209" cy="3975100"/>
          </a:xfrm>
          <a:custGeom>
            <a:avLst/>
            <a:gdLst/>
            <a:ahLst/>
            <a:cxnLst/>
            <a:rect l="l" t="t" r="r" b="b"/>
            <a:pathLst>
              <a:path w="5104209" h="3975100">
                <a:moveTo>
                  <a:pt x="0" y="0"/>
                </a:moveTo>
                <a:lnTo>
                  <a:pt x="5104209" y="0"/>
                </a:lnTo>
                <a:cubicBezTo>
                  <a:pt x="5104209" y="0"/>
                  <a:pt x="5104209" y="0"/>
                  <a:pt x="5104209" y="0"/>
                </a:cubicBezTo>
                <a:lnTo>
                  <a:pt x="5104209" y="3975100"/>
                </a:lnTo>
                <a:cubicBezTo>
                  <a:pt x="5104209" y="3975100"/>
                  <a:pt x="5104209" y="3975100"/>
                  <a:pt x="5104209" y="3975100"/>
                </a:cubicBezTo>
                <a:lnTo>
                  <a:pt x="0" y="3975100"/>
                </a:lnTo>
                <a:cubicBezTo>
                  <a:pt x="0" y="3975100"/>
                  <a:pt x="0" y="3975100"/>
                  <a:pt x="0" y="39751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17"/>
          <p:cNvSpPr/>
          <p:nvPr/>
        </p:nvSpPr>
        <p:spPr>
          <a:xfrm>
            <a:off x="6713141" y="2241550"/>
            <a:ext cx="4634309" cy="460375"/>
          </a:xfrm>
          <a:custGeom>
            <a:avLst/>
            <a:gdLst/>
            <a:ahLst/>
            <a:cxnLst/>
            <a:rect l="l" t="t" r="r" b="b"/>
            <a:pathLst>
              <a:path w="4634309" h="460375">
                <a:moveTo>
                  <a:pt x="0" y="0"/>
                </a:moveTo>
                <a:lnTo>
                  <a:pt x="4634309" y="0"/>
                </a:lnTo>
                <a:cubicBezTo>
                  <a:pt x="4634309" y="0"/>
                  <a:pt x="4634309" y="0"/>
                  <a:pt x="4634309" y="0"/>
                </a:cubicBezTo>
                <a:lnTo>
                  <a:pt x="4634309" y="460375"/>
                </a:lnTo>
                <a:cubicBezTo>
                  <a:pt x="4634309" y="460375"/>
                  <a:pt x="4634309" y="460375"/>
                  <a:pt x="4634309" y="460375"/>
                </a:cubicBezTo>
                <a:lnTo>
                  <a:pt x="0" y="460375"/>
                </a:lnTo>
                <a:cubicBezTo>
                  <a:pt x="0" y="460375"/>
                  <a:pt x="0" y="460375"/>
                  <a:pt x="0" y="4603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E2E9F4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18"/>
          <p:cNvSpPr/>
          <p:nvPr/>
        </p:nvSpPr>
        <p:spPr>
          <a:xfrm>
            <a:off x="6713141" y="2701925"/>
            <a:ext cx="944463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19"/>
          <p:cNvSpPr/>
          <p:nvPr/>
        </p:nvSpPr>
        <p:spPr>
          <a:xfrm>
            <a:off x="6814741" y="2355850"/>
            <a:ext cx="355699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1" i="0" dirty="0">
                <a:solidFill>
                  <a:srgbClr val="1C2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指令</a:t>
            </a:r>
            <a:endParaRPr lang="zh-CN" sz="1400" dirty="0"/>
          </a:p>
        </p:txBody>
      </p:sp>
      <p:sp>
        <p:nvSpPr>
          <p:cNvPr id="29" name="Shape 20"/>
          <p:cNvSpPr/>
          <p:nvPr/>
        </p:nvSpPr>
        <p:spPr>
          <a:xfrm>
            <a:off x="7657604" y="2701925"/>
            <a:ext cx="2052042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1"/>
          <p:cNvSpPr/>
          <p:nvPr/>
        </p:nvSpPr>
        <p:spPr>
          <a:xfrm>
            <a:off x="7759204" y="2355850"/>
            <a:ext cx="889099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1" i="0" dirty="0">
                <a:solidFill>
                  <a:srgbClr val="1C2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设置条件码</a:t>
            </a:r>
            <a:endParaRPr lang="zh-CN" sz="1400" dirty="0"/>
          </a:p>
        </p:txBody>
      </p:sp>
      <p:sp>
        <p:nvSpPr>
          <p:cNvPr id="31" name="Shape 22"/>
          <p:cNvSpPr/>
          <p:nvPr/>
        </p:nvSpPr>
        <p:spPr>
          <a:xfrm>
            <a:off x="9709646" y="2701925"/>
            <a:ext cx="1637804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3"/>
          <p:cNvSpPr/>
          <p:nvPr/>
        </p:nvSpPr>
        <p:spPr>
          <a:xfrm>
            <a:off x="9811246" y="2355850"/>
            <a:ext cx="889099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1" i="0" dirty="0">
                <a:solidFill>
                  <a:srgbClr val="1C2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修改操作数</a:t>
            </a:r>
            <a:endParaRPr lang="zh-CN" sz="1400" dirty="0"/>
          </a:p>
        </p:txBody>
      </p:sp>
      <p:sp>
        <p:nvSpPr>
          <p:cNvPr id="33" name="Shape 24"/>
          <p:cNvSpPr/>
          <p:nvPr/>
        </p:nvSpPr>
        <p:spPr>
          <a:xfrm>
            <a:off x="6713141" y="3165475"/>
            <a:ext cx="944463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5"/>
          <p:cNvSpPr/>
          <p:nvPr/>
        </p:nvSpPr>
        <p:spPr>
          <a:xfrm>
            <a:off x="6814741" y="2844800"/>
            <a:ext cx="426740" cy="177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1" i="0" dirty="0">
                <a:solidFill>
                  <a:srgbClr val="3B6BB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</a:t>
            </a:r>
            <a:endParaRPr lang="zh-CN" sz="1400" dirty="0"/>
          </a:p>
        </p:txBody>
      </p:sp>
      <p:sp>
        <p:nvSpPr>
          <p:cNvPr id="35" name="Shape 26"/>
          <p:cNvSpPr/>
          <p:nvPr/>
        </p:nvSpPr>
        <p:spPr>
          <a:xfrm>
            <a:off x="7657604" y="3165475"/>
            <a:ext cx="2052042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27"/>
          <p:cNvSpPr/>
          <p:nvPr/>
        </p:nvSpPr>
        <p:spPr>
          <a:xfrm>
            <a:off x="7759204" y="2819400"/>
            <a:ext cx="1066899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0" i="0" dirty="0">
                <a:solidFill>
                  <a:srgbClr val="1C2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是（按位与）</a:t>
            </a:r>
            <a:endParaRPr lang="zh-CN" sz="1400" dirty="0"/>
          </a:p>
        </p:txBody>
      </p:sp>
      <p:sp>
        <p:nvSpPr>
          <p:cNvPr id="37" name="Shape 28"/>
          <p:cNvSpPr/>
          <p:nvPr/>
        </p:nvSpPr>
        <p:spPr>
          <a:xfrm>
            <a:off x="9709646" y="3165475"/>
            <a:ext cx="1637804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29"/>
          <p:cNvSpPr/>
          <p:nvPr/>
        </p:nvSpPr>
        <p:spPr>
          <a:xfrm>
            <a:off x="9811246" y="2819400"/>
            <a:ext cx="177899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1" i="0" dirty="0">
                <a:solidFill>
                  <a:srgbClr val="C8A2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否</a:t>
            </a:r>
            <a:endParaRPr lang="zh-CN" sz="1400" dirty="0"/>
          </a:p>
        </p:txBody>
      </p:sp>
      <p:sp>
        <p:nvSpPr>
          <p:cNvPr id="39" name="Shape 30"/>
          <p:cNvSpPr/>
          <p:nvPr/>
        </p:nvSpPr>
        <p:spPr>
          <a:xfrm>
            <a:off x="6713141" y="3629025"/>
            <a:ext cx="944463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1"/>
          <p:cNvSpPr/>
          <p:nvPr/>
        </p:nvSpPr>
        <p:spPr>
          <a:xfrm>
            <a:off x="6814741" y="3308350"/>
            <a:ext cx="320080" cy="177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1" i="0" dirty="0">
                <a:solidFill>
                  <a:srgbClr val="3B6BB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cmp</a:t>
            </a:r>
            <a:endParaRPr lang="zh-CN" sz="1400" dirty="0"/>
          </a:p>
        </p:txBody>
      </p:sp>
      <p:sp>
        <p:nvSpPr>
          <p:cNvPr id="41" name="Shape 32"/>
          <p:cNvSpPr/>
          <p:nvPr/>
        </p:nvSpPr>
        <p:spPr>
          <a:xfrm>
            <a:off x="7657604" y="3629025"/>
            <a:ext cx="2052042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3"/>
          <p:cNvSpPr/>
          <p:nvPr/>
        </p:nvSpPr>
        <p:spPr>
          <a:xfrm>
            <a:off x="7759204" y="3282950"/>
            <a:ext cx="1165523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0" i="0" dirty="0">
                <a:solidFill>
                  <a:srgbClr val="1C2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是（目的−源）</a:t>
            </a:r>
            <a:endParaRPr lang="zh-CN" sz="1400" dirty="0"/>
          </a:p>
        </p:txBody>
      </p:sp>
      <p:sp>
        <p:nvSpPr>
          <p:cNvPr id="43" name="Shape 34"/>
          <p:cNvSpPr/>
          <p:nvPr/>
        </p:nvSpPr>
        <p:spPr>
          <a:xfrm>
            <a:off x="9709646" y="3629025"/>
            <a:ext cx="1637804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5"/>
          <p:cNvSpPr/>
          <p:nvPr/>
        </p:nvSpPr>
        <p:spPr>
          <a:xfrm>
            <a:off x="9811246" y="3282950"/>
            <a:ext cx="177899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1" i="0" dirty="0">
                <a:solidFill>
                  <a:srgbClr val="C8A2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否</a:t>
            </a:r>
            <a:endParaRPr lang="zh-CN" sz="1400" dirty="0"/>
          </a:p>
        </p:txBody>
      </p:sp>
      <p:sp>
        <p:nvSpPr>
          <p:cNvPr id="45" name="Shape 36"/>
          <p:cNvSpPr/>
          <p:nvPr/>
        </p:nvSpPr>
        <p:spPr>
          <a:xfrm>
            <a:off x="6713141" y="4092575"/>
            <a:ext cx="944463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37"/>
          <p:cNvSpPr/>
          <p:nvPr/>
        </p:nvSpPr>
        <p:spPr>
          <a:xfrm>
            <a:off x="6814741" y="3771900"/>
            <a:ext cx="320080" cy="177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1" i="0" dirty="0">
                <a:solidFill>
                  <a:srgbClr val="3B6BB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and</a:t>
            </a:r>
            <a:endParaRPr lang="zh-CN" sz="1400" dirty="0"/>
          </a:p>
        </p:txBody>
      </p:sp>
      <p:sp>
        <p:nvSpPr>
          <p:cNvPr id="47" name="Shape 38"/>
          <p:cNvSpPr/>
          <p:nvPr/>
        </p:nvSpPr>
        <p:spPr>
          <a:xfrm>
            <a:off x="7657604" y="4092575"/>
            <a:ext cx="2052042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39"/>
          <p:cNvSpPr/>
          <p:nvPr/>
        </p:nvSpPr>
        <p:spPr>
          <a:xfrm>
            <a:off x="7759204" y="3746500"/>
            <a:ext cx="177899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0" i="0" dirty="0">
                <a:solidFill>
                  <a:srgbClr val="1C2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是</a:t>
            </a:r>
            <a:endParaRPr lang="zh-CN" sz="1400" dirty="0"/>
          </a:p>
        </p:txBody>
      </p:sp>
      <p:sp>
        <p:nvSpPr>
          <p:cNvPr id="49" name="Shape 40"/>
          <p:cNvSpPr/>
          <p:nvPr/>
        </p:nvSpPr>
        <p:spPr>
          <a:xfrm>
            <a:off x="9709646" y="4092575"/>
            <a:ext cx="1637804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1"/>
          <p:cNvSpPr/>
          <p:nvPr/>
        </p:nvSpPr>
        <p:spPr>
          <a:xfrm>
            <a:off x="9811246" y="3746500"/>
            <a:ext cx="177899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0" i="0" dirty="0">
                <a:solidFill>
                  <a:srgbClr val="1C2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是</a:t>
            </a:r>
            <a:endParaRPr lang="zh-CN" sz="1400" dirty="0"/>
          </a:p>
        </p:txBody>
      </p:sp>
      <p:sp>
        <p:nvSpPr>
          <p:cNvPr id="51" name="Text 42"/>
          <p:cNvSpPr/>
          <p:nvPr/>
        </p:nvSpPr>
        <p:spPr>
          <a:xfrm>
            <a:off x="6713141" y="4298950"/>
            <a:ext cx="2957810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0" i="0" dirty="0">
                <a:solidFill>
                  <a:srgbClr val="1C2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· ZF 定义：结果为 0 时置 1，否则置 0</a:t>
            </a:r>
            <a:endParaRPr lang="zh-CN" sz="1400" dirty="0"/>
          </a:p>
        </p:txBody>
      </p:sp>
      <p:sp>
        <p:nvSpPr>
          <p:cNvPr id="52" name="Text 43"/>
          <p:cNvSpPr/>
          <p:nvPr/>
        </p:nvSpPr>
        <p:spPr>
          <a:xfrm>
            <a:off x="6713141" y="4601170"/>
            <a:ext cx="3917355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0" i="0" dirty="0">
                <a:solidFill>
                  <a:srgbClr val="1C2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· testq 计算 S1&amp;S2 后设置 SF/ZF/PF，清除 CF/OF</a:t>
            </a:r>
            <a:endParaRPr lang="zh-CN" sz="1400" dirty="0"/>
          </a:p>
        </p:txBody>
      </p:sp>
      <p:sp>
        <p:nvSpPr>
          <p:cNvPr id="53" name="Text 44"/>
          <p:cNvSpPr/>
          <p:nvPr/>
        </p:nvSpPr>
        <p:spPr>
          <a:xfrm>
            <a:off x="889000" y="3793331"/>
            <a:ext cx="194072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0" i="0" dirty="0">
                <a:solidFill>
                  <a:srgbClr val="1C2333">
                    <a:alpha val="7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ZF</a:t>
            </a:r>
            <a:endParaRPr lang="zh-CN" sz="1400" dirty="0"/>
          </a:p>
        </p:txBody>
      </p:sp>
      <p:sp>
        <p:nvSpPr>
          <p:cNvPr id="54" name="Text 45"/>
          <p:cNvSpPr/>
          <p:nvPr/>
        </p:nvSpPr>
        <p:spPr>
          <a:xfrm>
            <a:off x="1375470" y="3793331"/>
            <a:ext cx="411460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0" i="0" dirty="0">
                <a:solidFill>
                  <a:srgbClr val="1C2333">
                    <a:alpha val="7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%rax</a:t>
            </a:r>
            <a:endParaRPr lang="zh-CN" sz="1400" dirty="0"/>
          </a:p>
        </p:txBody>
      </p:sp>
      <p:sp>
        <p:nvSpPr>
          <p:cNvPr id="55" name="Text 46"/>
          <p:cNvSpPr/>
          <p:nvPr/>
        </p:nvSpPr>
        <p:spPr>
          <a:xfrm>
            <a:off x="889000" y="4758531"/>
            <a:ext cx="4428034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0" i="0" dirty="0">
                <a:solidFill>
                  <a:srgbClr val="1C2333">
                    <a:alpha val="8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0x2A &amp; 0x08 = 0x08 ≠ 0，故 ZF=0；test 不修改 %rax。</a:t>
            </a:r>
            <a:endParaRPr lang="zh-CN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95300"/>
            <a:ext cx="2312095" cy="5524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3200" b="1" i="0" dirty="0">
                <a:solidFill>
                  <a:srgbClr val="1E3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5.2 条件跳转</a:t>
            </a:r>
            <a:endParaRPr lang="zh-CN" sz="3200" dirty="0"/>
          </a:p>
        </p:txBody>
      </p:sp>
      <p:sp>
        <p:nvSpPr>
          <p:cNvPr id="3" name="Shape 1"/>
          <p:cNvSpPr/>
          <p:nvPr/>
        </p:nvSpPr>
        <p:spPr>
          <a:xfrm>
            <a:off x="3074095" y="666750"/>
            <a:ext cx="573484" cy="342900"/>
          </a:xfrm>
          <a:custGeom>
            <a:avLst/>
            <a:gdLst/>
            <a:ahLst/>
            <a:cxnLst/>
            <a:rect l="l" t="t" r="r" b="b"/>
            <a:pathLst>
              <a:path w="573484" h="342900">
                <a:moveTo>
                  <a:pt x="0" y="0"/>
                </a:moveTo>
                <a:lnTo>
                  <a:pt x="573485" y="0"/>
                </a:lnTo>
                <a:cubicBezTo>
                  <a:pt x="573485" y="0"/>
                  <a:pt x="573485" y="0"/>
                  <a:pt x="573485" y="0"/>
                </a:cubicBezTo>
                <a:lnTo>
                  <a:pt x="573485" y="342900"/>
                </a:lnTo>
                <a:cubicBezTo>
                  <a:pt x="573485" y="342900"/>
                  <a:pt x="573485" y="342900"/>
                  <a:pt x="573485" y="342900"/>
                </a:cubicBezTo>
                <a:lnTo>
                  <a:pt x="0" y="342900"/>
                </a:lnTo>
                <a:cubicBezTo>
                  <a:pt x="0" y="342900"/>
                  <a:pt x="0" y="342900"/>
                  <a:pt x="0" y="3429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C8A24A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201095" y="711200"/>
            <a:ext cx="319484" cy="273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600" b="1" i="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4分</a:t>
            </a:r>
            <a:endParaRPr lang="zh-CN" sz="1600" dirty="0"/>
          </a:p>
        </p:txBody>
      </p:sp>
      <p:sp>
        <p:nvSpPr>
          <p:cNvPr id="5" name="Shape 3"/>
          <p:cNvSpPr/>
          <p:nvPr/>
        </p:nvSpPr>
        <p:spPr>
          <a:xfrm>
            <a:off x="609600" y="1174750"/>
            <a:ext cx="609600" cy="31750"/>
          </a:xfrm>
          <a:custGeom>
            <a:avLst/>
            <a:gdLst/>
            <a:ahLst/>
            <a:cxnLst/>
            <a:rect l="l" t="t" r="r" b="b"/>
            <a:pathLst>
              <a:path w="609600" h="31750">
                <a:moveTo>
                  <a:pt x="0" y="0"/>
                </a:moveTo>
                <a:lnTo>
                  <a:pt x="609600" y="0"/>
                </a:lnTo>
                <a:cubicBezTo>
                  <a:pt x="609600" y="0"/>
                  <a:pt x="609600" y="0"/>
                  <a:pt x="609600" y="0"/>
                </a:cubicBezTo>
                <a:lnTo>
                  <a:pt x="609600" y="31750"/>
                </a:lnTo>
                <a:cubicBezTo>
                  <a:pt x="609600" y="31750"/>
                  <a:pt x="609600" y="31750"/>
                  <a:pt x="609600" y="31750"/>
                </a:cubicBezTo>
                <a:lnTo>
                  <a:pt x="0" y="31750"/>
                </a:lnTo>
                <a:cubicBezTo>
                  <a:pt x="0" y="31750"/>
                  <a:pt x="0" y="31750"/>
                  <a:pt x="0" y="3175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C8A24A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09600" y="1435100"/>
            <a:ext cx="5614591" cy="3759200"/>
          </a:xfrm>
          <a:custGeom>
            <a:avLst/>
            <a:gdLst/>
            <a:ahLst/>
            <a:cxnLst/>
            <a:rect l="l" t="t" r="r" b="b"/>
            <a:pathLst>
              <a:path w="5614591" h="3759200">
                <a:moveTo>
                  <a:pt x="0" y="0"/>
                </a:moveTo>
                <a:lnTo>
                  <a:pt x="5614591" y="0"/>
                </a:lnTo>
                <a:cubicBezTo>
                  <a:pt x="5614591" y="0"/>
                  <a:pt x="5614591" y="0"/>
                  <a:pt x="5614591" y="0"/>
                </a:cubicBezTo>
                <a:lnTo>
                  <a:pt x="5614591" y="3759200"/>
                </a:lnTo>
                <a:cubicBezTo>
                  <a:pt x="5614591" y="3759200"/>
                  <a:pt x="5614591" y="3759200"/>
                  <a:pt x="5614591" y="3759200"/>
                </a:cubicBezTo>
                <a:lnTo>
                  <a:pt x="0" y="3759200"/>
                </a:lnTo>
                <a:cubicBezTo>
                  <a:pt x="0" y="3759200"/>
                  <a:pt x="0" y="3759200"/>
                  <a:pt x="0" y="37592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1C2333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63600" y="1676400"/>
            <a:ext cx="3119934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1" i="0" dirty="0">
                <a:solidFill>
                  <a:srgbClr val="C8A2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 函数 adjust 对应汇编（空缺已补全）</a:t>
            </a:r>
            <a:endParaRPr lang="zh-CN" sz="1400" dirty="0"/>
          </a:p>
        </p:txBody>
      </p:sp>
      <p:sp>
        <p:nvSpPr>
          <p:cNvPr id="8" name="Text 6"/>
          <p:cNvSpPr/>
          <p:nvPr/>
        </p:nvSpPr>
        <p:spPr>
          <a:xfrm>
            <a:off x="863600" y="2152650"/>
            <a:ext cx="2514600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500" b="0" i="0" dirty="0">
                <a:solidFill>
                  <a:srgbClr val="7A8DB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 if (x &gt; y) return x;</a:t>
            </a:r>
            <a:endParaRPr lang="zh-CN" sz="1500" dirty="0"/>
          </a:p>
        </p:txBody>
      </p:sp>
      <p:grpSp>
        <p:nvGrpSpPr>
          <p:cNvPr id="9" name="ma"/>
          <p:cNvGrpSpPr/>
          <p:nvPr/>
        </p:nvGrpSpPr>
        <p:grpSpPr>
          <a:xfrm>
            <a:off x="863600" y="2514600"/>
            <a:ext cx="2247900" cy="190500"/>
            <a:chOff x="863600" y="2514600"/>
            <a:chExt cx="2247900" cy="190500"/>
          </a:xfrm>
        </p:grpSpPr>
        <p:sp>
          <p:nvSpPr>
            <p:cNvPr id="10" name="Text 0"/>
            <p:cNvSpPr/>
            <p:nvPr/>
          </p:nvSpPr>
          <p:spPr>
            <a:xfrm>
              <a:off x="863600" y="2514600"/>
              <a:ext cx="1714500" cy="1905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500" b="1" i="0" dirty="0">
                  <a:solidFill>
                    <a:srgbClr val="FFD479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cmpq %rsi, %rdi</a:t>
              </a:r>
              <a:endParaRPr lang="zh-CN" sz="1500" dirty="0"/>
            </a:p>
          </p:txBody>
        </p:sp>
        <p:sp>
          <p:nvSpPr>
            <p:cNvPr id="11" name="Text 1"/>
            <p:cNvSpPr/>
            <p:nvPr/>
          </p:nvSpPr>
          <p:spPr>
            <a:xfrm>
              <a:off x="2692400" y="2514600"/>
              <a:ext cx="419100" cy="1905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500" b="0" i="0" dirty="0">
                  <a:solidFill>
                    <a:srgbClr val="7A8DB5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; ①</a:t>
              </a:r>
              <a:endParaRPr lang="zh-CN" sz="1500" dirty="0"/>
            </a:p>
          </p:txBody>
        </p:sp>
      </p:grpSp>
      <p:grpSp>
        <p:nvGrpSpPr>
          <p:cNvPr id="12" name="ma"/>
          <p:cNvGrpSpPr/>
          <p:nvPr/>
        </p:nvGrpSpPr>
        <p:grpSpPr>
          <a:xfrm>
            <a:off x="863600" y="2876550"/>
            <a:ext cx="1676400" cy="190500"/>
            <a:chOff x="863600" y="2876550"/>
            <a:chExt cx="1676400" cy="190500"/>
          </a:xfrm>
        </p:grpSpPr>
        <p:sp>
          <p:nvSpPr>
            <p:cNvPr id="13" name="Text 0"/>
            <p:cNvSpPr/>
            <p:nvPr/>
          </p:nvSpPr>
          <p:spPr>
            <a:xfrm>
              <a:off x="863600" y="2876550"/>
              <a:ext cx="1143000" cy="1905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500" b="1" i="0" dirty="0">
                  <a:solidFill>
                    <a:srgbClr val="FFD479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jle .Ldone</a:t>
              </a:r>
              <a:endParaRPr lang="zh-CN" sz="1500" dirty="0"/>
            </a:p>
          </p:txBody>
        </p:sp>
        <p:sp>
          <p:nvSpPr>
            <p:cNvPr id="14" name="Text 1"/>
            <p:cNvSpPr/>
            <p:nvPr/>
          </p:nvSpPr>
          <p:spPr>
            <a:xfrm>
              <a:off x="2120900" y="2876550"/>
              <a:ext cx="419100" cy="1905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500" b="0" i="0" dirty="0">
                  <a:solidFill>
                    <a:srgbClr val="7A8DB5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; ②</a:t>
              </a:r>
              <a:endParaRPr lang="zh-CN" sz="1500" dirty="0"/>
            </a:p>
          </p:txBody>
        </p:sp>
      </p:grpSp>
      <p:sp>
        <p:nvSpPr>
          <p:cNvPr id="15" name="Text 7"/>
          <p:cNvSpPr/>
          <p:nvPr/>
        </p:nvSpPr>
        <p:spPr>
          <a:xfrm>
            <a:off x="863600" y="3238500"/>
            <a:ext cx="1714500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500" b="0" i="0" dirty="0">
                <a:solidFill>
                  <a:srgbClr val="7A8DB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movq %rdi, %rax</a:t>
            </a:r>
            <a:endParaRPr lang="zh-CN" sz="1500" dirty="0"/>
          </a:p>
        </p:txBody>
      </p:sp>
      <p:sp>
        <p:nvSpPr>
          <p:cNvPr id="16" name="Text 8"/>
          <p:cNvSpPr/>
          <p:nvPr/>
        </p:nvSpPr>
        <p:spPr>
          <a:xfrm>
            <a:off x="863600" y="3600450"/>
            <a:ext cx="342900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500" b="0" i="0" dirty="0">
                <a:solidFill>
                  <a:srgbClr val="7A8DB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ret</a:t>
            </a:r>
            <a:endParaRPr lang="zh-CN" sz="1500" dirty="0"/>
          </a:p>
        </p:txBody>
      </p:sp>
      <p:sp>
        <p:nvSpPr>
          <p:cNvPr id="17" name="Text 9"/>
          <p:cNvSpPr/>
          <p:nvPr/>
        </p:nvSpPr>
        <p:spPr>
          <a:xfrm>
            <a:off x="863600" y="3962400"/>
            <a:ext cx="800100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500" b="0" i="0" dirty="0">
                <a:solidFill>
                  <a:srgbClr val="7A8DB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.Ldone:</a:t>
            </a:r>
            <a:endParaRPr lang="zh-CN" sz="1500" dirty="0"/>
          </a:p>
        </p:txBody>
      </p:sp>
      <p:sp>
        <p:nvSpPr>
          <p:cNvPr id="18" name="Text 10"/>
          <p:cNvSpPr/>
          <p:nvPr/>
        </p:nvSpPr>
        <p:spPr>
          <a:xfrm>
            <a:off x="863600" y="4324350"/>
            <a:ext cx="1714500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500" b="0" i="0" dirty="0">
                <a:solidFill>
                  <a:srgbClr val="7A8DB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movq %rsi, %rax</a:t>
            </a:r>
            <a:endParaRPr lang="zh-CN" sz="1500" dirty="0"/>
          </a:p>
        </p:txBody>
      </p:sp>
      <p:sp>
        <p:nvSpPr>
          <p:cNvPr id="19" name="Text 11"/>
          <p:cNvSpPr/>
          <p:nvPr/>
        </p:nvSpPr>
        <p:spPr>
          <a:xfrm>
            <a:off x="863600" y="4686300"/>
            <a:ext cx="342900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500" b="0" i="0" dirty="0">
                <a:solidFill>
                  <a:srgbClr val="7A8DB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ret</a:t>
            </a:r>
            <a:endParaRPr lang="zh-CN" sz="1500" dirty="0"/>
          </a:p>
        </p:txBody>
      </p:sp>
      <p:sp>
        <p:nvSpPr>
          <p:cNvPr id="20" name="Shape 12"/>
          <p:cNvSpPr/>
          <p:nvPr/>
        </p:nvSpPr>
        <p:spPr>
          <a:xfrm>
            <a:off x="609600" y="5397500"/>
            <a:ext cx="5614591" cy="1079500"/>
          </a:xfrm>
          <a:custGeom>
            <a:avLst/>
            <a:gdLst/>
            <a:ahLst/>
            <a:cxnLst/>
            <a:rect l="l" t="t" r="r" b="b"/>
            <a:pathLst>
              <a:path w="5614591" h="1079500">
                <a:moveTo>
                  <a:pt x="0" y="0"/>
                </a:moveTo>
                <a:lnTo>
                  <a:pt x="5614591" y="0"/>
                </a:lnTo>
                <a:cubicBezTo>
                  <a:pt x="5614591" y="0"/>
                  <a:pt x="5614591" y="0"/>
                  <a:pt x="5614591" y="0"/>
                </a:cubicBezTo>
                <a:lnTo>
                  <a:pt x="5614591" y="1079500"/>
                </a:lnTo>
                <a:cubicBezTo>
                  <a:pt x="5614591" y="1079500"/>
                  <a:pt x="5614591" y="1079500"/>
                  <a:pt x="5614591" y="1079500"/>
                </a:cubicBezTo>
                <a:lnTo>
                  <a:pt x="0" y="1079500"/>
                </a:lnTo>
                <a:cubicBezTo>
                  <a:pt x="0" y="1079500"/>
                  <a:pt x="0" y="1079500"/>
                  <a:pt x="0" y="10795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3"/>
          <p:cNvSpPr/>
          <p:nvPr/>
        </p:nvSpPr>
        <p:spPr>
          <a:xfrm>
            <a:off x="609600" y="5400675"/>
            <a:ext cx="5614591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14"/>
          <p:cNvSpPr/>
          <p:nvPr/>
        </p:nvSpPr>
        <p:spPr>
          <a:xfrm>
            <a:off x="6221016" y="5397500"/>
            <a:ext cx="0" cy="107950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15"/>
          <p:cNvSpPr/>
          <p:nvPr/>
        </p:nvSpPr>
        <p:spPr>
          <a:xfrm>
            <a:off x="609600" y="6473825"/>
            <a:ext cx="5614591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16"/>
          <p:cNvSpPr/>
          <p:nvPr/>
        </p:nvSpPr>
        <p:spPr>
          <a:xfrm>
            <a:off x="635000" y="5397500"/>
            <a:ext cx="0" cy="1079500"/>
          </a:xfrm>
          <a:prstGeom prst="line">
            <a:avLst/>
          </a:prstGeom>
          <a:noFill/>
          <a:ln w="50800">
            <a:solidFill>
              <a:srgbClr val="C8A24A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17"/>
          <p:cNvSpPr/>
          <p:nvPr/>
        </p:nvSpPr>
        <p:spPr>
          <a:xfrm>
            <a:off x="889000" y="5594350"/>
            <a:ext cx="355699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1" i="0" dirty="0">
                <a:solidFill>
                  <a:srgbClr val="1E3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答案</a:t>
            </a:r>
            <a:endParaRPr lang="zh-CN" sz="1400" dirty="0"/>
          </a:p>
        </p:txBody>
      </p:sp>
      <p:grpSp>
        <p:nvGrpSpPr>
          <p:cNvPr id="26" name="ma"/>
          <p:cNvGrpSpPr/>
          <p:nvPr/>
        </p:nvGrpSpPr>
        <p:grpSpPr>
          <a:xfrm>
            <a:off x="889000" y="5943600"/>
            <a:ext cx="3593703" cy="279400"/>
            <a:chOff x="889000" y="5943600"/>
            <a:chExt cx="3593703" cy="279400"/>
          </a:xfrm>
        </p:grpSpPr>
        <p:sp>
          <p:nvSpPr>
            <p:cNvPr id="27" name="Text 0"/>
            <p:cNvSpPr/>
            <p:nvPr/>
          </p:nvSpPr>
          <p:spPr>
            <a:xfrm>
              <a:off x="889000" y="5943600"/>
              <a:ext cx="223341" cy="26035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500" b="0" i="0" dirty="0">
                  <a:solidFill>
                    <a:srgbClr val="1C233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(1)</a:t>
              </a:r>
              <a:endParaRPr lang="zh-CN" sz="1500" dirty="0"/>
            </a:p>
          </p:txBody>
        </p:sp>
        <p:sp>
          <p:nvSpPr>
            <p:cNvPr id="28" name="Text 1"/>
            <p:cNvSpPr/>
            <p:nvPr/>
          </p:nvSpPr>
          <p:spPr>
            <a:xfrm>
              <a:off x="3066752" y="5943600"/>
              <a:ext cx="223441" cy="26035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500" b="0" i="0" dirty="0">
                  <a:solidFill>
                    <a:srgbClr val="1C233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(2)</a:t>
              </a:r>
              <a:endParaRPr lang="zh-CN" sz="1500" dirty="0"/>
            </a:p>
          </p:txBody>
        </p:sp>
        <p:sp>
          <p:nvSpPr>
            <p:cNvPr id="29" name="Text 2"/>
            <p:cNvSpPr/>
            <p:nvPr/>
          </p:nvSpPr>
          <p:spPr>
            <a:xfrm>
              <a:off x="1161852" y="6032500"/>
              <a:ext cx="1714500" cy="1905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500" b="1" i="0" dirty="0">
                  <a:solidFill>
                    <a:srgbClr val="3B6BB5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cmpq %rsi, %rdi</a:t>
              </a:r>
              <a:endParaRPr lang="zh-CN" sz="1500" dirty="0"/>
            </a:p>
          </p:txBody>
        </p:sp>
        <p:sp>
          <p:nvSpPr>
            <p:cNvPr id="30" name="Text 3"/>
            <p:cNvSpPr/>
            <p:nvPr/>
          </p:nvSpPr>
          <p:spPr>
            <a:xfrm>
              <a:off x="3339703" y="6032500"/>
              <a:ext cx="1143000" cy="1905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500" b="1" i="0" dirty="0">
                  <a:solidFill>
                    <a:srgbClr val="3B6BB5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jle .Ldone</a:t>
              </a:r>
              <a:endParaRPr lang="zh-CN" sz="1500" dirty="0"/>
            </a:p>
          </p:txBody>
        </p:sp>
      </p:grpSp>
      <p:sp>
        <p:nvSpPr>
          <p:cNvPr id="31" name="Shape 18"/>
          <p:cNvSpPr/>
          <p:nvPr/>
        </p:nvSpPr>
        <p:spPr>
          <a:xfrm>
            <a:off x="6478191" y="1435100"/>
            <a:ext cx="5104209" cy="596900"/>
          </a:xfrm>
          <a:custGeom>
            <a:avLst/>
            <a:gdLst/>
            <a:ahLst/>
            <a:cxnLst/>
            <a:rect l="l" t="t" r="r" b="b"/>
            <a:pathLst>
              <a:path w="5104209" h="596900">
                <a:moveTo>
                  <a:pt x="0" y="0"/>
                </a:moveTo>
                <a:lnTo>
                  <a:pt x="5104209" y="0"/>
                </a:lnTo>
                <a:cubicBezTo>
                  <a:pt x="5104209" y="0"/>
                  <a:pt x="5104209" y="0"/>
                  <a:pt x="5104209" y="0"/>
                </a:cubicBezTo>
                <a:lnTo>
                  <a:pt x="5104209" y="596900"/>
                </a:lnTo>
                <a:cubicBezTo>
                  <a:pt x="5104209" y="596900"/>
                  <a:pt x="5104209" y="596900"/>
                  <a:pt x="5104209" y="596900"/>
                </a:cubicBezTo>
                <a:lnTo>
                  <a:pt x="0" y="596900"/>
                </a:lnTo>
                <a:cubicBezTo>
                  <a:pt x="0" y="596900"/>
                  <a:pt x="0" y="596900"/>
                  <a:pt x="0" y="5969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1E3A6E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19"/>
          <p:cNvSpPr/>
          <p:nvPr/>
        </p:nvSpPr>
        <p:spPr>
          <a:xfrm>
            <a:off x="6706791" y="1606550"/>
            <a:ext cx="1016099" cy="273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600" b="1" i="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核心知识点</a:t>
            </a:r>
            <a:endParaRPr lang="zh-CN" sz="1600" dirty="0"/>
          </a:p>
        </p:txBody>
      </p:sp>
      <p:sp>
        <p:nvSpPr>
          <p:cNvPr id="33" name="Shape 20"/>
          <p:cNvSpPr/>
          <p:nvPr/>
        </p:nvSpPr>
        <p:spPr>
          <a:xfrm>
            <a:off x="6478191" y="2032000"/>
            <a:ext cx="5104209" cy="3975100"/>
          </a:xfrm>
          <a:custGeom>
            <a:avLst/>
            <a:gdLst/>
            <a:ahLst/>
            <a:cxnLst/>
            <a:rect l="l" t="t" r="r" b="b"/>
            <a:pathLst>
              <a:path w="5104209" h="3975100">
                <a:moveTo>
                  <a:pt x="0" y="0"/>
                </a:moveTo>
                <a:lnTo>
                  <a:pt x="5104209" y="0"/>
                </a:lnTo>
                <a:cubicBezTo>
                  <a:pt x="5104209" y="0"/>
                  <a:pt x="5104209" y="0"/>
                  <a:pt x="5104209" y="0"/>
                </a:cubicBezTo>
                <a:lnTo>
                  <a:pt x="5104209" y="3975100"/>
                </a:lnTo>
                <a:cubicBezTo>
                  <a:pt x="5104209" y="3975100"/>
                  <a:pt x="5104209" y="3975100"/>
                  <a:pt x="5104209" y="3975100"/>
                </a:cubicBezTo>
                <a:lnTo>
                  <a:pt x="0" y="3975100"/>
                </a:lnTo>
                <a:cubicBezTo>
                  <a:pt x="0" y="3975100"/>
                  <a:pt x="0" y="3975100"/>
                  <a:pt x="0" y="39751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grpSp>
        <p:nvGrpSpPr>
          <p:cNvPr id="34" name="ma"/>
          <p:cNvGrpSpPr/>
          <p:nvPr/>
        </p:nvGrpSpPr>
        <p:grpSpPr>
          <a:xfrm>
            <a:off x="6713141" y="2266950"/>
            <a:ext cx="3626545" cy="594320"/>
            <a:chOff x="6713141" y="2266950"/>
            <a:chExt cx="3626545" cy="594320"/>
          </a:xfrm>
        </p:grpSpPr>
        <p:sp>
          <p:nvSpPr>
            <p:cNvPr id="35" name="Text 0"/>
            <p:cNvSpPr/>
            <p:nvPr/>
          </p:nvSpPr>
          <p:spPr>
            <a:xfrm>
              <a:off x="6713141" y="2266950"/>
              <a:ext cx="1088330" cy="2413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400" b="0" i="0" dirty="0">
                  <a:solidFill>
                    <a:srgbClr val="1C233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· AT&amp;T 格式：</a:t>
              </a:r>
              <a:endParaRPr lang="zh-CN" sz="1400" dirty="0"/>
            </a:p>
          </p:txBody>
        </p:sp>
        <p:sp>
          <p:nvSpPr>
            <p:cNvPr id="36" name="Text 1"/>
            <p:cNvSpPr/>
            <p:nvPr/>
          </p:nvSpPr>
          <p:spPr>
            <a:xfrm>
              <a:off x="9081691" y="2266950"/>
              <a:ext cx="1257995" cy="2413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400" b="0" i="0" dirty="0">
                  <a:solidFill>
                    <a:srgbClr val="1C233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，计算目的 − 源</a:t>
              </a:r>
              <a:endParaRPr lang="zh-CN" sz="1400" dirty="0"/>
            </a:p>
          </p:txBody>
        </p:sp>
        <p:sp>
          <p:nvSpPr>
            <p:cNvPr id="37" name="Text 2"/>
            <p:cNvSpPr/>
            <p:nvPr/>
          </p:nvSpPr>
          <p:spPr>
            <a:xfrm>
              <a:off x="6713141" y="2619970"/>
              <a:ext cx="3456186" cy="2413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400" b="0" i="0" dirty="0">
                  <a:solidFill>
                    <a:srgbClr val="1C233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· 条件「x&gt;y」不满足（即 x≤y）时跳转返回</a:t>
              </a:r>
              <a:endParaRPr lang="zh-CN" sz="1400" dirty="0"/>
            </a:p>
          </p:txBody>
        </p:sp>
        <p:sp>
          <p:nvSpPr>
            <p:cNvPr id="38" name="Text 3"/>
            <p:cNvSpPr/>
            <p:nvPr/>
          </p:nvSpPr>
          <p:spPr>
            <a:xfrm>
              <a:off x="7801471" y="2349500"/>
              <a:ext cx="1280220" cy="1778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400" b="1" i="0" dirty="0">
                  <a:solidFill>
                    <a:srgbClr val="3B6BB5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cmpq 源, 目的</a:t>
              </a:r>
              <a:endParaRPr lang="zh-CN" sz="1400" dirty="0"/>
            </a:p>
          </p:txBody>
        </p:sp>
      </p:grpSp>
      <p:sp>
        <p:nvSpPr>
          <p:cNvPr id="39" name="Shape 21"/>
          <p:cNvSpPr/>
          <p:nvPr/>
        </p:nvSpPr>
        <p:spPr>
          <a:xfrm>
            <a:off x="6713141" y="3099991"/>
            <a:ext cx="4634309" cy="460375"/>
          </a:xfrm>
          <a:custGeom>
            <a:avLst/>
            <a:gdLst/>
            <a:ahLst/>
            <a:cxnLst/>
            <a:rect l="l" t="t" r="r" b="b"/>
            <a:pathLst>
              <a:path w="4634309" h="460375">
                <a:moveTo>
                  <a:pt x="0" y="0"/>
                </a:moveTo>
                <a:lnTo>
                  <a:pt x="4634309" y="0"/>
                </a:lnTo>
                <a:cubicBezTo>
                  <a:pt x="4634309" y="0"/>
                  <a:pt x="4634309" y="0"/>
                  <a:pt x="4634309" y="0"/>
                </a:cubicBezTo>
                <a:lnTo>
                  <a:pt x="4634309" y="460375"/>
                </a:lnTo>
                <a:cubicBezTo>
                  <a:pt x="4634309" y="460375"/>
                  <a:pt x="4634309" y="460375"/>
                  <a:pt x="4634309" y="460375"/>
                </a:cubicBezTo>
                <a:lnTo>
                  <a:pt x="0" y="460375"/>
                </a:lnTo>
                <a:cubicBezTo>
                  <a:pt x="0" y="460375"/>
                  <a:pt x="0" y="460375"/>
                  <a:pt x="0" y="4603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E2E9F4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Shape 22"/>
          <p:cNvSpPr/>
          <p:nvPr/>
        </p:nvSpPr>
        <p:spPr>
          <a:xfrm>
            <a:off x="6713141" y="3560366"/>
            <a:ext cx="1523504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23"/>
          <p:cNvSpPr/>
          <p:nvPr/>
        </p:nvSpPr>
        <p:spPr>
          <a:xfrm>
            <a:off x="6814741" y="3214291"/>
            <a:ext cx="711299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1" i="0" dirty="0">
                <a:solidFill>
                  <a:srgbClr val="1C2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比较类型</a:t>
            </a:r>
            <a:endParaRPr lang="zh-CN" sz="1400" dirty="0"/>
          </a:p>
        </p:txBody>
      </p:sp>
      <p:sp>
        <p:nvSpPr>
          <p:cNvPr id="42" name="Shape 24"/>
          <p:cNvSpPr/>
          <p:nvPr/>
        </p:nvSpPr>
        <p:spPr>
          <a:xfrm>
            <a:off x="8236645" y="3560366"/>
            <a:ext cx="3110805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25"/>
          <p:cNvSpPr/>
          <p:nvPr/>
        </p:nvSpPr>
        <p:spPr>
          <a:xfrm>
            <a:off x="8338245" y="3214291"/>
            <a:ext cx="889099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1" i="0" dirty="0">
                <a:solidFill>
                  <a:srgbClr val="1C2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跳转指令族</a:t>
            </a:r>
            <a:endParaRPr lang="zh-CN" sz="1400" dirty="0"/>
          </a:p>
        </p:txBody>
      </p:sp>
      <p:sp>
        <p:nvSpPr>
          <p:cNvPr id="44" name="Shape 26"/>
          <p:cNvSpPr/>
          <p:nvPr/>
        </p:nvSpPr>
        <p:spPr>
          <a:xfrm>
            <a:off x="6713141" y="4023916"/>
            <a:ext cx="1523504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27"/>
          <p:cNvSpPr/>
          <p:nvPr/>
        </p:nvSpPr>
        <p:spPr>
          <a:xfrm>
            <a:off x="6814741" y="3677841"/>
            <a:ext cx="889099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0" i="0" dirty="0">
                <a:solidFill>
                  <a:srgbClr val="1C2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有符号比较</a:t>
            </a:r>
            <a:endParaRPr lang="zh-CN" sz="1400" dirty="0"/>
          </a:p>
        </p:txBody>
      </p:sp>
      <p:sp>
        <p:nvSpPr>
          <p:cNvPr id="46" name="Shape 28"/>
          <p:cNvSpPr/>
          <p:nvPr/>
        </p:nvSpPr>
        <p:spPr>
          <a:xfrm>
            <a:off x="8236645" y="4023916"/>
            <a:ext cx="3110805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29"/>
          <p:cNvSpPr/>
          <p:nvPr/>
        </p:nvSpPr>
        <p:spPr>
          <a:xfrm>
            <a:off x="8338245" y="3703241"/>
            <a:ext cx="2026940" cy="177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1" i="0" dirty="0">
                <a:solidFill>
                  <a:srgbClr val="3B6BB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jg / jge / jl / jle</a:t>
            </a:r>
            <a:endParaRPr lang="zh-CN" sz="1400" dirty="0"/>
          </a:p>
        </p:txBody>
      </p:sp>
      <p:sp>
        <p:nvSpPr>
          <p:cNvPr id="48" name="Text 30"/>
          <p:cNvSpPr/>
          <p:nvPr/>
        </p:nvSpPr>
        <p:spPr>
          <a:xfrm>
            <a:off x="6814741" y="4141391"/>
            <a:ext cx="889099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0" i="0" dirty="0">
                <a:solidFill>
                  <a:srgbClr val="1C2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无符号比较</a:t>
            </a:r>
            <a:endParaRPr lang="zh-CN" sz="1400" dirty="0"/>
          </a:p>
        </p:txBody>
      </p:sp>
      <p:sp>
        <p:nvSpPr>
          <p:cNvPr id="49" name="Text 31"/>
          <p:cNvSpPr/>
          <p:nvPr/>
        </p:nvSpPr>
        <p:spPr>
          <a:xfrm>
            <a:off x="8338245" y="4166791"/>
            <a:ext cx="2026940" cy="177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1" i="0" dirty="0">
                <a:solidFill>
                  <a:srgbClr val="3B6BB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ja / jae / jb / jbe</a:t>
            </a:r>
            <a:endParaRPr lang="zh-CN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95300"/>
            <a:ext cx="2312095" cy="5524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3200" b="1" i="0" dirty="0">
                <a:solidFill>
                  <a:srgbClr val="1E3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5.3 循环结构</a:t>
            </a:r>
            <a:endParaRPr lang="zh-CN" sz="3200" dirty="0"/>
          </a:p>
        </p:txBody>
      </p:sp>
      <p:sp>
        <p:nvSpPr>
          <p:cNvPr id="3" name="Shape 1"/>
          <p:cNvSpPr/>
          <p:nvPr/>
        </p:nvSpPr>
        <p:spPr>
          <a:xfrm>
            <a:off x="3074095" y="666750"/>
            <a:ext cx="573484" cy="342900"/>
          </a:xfrm>
          <a:custGeom>
            <a:avLst/>
            <a:gdLst/>
            <a:ahLst/>
            <a:cxnLst/>
            <a:rect l="l" t="t" r="r" b="b"/>
            <a:pathLst>
              <a:path w="573484" h="342900">
                <a:moveTo>
                  <a:pt x="0" y="0"/>
                </a:moveTo>
                <a:lnTo>
                  <a:pt x="573485" y="0"/>
                </a:lnTo>
                <a:cubicBezTo>
                  <a:pt x="573485" y="0"/>
                  <a:pt x="573485" y="0"/>
                  <a:pt x="573485" y="0"/>
                </a:cubicBezTo>
                <a:lnTo>
                  <a:pt x="573485" y="342900"/>
                </a:lnTo>
                <a:cubicBezTo>
                  <a:pt x="573485" y="342900"/>
                  <a:pt x="573485" y="342900"/>
                  <a:pt x="573485" y="342900"/>
                </a:cubicBezTo>
                <a:lnTo>
                  <a:pt x="0" y="342900"/>
                </a:lnTo>
                <a:cubicBezTo>
                  <a:pt x="0" y="342900"/>
                  <a:pt x="0" y="342900"/>
                  <a:pt x="0" y="3429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C8A24A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201095" y="711200"/>
            <a:ext cx="319484" cy="273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600" b="1" i="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4分</a:t>
            </a:r>
            <a:endParaRPr lang="zh-CN" sz="1600" dirty="0"/>
          </a:p>
        </p:txBody>
      </p:sp>
      <p:sp>
        <p:nvSpPr>
          <p:cNvPr id="5" name="Shape 3"/>
          <p:cNvSpPr/>
          <p:nvPr/>
        </p:nvSpPr>
        <p:spPr>
          <a:xfrm>
            <a:off x="609600" y="1174750"/>
            <a:ext cx="609600" cy="31750"/>
          </a:xfrm>
          <a:custGeom>
            <a:avLst/>
            <a:gdLst/>
            <a:ahLst/>
            <a:cxnLst/>
            <a:rect l="l" t="t" r="r" b="b"/>
            <a:pathLst>
              <a:path w="609600" h="31750">
                <a:moveTo>
                  <a:pt x="0" y="0"/>
                </a:moveTo>
                <a:lnTo>
                  <a:pt x="609600" y="0"/>
                </a:lnTo>
                <a:cubicBezTo>
                  <a:pt x="609600" y="0"/>
                  <a:pt x="609600" y="0"/>
                  <a:pt x="609600" y="0"/>
                </a:cubicBezTo>
                <a:lnTo>
                  <a:pt x="609600" y="31750"/>
                </a:lnTo>
                <a:cubicBezTo>
                  <a:pt x="609600" y="31750"/>
                  <a:pt x="609600" y="31750"/>
                  <a:pt x="609600" y="31750"/>
                </a:cubicBezTo>
                <a:lnTo>
                  <a:pt x="0" y="31750"/>
                </a:lnTo>
                <a:cubicBezTo>
                  <a:pt x="0" y="31750"/>
                  <a:pt x="0" y="31750"/>
                  <a:pt x="0" y="3175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C8A24A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09600" y="1435100"/>
            <a:ext cx="5614591" cy="3321050"/>
          </a:xfrm>
          <a:custGeom>
            <a:avLst/>
            <a:gdLst/>
            <a:ahLst/>
            <a:cxnLst/>
            <a:rect l="l" t="t" r="r" b="b"/>
            <a:pathLst>
              <a:path w="5614591" h="3321050">
                <a:moveTo>
                  <a:pt x="0" y="0"/>
                </a:moveTo>
                <a:lnTo>
                  <a:pt x="5614591" y="0"/>
                </a:lnTo>
                <a:cubicBezTo>
                  <a:pt x="5614591" y="0"/>
                  <a:pt x="5614591" y="0"/>
                  <a:pt x="5614591" y="0"/>
                </a:cubicBezTo>
                <a:lnTo>
                  <a:pt x="5614591" y="3321050"/>
                </a:lnTo>
                <a:cubicBezTo>
                  <a:pt x="5614591" y="3321050"/>
                  <a:pt x="5614591" y="3321050"/>
                  <a:pt x="5614591" y="3321050"/>
                </a:cubicBezTo>
                <a:lnTo>
                  <a:pt x="0" y="3321050"/>
                </a:lnTo>
                <a:cubicBezTo>
                  <a:pt x="0" y="3321050"/>
                  <a:pt x="0" y="3321050"/>
                  <a:pt x="0" y="332105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1C2333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63600" y="1651000"/>
            <a:ext cx="2207816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1" i="0" dirty="0">
                <a:solidFill>
                  <a:srgbClr val="C8A2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汇编关键片段 → C 代码空缺</a:t>
            </a:r>
            <a:endParaRPr lang="zh-CN" sz="1400" dirty="0"/>
          </a:p>
        </p:txBody>
      </p:sp>
      <p:sp>
        <p:nvSpPr>
          <p:cNvPr id="8" name="Text 6"/>
          <p:cNvSpPr/>
          <p:nvPr/>
        </p:nvSpPr>
        <p:spPr>
          <a:xfrm>
            <a:off x="863600" y="2101850"/>
            <a:ext cx="800100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500" b="0" i="0" dirty="0">
                <a:solidFill>
                  <a:srgbClr val="7A8DB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.Lloop:</a:t>
            </a:r>
            <a:endParaRPr lang="zh-CN" sz="1500" dirty="0"/>
          </a:p>
        </p:txBody>
      </p:sp>
      <p:sp>
        <p:nvSpPr>
          <p:cNvPr id="9" name="Text 7"/>
          <p:cNvSpPr/>
          <p:nvPr/>
        </p:nvSpPr>
        <p:spPr>
          <a:xfrm>
            <a:off x="863600" y="2463800"/>
            <a:ext cx="1828800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500" b="0" i="0" dirty="0">
                <a:solidFill>
                  <a:srgbClr val="7A8DB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testq %rdi, %rdi</a:t>
            </a:r>
            <a:endParaRPr lang="zh-CN" sz="1500" dirty="0"/>
          </a:p>
        </p:txBody>
      </p:sp>
      <p:grpSp>
        <p:nvGrpSpPr>
          <p:cNvPr id="10" name="ma"/>
          <p:cNvGrpSpPr/>
          <p:nvPr/>
        </p:nvGrpSpPr>
        <p:grpSpPr>
          <a:xfrm>
            <a:off x="863600" y="2825750"/>
            <a:ext cx="3238500" cy="190500"/>
            <a:chOff x="863600" y="2825750"/>
            <a:chExt cx="3238500" cy="190500"/>
          </a:xfrm>
        </p:grpSpPr>
        <p:sp>
          <p:nvSpPr>
            <p:cNvPr id="11" name="Text 0"/>
            <p:cNvSpPr/>
            <p:nvPr/>
          </p:nvSpPr>
          <p:spPr>
            <a:xfrm>
              <a:off x="863600" y="2825750"/>
              <a:ext cx="1028700" cy="1905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500" b="1" i="0" dirty="0">
                  <a:solidFill>
                    <a:srgbClr val="FFD479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je .Ldone</a:t>
              </a:r>
              <a:endParaRPr lang="zh-CN" sz="1500" dirty="0"/>
            </a:p>
          </p:txBody>
        </p:sp>
        <p:sp>
          <p:nvSpPr>
            <p:cNvPr id="12" name="Text 1"/>
            <p:cNvSpPr/>
            <p:nvPr/>
          </p:nvSpPr>
          <p:spPr>
            <a:xfrm>
              <a:off x="2006600" y="2825750"/>
              <a:ext cx="2095500" cy="1905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500" b="0" i="0" dirty="0">
                  <a:solidFill>
                    <a:srgbClr val="7A8DB5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; 循环条件 ① x != 0</a:t>
              </a:r>
              <a:endParaRPr lang="zh-CN" sz="1500" dirty="0"/>
            </a:p>
          </p:txBody>
        </p:sp>
      </p:grpSp>
      <p:sp>
        <p:nvSpPr>
          <p:cNvPr id="13" name="Text 8"/>
          <p:cNvSpPr/>
          <p:nvPr/>
        </p:nvSpPr>
        <p:spPr>
          <a:xfrm>
            <a:off x="863600" y="3187700"/>
            <a:ext cx="1714500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500" b="0" i="0" dirty="0">
                <a:solidFill>
                  <a:srgbClr val="7A8DB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movq %rdi, %rax</a:t>
            </a:r>
            <a:endParaRPr lang="zh-CN" sz="1500" dirty="0"/>
          </a:p>
        </p:txBody>
      </p:sp>
      <p:grpSp>
        <p:nvGrpSpPr>
          <p:cNvPr id="14" name="ma"/>
          <p:cNvGrpSpPr/>
          <p:nvPr/>
        </p:nvGrpSpPr>
        <p:grpSpPr>
          <a:xfrm>
            <a:off x="863600" y="3549650"/>
            <a:ext cx="3200400" cy="190500"/>
            <a:chOff x="863600" y="3549650"/>
            <a:chExt cx="3200400" cy="190500"/>
          </a:xfrm>
        </p:grpSpPr>
        <p:sp>
          <p:nvSpPr>
            <p:cNvPr id="15" name="Text 0"/>
            <p:cNvSpPr/>
            <p:nvPr/>
          </p:nvSpPr>
          <p:spPr>
            <a:xfrm>
              <a:off x="863600" y="3549650"/>
              <a:ext cx="1485900" cy="1905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500" b="0" i="0" dirty="0">
                  <a:solidFill>
                    <a:srgbClr val="7A8DB5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andq $3, %rax</a:t>
              </a:r>
              <a:endParaRPr lang="zh-CN" sz="1500" dirty="0"/>
            </a:p>
          </p:txBody>
        </p:sp>
        <p:sp>
          <p:nvSpPr>
            <p:cNvPr id="16" name="Text 1"/>
            <p:cNvSpPr/>
            <p:nvPr/>
          </p:nvSpPr>
          <p:spPr>
            <a:xfrm>
              <a:off x="2463800" y="3549650"/>
              <a:ext cx="1600200" cy="1905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500" b="0" i="0" dirty="0">
                  <a:solidFill>
                    <a:srgbClr val="7A8DB5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; 累加 ② x &amp; 3</a:t>
              </a:r>
              <a:endParaRPr lang="zh-CN" sz="1500" dirty="0"/>
            </a:p>
          </p:txBody>
        </p:sp>
      </p:grpSp>
      <p:grpSp>
        <p:nvGrpSpPr>
          <p:cNvPr id="17" name="ma"/>
          <p:cNvGrpSpPr/>
          <p:nvPr/>
        </p:nvGrpSpPr>
        <p:grpSpPr>
          <a:xfrm>
            <a:off x="863600" y="3911600"/>
            <a:ext cx="3314700" cy="190500"/>
            <a:chOff x="863600" y="3911600"/>
            <a:chExt cx="3314700" cy="190500"/>
          </a:xfrm>
        </p:grpSpPr>
        <p:sp>
          <p:nvSpPr>
            <p:cNvPr id="18" name="Text 0"/>
            <p:cNvSpPr/>
            <p:nvPr/>
          </p:nvSpPr>
          <p:spPr>
            <a:xfrm>
              <a:off x="863600" y="3911600"/>
              <a:ext cx="1485900" cy="1905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500" b="0" i="0" dirty="0">
                  <a:solidFill>
                    <a:srgbClr val="7A8DB5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shrq $2, %rdi</a:t>
              </a:r>
              <a:endParaRPr lang="zh-CN" sz="1500" dirty="0"/>
            </a:p>
          </p:txBody>
        </p:sp>
        <p:sp>
          <p:nvSpPr>
            <p:cNvPr id="19" name="Text 1"/>
            <p:cNvSpPr/>
            <p:nvPr/>
          </p:nvSpPr>
          <p:spPr>
            <a:xfrm>
              <a:off x="2463800" y="3911600"/>
              <a:ext cx="1714500" cy="1905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500" b="0" i="0" dirty="0">
                  <a:solidFill>
                    <a:srgbClr val="7A8DB5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; 更新 ③ x &gt;&gt; 2</a:t>
              </a:r>
              <a:endParaRPr lang="zh-CN" sz="1500" dirty="0"/>
            </a:p>
          </p:txBody>
        </p:sp>
      </p:grpSp>
      <p:sp>
        <p:nvSpPr>
          <p:cNvPr id="20" name="Text 9"/>
          <p:cNvSpPr/>
          <p:nvPr/>
        </p:nvSpPr>
        <p:spPr>
          <a:xfrm>
            <a:off x="863600" y="4273550"/>
            <a:ext cx="1143000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500" b="0" i="0" dirty="0">
                <a:solidFill>
                  <a:srgbClr val="7A8DB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jmp .Lloop</a:t>
            </a:r>
            <a:endParaRPr lang="zh-CN" sz="1500" dirty="0"/>
          </a:p>
        </p:txBody>
      </p:sp>
      <p:sp>
        <p:nvSpPr>
          <p:cNvPr id="21" name="Shape 10"/>
          <p:cNvSpPr/>
          <p:nvPr/>
        </p:nvSpPr>
        <p:spPr>
          <a:xfrm>
            <a:off x="609600" y="4959350"/>
            <a:ext cx="5614591" cy="1016000"/>
          </a:xfrm>
          <a:custGeom>
            <a:avLst/>
            <a:gdLst/>
            <a:ahLst/>
            <a:cxnLst/>
            <a:rect l="l" t="t" r="r" b="b"/>
            <a:pathLst>
              <a:path w="5614591" h="1016000">
                <a:moveTo>
                  <a:pt x="0" y="0"/>
                </a:moveTo>
                <a:lnTo>
                  <a:pt x="5614591" y="0"/>
                </a:lnTo>
                <a:cubicBezTo>
                  <a:pt x="5614591" y="0"/>
                  <a:pt x="5614591" y="0"/>
                  <a:pt x="5614591" y="0"/>
                </a:cubicBezTo>
                <a:lnTo>
                  <a:pt x="5614591" y="1016000"/>
                </a:lnTo>
                <a:cubicBezTo>
                  <a:pt x="5614591" y="1016000"/>
                  <a:pt x="5614591" y="1016000"/>
                  <a:pt x="5614591" y="1016000"/>
                </a:cubicBezTo>
                <a:lnTo>
                  <a:pt x="0" y="1016000"/>
                </a:lnTo>
                <a:cubicBezTo>
                  <a:pt x="0" y="1016000"/>
                  <a:pt x="0" y="1016000"/>
                  <a:pt x="0" y="10160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11"/>
          <p:cNvSpPr/>
          <p:nvPr/>
        </p:nvSpPr>
        <p:spPr>
          <a:xfrm>
            <a:off x="609600" y="4962525"/>
            <a:ext cx="5614591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12"/>
          <p:cNvSpPr/>
          <p:nvPr/>
        </p:nvSpPr>
        <p:spPr>
          <a:xfrm>
            <a:off x="6221016" y="4959350"/>
            <a:ext cx="0" cy="101600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13"/>
          <p:cNvSpPr/>
          <p:nvPr/>
        </p:nvSpPr>
        <p:spPr>
          <a:xfrm>
            <a:off x="609600" y="5972175"/>
            <a:ext cx="5614591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14"/>
          <p:cNvSpPr/>
          <p:nvPr/>
        </p:nvSpPr>
        <p:spPr>
          <a:xfrm>
            <a:off x="635000" y="4959350"/>
            <a:ext cx="0" cy="1016000"/>
          </a:xfrm>
          <a:prstGeom prst="line">
            <a:avLst/>
          </a:prstGeom>
          <a:noFill/>
          <a:ln w="50800">
            <a:solidFill>
              <a:srgbClr val="C8A24A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15"/>
          <p:cNvSpPr/>
          <p:nvPr/>
        </p:nvSpPr>
        <p:spPr>
          <a:xfrm>
            <a:off x="889000" y="5130800"/>
            <a:ext cx="355699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1" i="0" dirty="0">
                <a:solidFill>
                  <a:srgbClr val="1E3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答案</a:t>
            </a:r>
            <a:endParaRPr lang="zh-CN" sz="1400" dirty="0"/>
          </a:p>
        </p:txBody>
      </p:sp>
      <p:grpSp>
        <p:nvGrpSpPr>
          <p:cNvPr id="27" name="ma"/>
          <p:cNvGrpSpPr/>
          <p:nvPr/>
        </p:nvGrpSpPr>
        <p:grpSpPr>
          <a:xfrm>
            <a:off x="889000" y="5467350"/>
            <a:ext cx="4098925" cy="279400"/>
            <a:chOff x="889000" y="5467350"/>
            <a:chExt cx="4098925" cy="279400"/>
          </a:xfrm>
        </p:grpSpPr>
        <p:sp>
          <p:nvSpPr>
            <p:cNvPr id="28" name="Text 0"/>
            <p:cNvSpPr/>
            <p:nvPr/>
          </p:nvSpPr>
          <p:spPr>
            <a:xfrm>
              <a:off x="889000" y="5467350"/>
              <a:ext cx="381000" cy="26035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500" b="0" i="0" dirty="0">
                  <a:solidFill>
                    <a:srgbClr val="1C233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条件</a:t>
              </a:r>
              <a:endParaRPr lang="zh-CN" sz="1500" dirty="0"/>
            </a:p>
          </p:txBody>
        </p:sp>
        <p:sp>
          <p:nvSpPr>
            <p:cNvPr id="29" name="Text 1"/>
            <p:cNvSpPr/>
            <p:nvPr/>
          </p:nvSpPr>
          <p:spPr>
            <a:xfrm>
              <a:off x="2195810" y="5467350"/>
              <a:ext cx="51197" cy="26035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500" b="0" i="0" dirty="0">
                  <a:solidFill>
                    <a:srgbClr val="1C233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·</a:t>
              </a:r>
              <a:endParaRPr lang="zh-CN" sz="1500" dirty="0"/>
            </a:p>
          </p:txBody>
        </p:sp>
        <p:sp>
          <p:nvSpPr>
            <p:cNvPr id="30" name="Text 2"/>
            <p:cNvSpPr/>
            <p:nvPr/>
          </p:nvSpPr>
          <p:spPr>
            <a:xfrm>
              <a:off x="2437408" y="5467350"/>
              <a:ext cx="381099" cy="26035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500" b="0" i="0" dirty="0">
                  <a:solidFill>
                    <a:srgbClr val="1C233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累加</a:t>
              </a:r>
              <a:endParaRPr lang="zh-CN" sz="1500" dirty="0"/>
            </a:p>
          </p:txBody>
        </p:sp>
        <p:sp>
          <p:nvSpPr>
            <p:cNvPr id="31" name="Text 3"/>
            <p:cNvSpPr/>
            <p:nvPr/>
          </p:nvSpPr>
          <p:spPr>
            <a:xfrm>
              <a:off x="3629918" y="5467350"/>
              <a:ext cx="51197" cy="26035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500" b="0" i="0" dirty="0">
                  <a:solidFill>
                    <a:srgbClr val="1C233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·</a:t>
              </a:r>
              <a:endParaRPr lang="zh-CN" sz="1500" dirty="0"/>
            </a:p>
          </p:txBody>
        </p:sp>
        <p:sp>
          <p:nvSpPr>
            <p:cNvPr id="32" name="Text 4"/>
            <p:cNvSpPr/>
            <p:nvPr/>
          </p:nvSpPr>
          <p:spPr>
            <a:xfrm>
              <a:off x="3871516" y="5467350"/>
              <a:ext cx="381099" cy="26035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500" b="0" i="0" dirty="0">
                  <a:solidFill>
                    <a:srgbClr val="1C233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更新</a:t>
              </a:r>
              <a:endParaRPr lang="zh-CN" sz="1500" dirty="0"/>
            </a:p>
          </p:txBody>
        </p:sp>
        <p:sp>
          <p:nvSpPr>
            <p:cNvPr id="33" name="Text 5"/>
            <p:cNvSpPr/>
            <p:nvPr/>
          </p:nvSpPr>
          <p:spPr>
            <a:xfrm>
              <a:off x="1319609" y="5556250"/>
              <a:ext cx="685800" cy="1905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500" b="1" i="0" dirty="0">
                  <a:solidFill>
                    <a:srgbClr val="3B6BB5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x != 0</a:t>
              </a:r>
              <a:endParaRPr lang="zh-CN" sz="1500" dirty="0"/>
            </a:p>
          </p:txBody>
        </p:sp>
        <p:sp>
          <p:nvSpPr>
            <p:cNvPr id="34" name="Text 6"/>
            <p:cNvSpPr/>
            <p:nvPr/>
          </p:nvSpPr>
          <p:spPr>
            <a:xfrm>
              <a:off x="2868017" y="5556250"/>
              <a:ext cx="571500" cy="1905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500" b="1" i="0" dirty="0">
                  <a:solidFill>
                    <a:srgbClr val="3B6BB5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x &amp; 3</a:t>
              </a:r>
              <a:endParaRPr lang="zh-CN" sz="1500" dirty="0"/>
            </a:p>
          </p:txBody>
        </p:sp>
        <p:sp>
          <p:nvSpPr>
            <p:cNvPr id="35" name="Text 7"/>
            <p:cNvSpPr/>
            <p:nvPr/>
          </p:nvSpPr>
          <p:spPr>
            <a:xfrm>
              <a:off x="4302125" y="5556250"/>
              <a:ext cx="685800" cy="1905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500" b="1" i="0" dirty="0">
                  <a:solidFill>
                    <a:srgbClr val="3B6BB5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x &gt;&gt; 2</a:t>
              </a:r>
              <a:endParaRPr lang="zh-CN" sz="1500" dirty="0"/>
            </a:p>
          </p:txBody>
        </p:sp>
      </p:grpSp>
      <p:sp>
        <p:nvSpPr>
          <p:cNvPr id="36" name="Shape 16"/>
          <p:cNvSpPr/>
          <p:nvPr/>
        </p:nvSpPr>
        <p:spPr>
          <a:xfrm>
            <a:off x="6478191" y="1435100"/>
            <a:ext cx="5104209" cy="2813050"/>
          </a:xfrm>
          <a:custGeom>
            <a:avLst/>
            <a:gdLst/>
            <a:ahLst/>
            <a:cxnLst/>
            <a:rect l="l" t="t" r="r" b="b"/>
            <a:pathLst>
              <a:path w="5104209" h="2813050">
                <a:moveTo>
                  <a:pt x="0" y="0"/>
                </a:moveTo>
                <a:lnTo>
                  <a:pt x="5104209" y="0"/>
                </a:lnTo>
                <a:cubicBezTo>
                  <a:pt x="5104209" y="0"/>
                  <a:pt x="5104209" y="0"/>
                  <a:pt x="5104209" y="0"/>
                </a:cubicBezTo>
                <a:lnTo>
                  <a:pt x="5104209" y="2813050"/>
                </a:lnTo>
                <a:cubicBezTo>
                  <a:pt x="5104209" y="2813050"/>
                  <a:pt x="5104209" y="2813050"/>
                  <a:pt x="5104209" y="2813050"/>
                </a:cubicBezTo>
                <a:lnTo>
                  <a:pt x="0" y="2813050"/>
                </a:lnTo>
                <a:cubicBezTo>
                  <a:pt x="0" y="2813050"/>
                  <a:pt x="0" y="2813050"/>
                  <a:pt x="0" y="281305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17"/>
          <p:cNvSpPr/>
          <p:nvPr/>
        </p:nvSpPr>
        <p:spPr>
          <a:xfrm>
            <a:off x="6713141" y="1631950"/>
            <a:ext cx="2292945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1" i="0" dirty="0">
                <a:solidFill>
                  <a:srgbClr val="1E3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求值过程：x = 0x1B，返回 6</a:t>
            </a:r>
            <a:endParaRPr lang="zh-CN" sz="1400" dirty="0"/>
          </a:p>
        </p:txBody>
      </p:sp>
      <p:sp>
        <p:nvSpPr>
          <p:cNvPr id="38" name="Shape 18"/>
          <p:cNvSpPr/>
          <p:nvPr/>
        </p:nvSpPr>
        <p:spPr>
          <a:xfrm>
            <a:off x="6713141" y="1974850"/>
            <a:ext cx="4634309" cy="409575"/>
          </a:xfrm>
          <a:custGeom>
            <a:avLst/>
            <a:gdLst/>
            <a:ahLst/>
            <a:cxnLst/>
            <a:rect l="l" t="t" r="r" b="b"/>
            <a:pathLst>
              <a:path w="4634309" h="409575">
                <a:moveTo>
                  <a:pt x="0" y="0"/>
                </a:moveTo>
                <a:lnTo>
                  <a:pt x="4634309" y="0"/>
                </a:lnTo>
                <a:cubicBezTo>
                  <a:pt x="4634309" y="0"/>
                  <a:pt x="4634309" y="0"/>
                  <a:pt x="4634309" y="0"/>
                </a:cubicBezTo>
                <a:lnTo>
                  <a:pt x="4634309" y="409575"/>
                </a:lnTo>
                <a:cubicBezTo>
                  <a:pt x="4634309" y="409575"/>
                  <a:pt x="4634309" y="409575"/>
                  <a:pt x="4634309" y="409575"/>
                </a:cubicBezTo>
                <a:lnTo>
                  <a:pt x="0" y="409575"/>
                </a:lnTo>
                <a:cubicBezTo>
                  <a:pt x="0" y="409575"/>
                  <a:pt x="0" y="409575"/>
                  <a:pt x="0" y="4095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E2E9F4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Shape 19"/>
          <p:cNvSpPr/>
          <p:nvPr/>
        </p:nvSpPr>
        <p:spPr>
          <a:xfrm>
            <a:off x="6713141" y="2384425"/>
            <a:ext cx="1189633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20"/>
          <p:cNvSpPr/>
          <p:nvPr/>
        </p:nvSpPr>
        <p:spPr>
          <a:xfrm>
            <a:off x="7130058" y="2063750"/>
            <a:ext cx="355699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altLang="en-US" sz="1400" b="1" i="0" dirty="0">
                <a:solidFill>
                  <a:srgbClr val="1C2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轮次</a:t>
            </a:r>
            <a:endParaRPr lang="zh-CN" sz="1400" dirty="0"/>
          </a:p>
        </p:txBody>
      </p:sp>
      <p:sp>
        <p:nvSpPr>
          <p:cNvPr id="41" name="Shape 21"/>
          <p:cNvSpPr/>
          <p:nvPr/>
        </p:nvSpPr>
        <p:spPr>
          <a:xfrm>
            <a:off x="7902773" y="2384425"/>
            <a:ext cx="1355923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22"/>
          <p:cNvSpPr/>
          <p:nvPr/>
        </p:nvSpPr>
        <p:spPr>
          <a:xfrm>
            <a:off x="8529340" y="2057400"/>
            <a:ext cx="102791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altLang="en-US" sz="1400" b="1" i="0" dirty="0">
                <a:solidFill>
                  <a:srgbClr val="1C2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x</a:t>
            </a:r>
            <a:endParaRPr lang="zh-CN" sz="1400" dirty="0"/>
          </a:p>
        </p:txBody>
      </p:sp>
      <p:sp>
        <p:nvSpPr>
          <p:cNvPr id="43" name="Shape 23"/>
          <p:cNvSpPr/>
          <p:nvPr/>
        </p:nvSpPr>
        <p:spPr>
          <a:xfrm>
            <a:off x="9258697" y="2384425"/>
            <a:ext cx="2088753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24"/>
          <p:cNvSpPr/>
          <p:nvPr/>
        </p:nvSpPr>
        <p:spPr>
          <a:xfrm>
            <a:off x="9933186" y="2063750"/>
            <a:ext cx="739676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altLang="en-US" sz="1400" b="1" i="0" dirty="0">
                <a:solidFill>
                  <a:srgbClr val="1C2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累加 x&amp;3</a:t>
            </a:r>
            <a:endParaRPr lang="zh-CN" sz="1400" dirty="0"/>
          </a:p>
        </p:txBody>
      </p:sp>
      <p:sp>
        <p:nvSpPr>
          <p:cNvPr id="45" name="Shape 25"/>
          <p:cNvSpPr/>
          <p:nvPr/>
        </p:nvSpPr>
        <p:spPr>
          <a:xfrm>
            <a:off x="6713141" y="2784475"/>
            <a:ext cx="1189633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26"/>
          <p:cNvSpPr/>
          <p:nvPr/>
        </p:nvSpPr>
        <p:spPr>
          <a:xfrm>
            <a:off x="7257058" y="2463800"/>
            <a:ext cx="101798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altLang="en-US" sz="1400" b="0" i="0" dirty="0">
                <a:solidFill>
                  <a:srgbClr val="1C2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zh-CN" sz="1400" dirty="0"/>
          </a:p>
        </p:txBody>
      </p:sp>
      <p:sp>
        <p:nvSpPr>
          <p:cNvPr id="47" name="Shape 27"/>
          <p:cNvSpPr/>
          <p:nvPr/>
        </p:nvSpPr>
        <p:spPr>
          <a:xfrm>
            <a:off x="7902773" y="2784475"/>
            <a:ext cx="1355923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28"/>
          <p:cNvSpPr/>
          <p:nvPr/>
        </p:nvSpPr>
        <p:spPr>
          <a:xfrm>
            <a:off x="8367316" y="2495550"/>
            <a:ext cx="426740" cy="177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altLang="en-US" sz="1400" b="0" i="0" dirty="0">
                <a:solidFill>
                  <a:srgbClr val="1C233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0x1B</a:t>
            </a:r>
            <a:endParaRPr lang="zh-CN" sz="1400" dirty="0"/>
          </a:p>
        </p:txBody>
      </p:sp>
      <p:sp>
        <p:nvSpPr>
          <p:cNvPr id="49" name="Shape 29"/>
          <p:cNvSpPr/>
          <p:nvPr/>
        </p:nvSpPr>
        <p:spPr>
          <a:xfrm>
            <a:off x="9258697" y="2784475"/>
            <a:ext cx="2088753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30"/>
          <p:cNvSpPr/>
          <p:nvPr/>
        </p:nvSpPr>
        <p:spPr>
          <a:xfrm>
            <a:off x="10252174" y="2463800"/>
            <a:ext cx="101798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altLang="en-US" sz="1400" b="1" i="0" dirty="0">
                <a:solidFill>
                  <a:srgbClr val="1E3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zh-CN" sz="1400" dirty="0"/>
          </a:p>
        </p:txBody>
      </p:sp>
      <p:sp>
        <p:nvSpPr>
          <p:cNvPr id="51" name="Shape 31"/>
          <p:cNvSpPr/>
          <p:nvPr/>
        </p:nvSpPr>
        <p:spPr>
          <a:xfrm>
            <a:off x="6713141" y="3184525"/>
            <a:ext cx="1189633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32"/>
          <p:cNvSpPr/>
          <p:nvPr/>
        </p:nvSpPr>
        <p:spPr>
          <a:xfrm>
            <a:off x="7257058" y="2863850"/>
            <a:ext cx="101798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altLang="en-US" sz="1400" b="0" i="0" dirty="0">
                <a:solidFill>
                  <a:srgbClr val="1C2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zh-CN" sz="1400" dirty="0"/>
          </a:p>
        </p:txBody>
      </p:sp>
      <p:sp>
        <p:nvSpPr>
          <p:cNvPr id="53" name="Shape 33"/>
          <p:cNvSpPr/>
          <p:nvPr/>
        </p:nvSpPr>
        <p:spPr>
          <a:xfrm>
            <a:off x="7902773" y="3184525"/>
            <a:ext cx="1355923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34"/>
          <p:cNvSpPr/>
          <p:nvPr/>
        </p:nvSpPr>
        <p:spPr>
          <a:xfrm>
            <a:off x="8367316" y="2895600"/>
            <a:ext cx="426740" cy="177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altLang="en-US" sz="1400" b="0" i="0" dirty="0">
                <a:solidFill>
                  <a:srgbClr val="1C233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0x06</a:t>
            </a:r>
            <a:endParaRPr lang="zh-CN" sz="1400" dirty="0"/>
          </a:p>
        </p:txBody>
      </p:sp>
      <p:sp>
        <p:nvSpPr>
          <p:cNvPr id="55" name="Shape 35"/>
          <p:cNvSpPr/>
          <p:nvPr/>
        </p:nvSpPr>
        <p:spPr>
          <a:xfrm>
            <a:off x="9258697" y="3184525"/>
            <a:ext cx="2088753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36"/>
          <p:cNvSpPr/>
          <p:nvPr/>
        </p:nvSpPr>
        <p:spPr>
          <a:xfrm>
            <a:off x="10252174" y="2863850"/>
            <a:ext cx="101798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altLang="en-US" sz="1400" b="1" i="0" dirty="0">
                <a:solidFill>
                  <a:srgbClr val="1E3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zh-CN" sz="1400" dirty="0"/>
          </a:p>
        </p:txBody>
      </p:sp>
      <p:sp>
        <p:nvSpPr>
          <p:cNvPr id="57" name="Text 37"/>
          <p:cNvSpPr/>
          <p:nvPr/>
        </p:nvSpPr>
        <p:spPr>
          <a:xfrm>
            <a:off x="7257058" y="3263900"/>
            <a:ext cx="101798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altLang="en-US" sz="1400" b="0" i="0" dirty="0">
                <a:solidFill>
                  <a:srgbClr val="1C2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zh-CN" sz="1400" dirty="0"/>
          </a:p>
        </p:txBody>
      </p:sp>
      <p:sp>
        <p:nvSpPr>
          <p:cNvPr id="58" name="Text 38"/>
          <p:cNvSpPr/>
          <p:nvPr/>
        </p:nvSpPr>
        <p:spPr>
          <a:xfrm>
            <a:off x="8367316" y="3295650"/>
            <a:ext cx="426740" cy="177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altLang="en-US" sz="1400" b="0" i="0" dirty="0">
                <a:solidFill>
                  <a:srgbClr val="1C233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0x01</a:t>
            </a:r>
            <a:endParaRPr lang="zh-CN" sz="1400" dirty="0"/>
          </a:p>
        </p:txBody>
      </p:sp>
      <p:sp>
        <p:nvSpPr>
          <p:cNvPr id="59" name="Text 39"/>
          <p:cNvSpPr/>
          <p:nvPr/>
        </p:nvSpPr>
        <p:spPr>
          <a:xfrm>
            <a:off x="10252174" y="3263900"/>
            <a:ext cx="101798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altLang="en-US" sz="1400" b="1" i="0" dirty="0">
                <a:solidFill>
                  <a:srgbClr val="1E3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zh-CN" sz="1400" dirty="0"/>
          </a:p>
        </p:txBody>
      </p:sp>
      <p:grpSp>
        <p:nvGrpSpPr>
          <p:cNvPr id="60" name="ma"/>
          <p:cNvGrpSpPr/>
          <p:nvPr/>
        </p:nvGrpSpPr>
        <p:grpSpPr>
          <a:xfrm>
            <a:off x="6713141" y="3683000"/>
            <a:ext cx="1110852" cy="381000"/>
            <a:chOff x="6713141" y="3683000"/>
            <a:chExt cx="1110852" cy="381000"/>
          </a:xfrm>
        </p:grpSpPr>
        <p:sp>
          <p:nvSpPr>
            <p:cNvPr id="61" name="Text 0"/>
            <p:cNvSpPr/>
            <p:nvPr/>
          </p:nvSpPr>
          <p:spPr>
            <a:xfrm>
              <a:off x="6713141" y="3778250"/>
              <a:ext cx="901502" cy="26035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500" b="0" i="0" dirty="0">
                  <a:solidFill>
                    <a:srgbClr val="1C233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3 + 2 + 1 =</a:t>
              </a:r>
              <a:endParaRPr lang="zh-CN" sz="1500" dirty="0"/>
            </a:p>
          </p:txBody>
        </p:sp>
        <p:sp>
          <p:nvSpPr>
            <p:cNvPr id="62" name="Text 1"/>
            <p:cNvSpPr/>
            <p:nvPr/>
          </p:nvSpPr>
          <p:spPr>
            <a:xfrm>
              <a:off x="7664152" y="3683000"/>
              <a:ext cx="159841" cy="3810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2200" b="1" i="0" dirty="0">
                  <a:solidFill>
                    <a:srgbClr val="C8A24A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6</a:t>
              </a:r>
              <a:endParaRPr lang="zh-CN" sz="2200" dirty="0"/>
            </a:p>
          </p:txBody>
        </p:sp>
      </p:grpSp>
      <p:sp>
        <p:nvSpPr>
          <p:cNvPr id="63" name="Shape 40"/>
          <p:cNvSpPr/>
          <p:nvPr/>
        </p:nvSpPr>
        <p:spPr>
          <a:xfrm>
            <a:off x="6478191" y="4451350"/>
            <a:ext cx="5104209" cy="2092722"/>
          </a:xfrm>
          <a:custGeom>
            <a:avLst/>
            <a:gdLst/>
            <a:ahLst/>
            <a:cxnLst/>
            <a:rect l="l" t="t" r="r" b="b"/>
            <a:pathLst>
              <a:path w="5104209" h="2092722">
                <a:moveTo>
                  <a:pt x="0" y="0"/>
                </a:moveTo>
                <a:lnTo>
                  <a:pt x="5104209" y="0"/>
                </a:lnTo>
                <a:cubicBezTo>
                  <a:pt x="5104209" y="0"/>
                  <a:pt x="5104209" y="0"/>
                  <a:pt x="5104209" y="0"/>
                </a:cubicBezTo>
                <a:lnTo>
                  <a:pt x="5104209" y="2092722"/>
                </a:lnTo>
                <a:cubicBezTo>
                  <a:pt x="5104209" y="2092722"/>
                  <a:pt x="5104209" y="2092722"/>
                  <a:pt x="5104209" y="2092722"/>
                </a:cubicBezTo>
                <a:lnTo>
                  <a:pt x="0" y="2092722"/>
                </a:lnTo>
                <a:cubicBezTo>
                  <a:pt x="0" y="2092722"/>
                  <a:pt x="0" y="2092722"/>
                  <a:pt x="0" y="2092722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41"/>
          <p:cNvSpPr/>
          <p:nvPr/>
        </p:nvSpPr>
        <p:spPr>
          <a:xfrm>
            <a:off x="6713141" y="4648200"/>
            <a:ext cx="889099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1" i="0" dirty="0">
                <a:solidFill>
                  <a:srgbClr val="1E3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核心知识点</a:t>
            </a:r>
            <a:endParaRPr lang="zh-CN" sz="1400" dirty="0"/>
          </a:p>
        </p:txBody>
      </p:sp>
      <p:grpSp>
        <p:nvGrpSpPr>
          <p:cNvPr id="65" name="ma"/>
          <p:cNvGrpSpPr/>
          <p:nvPr/>
        </p:nvGrpSpPr>
        <p:grpSpPr>
          <a:xfrm>
            <a:off x="6713141" y="5016500"/>
            <a:ext cx="4538960" cy="1302841"/>
            <a:chOff x="6713141" y="5016500"/>
            <a:chExt cx="4538960" cy="1302841"/>
          </a:xfrm>
        </p:grpSpPr>
        <p:sp>
          <p:nvSpPr>
            <p:cNvPr id="66" name="Text 0"/>
            <p:cNvSpPr/>
            <p:nvPr/>
          </p:nvSpPr>
          <p:spPr>
            <a:xfrm>
              <a:off x="6713141" y="5016500"/>
              <a:ext cx="47724" cy="2413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400" b="0" i="0" dirty="0">
                  <a:solidFill>
                    <a:srgbClr val="1C233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·</a:t>
              </a:r>
              <a:endParaRPr lang="zh-CN" sz="1400" dirty="0"/>
            </a:p>
          </p:txBody>
        </p:sp>
        <p:sp>
          <p:nvSpPr>
            <p:cNvPr id="67" name="Text 1"/>
            <p:cNvSpPr/>
            <p:nvPr/>
          </p:nvSpPr>
          <p:spPr>
            <a:xfrm>
              <a:off x="7493397" y="5016500"/>
              <a:ext cx="1888530" cy="2413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400" b="0" i="0" dirty="0">
                  <a:solidFill>
                    <a:srgbClr val="1C233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取最低2位，非负 x 等价</a:t>
              </a:r>
              <a:endParaRPr lang="zh-CN" sz="1400" dirty="0"/>
            </a:p>
          </p:txBody>
        </p:sp>
        <p:sp>
          <p:nvSpPr>
            <p:cNvPr id="68" name="Text 2"/>
            <p:cNvSpPr/>
            <p:nvPr/>
          </p:nvSpPr>
          <p:spPr>
            <a:xfrm>
              <a:off x="6713141" y="5387280"/>
              <a:ext cx="47724" cy="2413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400" b="0" i="0" dirty="0">
                  <a:solidFill>
                    <a:srgbClr val="1C233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·</a:t>
              </a:r>
              <a:endParaRPr lang="zh-CN" sz="1400" dirty="0"/>
            </a:p>
          </p:txBody>
        </p:sp>
        <p:sp>
          <p:nvSpPr>
            <p:cNvPr id="69" name="Text 3"/>
            <p:cNvSpPr/>
            <p:nvPr/>
          </p:nvSpPr>
          <p:spPr>
            <a:xfrm>
              <a:off x="7493397" y="5387280"/>
              <a:ext cx="2244130" cy="2413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400" b="0" i="0" dirty="0">
                  <a:solidFill>
                    <a:srgbClr val="1C233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逻辑右移2位，无符号 x 等价</a:t>
              </a:r>
              <a:endParaRPr lang="zh-CN" sz="1400" dirty="0"/>
            </a:p>
          </p:txBody>
        </p:sp>
        <p:sp>
          <p:nvSpPr>
            <p:cNvPr id="70" name="Text 4"/>
            <p:cNvSpPr/>
            <p:nvPr/>
          </p:nvSpPr>
          <p:spPr>
            <a:xfrm>
              <a:off x="6713141" y="5758061"/>
              <a:ext cx="4538960" cy="2413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400" b="0" i="0" dirty="0">
                  <a:solidFill>
                    <a:srgbClr val="1C233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· 汇编循环标准结构：先判断条件，成立进入循环体，循环</a:t>
              </a:r>
              <a:endParaRPr lang="zh-CN" sz="1400" dirty="0"/>
            </a:p>
          </p:txBody>
        </p:sp>
        <p:sp>
          <p:nvSpPr>
            <p:cNvPr id="71" name="Text 5"/>
            <p:cNvSpPr/>
            <p:nvPr/>
          </p:nvSpPr>
          <p:spPr>
            <a:xfrm>
              <a:off x="6713141" y="6078041"/>
              <a:ext cx="889099" cy="2413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400" b="0" i="0" dirty="0">
                  <a:solidFill>
                    <a:srgbClr val="1C233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后回到判断</a:t>
              </a:r>
              <a:endParaRPr lang="zh-CN" sz="1400" dirty="0"/>
            </a:p>
          </p:txBody>
        </p:sp>
        <p:sp>
          <p:nvSpPr>
            <p:cNvPr id="72" name="Text 6"/>
            <p:cNvSpPr/>
            <p:nvPr/>
          </p:nvSpPr>
          <p:spPr>
            <a:xfrm>
              <a:off x="6807101" y="5099050"/>
              <a:ext cx="640159" cy="1778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400" b="1" i="0" dirty="0">
                  <a:solidFill>
                    <a:srgbClr val="3B6BB5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and $3</a:t>
              </a:r>
              <a:endParaRPr lang="zh-CN" sz="1400" dirty="0"/>
            </a:p>
          </p:txBody>
        </p:sp>
        <p:sp>
          <p:nvSpPr>
            <p:cNvPr id="73" name="Text 7"/>
            <p:cNvSpPr/>
            <p:nvPr/>
          </p:nvSpPr>
          <p:spPr>
            <a:xfrm>
              <a:off x="9428163" y="5099050"/>
              <a:ext cx="533499" cy="1778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400" b="1" i="0" dirty="0">
                  <a:solidFill>
                    <a:srgbClr val="3B6BB5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x % 4</a:t>
              </a:r>
              <a:endParaRPr lang="zh-CN" sz="1400" dirty="0"/>
            </a:p>
          </p:txBody>
        </p:sp>
        <p:sp>
          <p:nvSpPr>
            <p:cNvPr id="74" name="Text 8"/>
            <p:cNvSpPr/>
            <p:nvPr/>
          </p:nvSpPr>
          <p:spPr>
            <a:xfrm>
              <a:off x="6807101" y="5469830"/>
              <a:ext cx="640159" cy="1778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400" b="1" i="0" dirty="0">
                  <a:solidFill>
                    <a:srgbClr val="3B6BB5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shr $2</a:t>
              </a:r>
              <a:endParaRPr lang="zh-CN" sz="1400" dirty="0"/>
            </a:p>
          </p:txBody>
        </p:sp>
        <p:sp>
          <p:nvSpPr>
            <p:cNvPr id="75" name="Text 9"/>
            <p:cNvSpPr/>
            <p:nvPr/>
          </p:nvSpPr>
          <p:spPr>
            <a:xfrm>
              <a:off x="9783763" y="5469830"/>
              <a:ext cx="533499" cy="1778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400" b="1" i="0" dirty="0">
                  <a:solidFill>
                    <a:srgbClr val="3B6BB5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x / 4</a:t>
              </a:r>
              <a:endParaRPr lang="zh-CN" sz="1400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95300"/>
            <a:ext cx="1905695" cy="5524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3200" b="1" i="0" dirty="0">
                <a:solidFill>
                  <a:srgbClr val="1E3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5.4 跳转表</a:t>
            </a:r>
            <a:endParaRPr lang="zh-CN" sz="3200" dirty="0"/>
          </a:p>
        </p:txBody>
      </p:sp>
      <p:sp>
        <p:nvSpPr>
          <p:cNvPr id="3" name="Shape 1"/>
          <p:cNvSpPr/>
          <p:nvPr/>
        </p:nvSpPr>
        <p:spPr>
          <a:xfrm>
            <a:off x="2667695" y="666750"/>
            <a:ext cx="573484" cy="342900"/>
          </a:xfrm>
          <a:custGeom>
            <a:avLst/>
            <a:gdLst/>
            <a:ahLst/>
            <a:cxnLst/>
            <a:rect l="l" t="t" r="r" b="b"/>
            <a:pathLst>
              <a:path w="573484" h="342900">
                <a:moveTo>
                  <a:pt x="0" y="0"/>
                </a:moveTo>
                <a:lnTo>
                  <a:pt x="573485" y="0"/>
                </a:lnTo>
                <a:cubicBezTo>
                  <a:pt x="573485" y="0"/>
                  <a:pt x="573485" y="0"/>
                  <a:pt x="573485" y="0"/>
                </a:cubicBezTo>
                <a:lnTo>
                  <a:pt x="573485" y="342900"/>
                </a:lnTo>
                <a:cubicBezTo>
                  <a:pt x="573485" y="342900"/>
                  <a:pt x="573485" y="342900"/>
                  <a:pt x="573485" y="342900"/>
                </a:cubicBezTo>
                <a:lnTo>
                  <a:pt x="0" y="342900"/>
                </a:lnTo>
                <a:cubicBezTo>
                  <a:pt x="0" y="342900"/>
                  <a:pt x="0" y="342900"/>
                  <a:pt x="0" y="3429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C8A24A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794695" y="711200"/>
            <a:ext cx="319484" cy="273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600" b="1" i="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6分</a:t>
            </a:r>
            <a:endParaRPr lang="zh-CN" sz="1600" dirty="0"/>
          </a:p>
        </p:txBody>
      </p:sp>
      <p:sp>
        <p:nvSpPr>
          <p:cNvPr id="5" name="Shape 3"/>
          <p:cNvSpPr/>
          <p:nvPr/>
        </p:nvSpPr>
        <p:spPr>
          <a:xfrm>
            <a:off x="609600" y="1174750"/>
            <a:ext cx="609600" cy="31750"/>
          </a:xfrm>
          <a:custGeom>
            <a:avLst/>
            <a:gdLst/>
            <a:ahLst/>
            <a:cxnLst/>
            <a:rect l="l" t="t" r="r" b="b"/>
            <a:pathLst>
              <a:path w="609600" h="31750">
                <a:moveTo>
                  <a:pt x="0" y="0"/>
                </a:moveTo>
                <a:lnTo>
                  <a:pt x="609600" y="0"/>
                </a:lnTo>
                <a:cubicBezTo>
                  <a:pt x="609600" y="0"/>
                  <a:pt x="609600" y="0"/>
                  <a:pt x="609600" y="0"/>
                </a:cubicBezTo>
                <a:lnTo>
                  <a:pt x="609600" y="31750"/>
                </a:lnTo>
                <a:cubicBezTo>
                  <a:pt x="609600" y="31750"/>
                  <a:pt x="609600" y="31750"/>
                  <a:pt x="609600" y="31750"/>
                </a:cubicBezTo>
                <a:lnTo>
                  <a:pt x="0" y="31750"/>
                </a:lnTo>
                <a:cubicBezTo>
                  <a:pt x="0" y="31750"/>
                  <a:pt x="0" y="31750"/>
                  <a:pt x="0" y="3175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C8A24A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09600" y="1435100"/>
            <a:ext cx="3522067" cy="1289050"/>
          </a:xfrm>
          <a:custGeom>
            <a:avLst/>
            <a:gdLst/>
            <a:ahLst/>
            <a:cxnLst/>
            <a:rect l="l" t="t" r="r" b="b"/>
            <a:pathLst>
              <a:path w="3522067" h="1289050">
                <a:moveTo>
                  <a:pt x="0" y="0"/>
                </a:moveTo>
                <a:lnTo>
                  <a:pt x="3522067" y="0"/>
                </a:lnTo>
                <a:cubicBezTo>
                  <a:pt x="3522067" y="0"/>
                  <a:pt x="3522067" y="0"/>
                  <a:pt x="3522067" y="0"/>
                </a:cubicBezTo>
                <a:lnTo>
                  <a:pt x="3522067" y="1289050"/>
                </a:lnTo>
                <a:cubicBezTo>
                  <a:pt x="3522067" y="1289050"/>
                  <a:pt x="3522067" y="1289050"/>
                  <a:pt x="3522067" y="1289050"/>
                </a:cubicBezTo>
                <a:lnTo>
                  <a:pt x="0" y="1289050"/>
                </a:lnTo>
                <a:cubicBezTo>
                  <a:pt x="0" y="1289050"/>
                  <a:pt x="0" y="1289050"/>
                  <a:pt x="0" y="128905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09600" y="1454150"/>
            <a:ext cx="3522067" cy="0"/>
          </a:xfrm>
          <a:prstGeom prst="line">
            <a:avLst/>
          </a:prstGeom>
          <a:noFill/>
          <a:ln w="38100">
            <a:solidFill>
              <a:srgbClr val="3B6BB5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128492" y="1435100"/>
            <a:ext cx="0" cy="128905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09600" y="2720975"/>
            <a:ext cx="3522067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12775" y="1435100"/>
            <a:ext cx="0" cy="128905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19150" y="1651000"/>
            <a:ext cx="948333" cy="2603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500" b="0" i="0" dirty="0">
                <a:solidFill>
                  <a:srgbClr val="1C2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select(1, 4)</a:t>
            </a:r>
            <a:endParaRPr lang="zh-CN" sz="1500" dirty="0"/>
          </a:p>
        </p:txBody>
      </p:sp>
      <p:sp>
        <p:nvSpPr>
          <p:cNvPr id="12" name="Text 10"/>
          <p:cNvSpPr/>
          <p:nvPr/>
        </p:nvSpPr>
        <p:spPr>
          <a:xfrm>
            <a:off x="819150" y="1987550"/>
            <a:ext cx="803077" cy="5524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3200" b="1" i="0" dirty="0">
                <a:solidFill>
                  <a:srgbClr val="1E3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= 11</a:t>
            </a:r>
            <a:endParaRPr lang="zh-CN" sz="3200" dirty="0"/>
          </a:p>
        </p:txBody>
      </p:sp>
      <p:sp>
        <p:nvSpPr>
          <p:cNvPr id="13" name="Shape 11"/>
          <p:cNvSpPr/>
          <p:nvPr/>
        </p:nvSpPr>
        <p:spPr>
          <a:xfrm>
            <a:off x="4334867" y="1435100"/>
            <a:ext cx="3522166" cy="1289050"/>
          </a:xfrm>
          <a:custGeom>
            <a:avLst/>
            <a:gdLst/>
            <a:ahLst/>
            <a:cxnLst/>
            <a:rect l="l" t="t" r="r" b="b"/>
            <a:pathLst>
              <a:path w="3522166" h="1289050">
                <a:moveTo>
                  <a:pt x="0" y="0"/>
                </a:moveTo>
                <a:lnTo>
                  <a:pt x="3522167" y="0"/>
                </a:lnTo>
                <a:cubicBezTo>
                  <a:pt x="3522167" y="0"/>
                  <a:pt x="3522167" y="0"/>
                  <a:pt x="3522167" y="0"/>
                </a:cubicBezTo>
                <a:lnTo>
                  <a:pt x="3522167" y="1289050"/>
                </a:lnTo>
                <a:cubicBezTo>
                  <a:pt x="3522167" y="1289050"/>
                  <a:pt x="3522167" y="1289050"/>
                  <a:pt x="3522167" y="1289050"/>
                </a:cubicBezTo>
                <a:lnTo>
                  <a:pt x="0" y="1289050"/>
                </a:lnTo>
                <a:cubicBezTo>
                  <a:pt x="0" y="1289050"/>
                  <a:pt x="0" y="1289050"/>
                  <a:pt x="0" y="128905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334867" y="1454150"/>
            <a:ext cx="3522166" cy="0"/>
          </a:xfrm>
          <a:prstGeom prst="line">
            <a:avLst/>
          </a:prstGeom>
          <a:noFill/>
          <a:ln w="38100">
            <a:solidFill>
              <a:srgbClr val="3B6BB5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7853859" y="1435100"/>
            <a:ext cx="0" cy="128905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334867" y="2720975"/>
            <a:ext cx="3522166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338042" y="1435100"/>
            <a:ext cx="0" cy="128905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544417" y="1651000"/>
            <a:ext cx="948333" cy="2603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500" b="0" i="0" dirty="0">
                <a:solidFill>
                  <a:srgbClr val="1C2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select(5, 4)</a:t>
            </a:r>
            <a:endParaRPr lang="zh-CN" sz="1500" dirty="0"/>
          </a:p>
        </p:txBody>
      </p:sp>
      <p:sp>
        <p:nvSpPr>
          <p:cNvPr id="19" name="Text 17"/>
          <p:cNvSpPr/>
          <p:nvPr/>
        </p:nvSpPr>
        <p:spPr>
          <a:xfrm>
            <a:off x="4544417" y="1987550"/>
            <a:ext cx="570607" cy="5524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3200" b="1" i="0" dirty="0">
                <a:solidFill>
                  <a:srgbClr val="1E3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= 3</a:t>
            </a:r>
            <a:endParaRPr lang="zh-CN" sz="3200" dirty="0"/>
          </a:p>
        </p:txBody>
      </p:sp>
      <p:sp>
        <p:nvSpPr>
          <p:cNvPr id="20" name="Shape 18"/>
          <p:cNvSpPr/>
          <p:nvPr/>
        </p:nvSpPr>
        <p:spPr>
          <a:xfrm>
            <a:off x="8060234" y="1435100"/>
            <a:ext cx="3522166" cy="1289050"/>
          </a:xfrm>
          <a:custGeom>
            <a:avLst/>
            <a:gdLst/>
            <a:ahLst/>
            <a:cxnLst/>
            <a:rect l="l" t="t" r="r" b="b"/>
            <a:pathLst>
              <a:path w="3522166" h="1289050">
                <a:moveTo>
                  <a:pt x="0" y="0"/>
                </a:moveTo>
                <a:lnTo>
                  <a:pt x="3522167" y="0"/>
                </a:lnTo>
                <a:cubicBezTo>
                  <a:pt x="3522167" y="0"/>
                  <a:pt x="3522167" y="0"/>
                  <a:pt x="3522167" y="0"/>
                </a:cubicBezTo>
                <a:lnTo>
                  <a:pt x="3522167" y="1289050"/>
                </a:lnTo>
                <a:cubicBezTo>
                  <a:pt x="3522167" y="1289050"/>
                  <a:pt x="3522167" y="1289050"/>
                  <a:pt x="3522167" y="1289050"/>
                </a:cubicBezTo>
                <a:lnTo>
                  <a:pt x="0" y="1289050"/>
                </a:lnTo>
                <a:cubicBezTo>
                  <a:pt x="0" y="1289050"/>
                  <a:pt x="0" y="1289050"/>
                  <a:pt x="0" y="128905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8060234" y="1454150"/>
            <a:ext cx="3522166" cy="0"/>
          </a:xfrm>
          <a:prstGeom prst="line">
            <a:avLst/>
          </a:prstGeom>
          <a:noFill/>
          <a:ln w="38100">
            <a:solidFill>
              <a:srgbClr val="3B6BB5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11579225" y="1435100"/>
            <a:ext cx="0" cy="128905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8060234" y="2720975"/>
            <a:ext cx="3522166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8063409" y="1435100"/>
            <a:ext cx="0" cy="128905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269784" y="1651000"/>
            <a:ext cx="1009650" cy="2603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500" b="0" i="0" dirty="0">
                <a:solidFill>
                  <a:srgbClr val="1C2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select(-1, 4)</a:t>
            </a:r>
            <a:endParaRPr lang="zh-CN" sz="1500" dirty="0"/>
          </a:p>
        </p:txBody>
      </p:sp>
      <p:sp>
        <p:nvSpPr>
          <p:cNvPr id="26" name="Text 24"/>
          <p:cNvSpPr/>
          <p:nvPr/>
        </p:nvSpPr>
        <p:spPr>
          <a:xfrm>
            <a:off x="8269784" y="1987550"/>
            <a:ext cx="570607" cy="5524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3200" b="1" i="0" dirty="0">
                <a:solidFill>
                  <a:srgbClr val="1E3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= 0</a:t>
            </a:r>
            <a:endParaRPr lang="zh-CN" sz="3200" dirty="0"/>
          </a:p>
        </p:txBody>
      </p:sp>
      <p:sp>
        <p:nvSpPr>
          <p:cNvPr id="27" name="Shape 25"/>
          <p:cNvSpPr/>
          <p:nvPr/>
        </p:nvSpPr>
        <p:spPr>
          <a:xfrm>
            <a:off x="609600" y="2927350"/>
            <a:ext cx="4549775" cy="2413000"/>
          </a:xfrm>
          <a:custGeom>
            <a:avLst/>
            <a:gdLst/>
            <a:ahLst/>
            <a:cxnLst/>
            <a:rect l="l" t="t" r="r" b="b"/>
            <a:pathLst>
              <a:path w="4549775" h="2413000">
                <a:moveTo>
                  <a:pt x="0" y="0"/>
                </a:moveTo>
                <a:lnTo>
                  <a:pt x="4549775" y="0"/>
                </a:lnTo>
                <a:cubicBezTo>
                  <a:pt x="4549775" y="0"/>
                  <a:pt x="4549775" y="0"/>
                  <a:pt x="4549775" y="0"/>
                </a:cubicBezTo>
                <a:lnTo>
                  <a:pt x="4549775" y="2413000"/>
                </a:lnTo>
                <a:cubicBezTo>
                  <a:pt x="4549775" y="2413000"/>
                  <a:pt x="4549775" y="2413000"/>
                  <a:pt x="4549775" y="2413000"/>
                </a:cubicBezTo>
                <a:lnTo>
                  <a:pt x="0" y="2413000"/>
                </a:lnTo>
                <a:cubicBezTo>
                  <a:pt x="0" y="2413000"/>
                  <a:pt x="0" y="2413000"/>
                  <a:pt x="0" y="24130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44550" y="3124200"/>
            <a:ext cx="889099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1" i="0" dirty="0">
                <a:solidFill>
                  <a:srgbClr val="1E3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跳转表原理</a:t>
            </a:r>
            <a:endParaRPr lang="zh-CN" sz="1400" dirty="0"/>
          </a:p>
        </p:txBody>
      </p:sp>
      <p:sp>
        <p:nvSpPr>
          <p:cNvPr id="29" name="Text 27"/>
          <p:cNvSpPr/>
          <p:nvPr/>
        </p:nvSpPr>
        <p:spPr>
          <a:xfrm>
            <a:off x="844550" y="3505200"/>
            <a:ext cx="3733998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0" i="0" dirty="0">
                <a:solidFill>
                  <a:srgbClr val="1C2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· 用数组存储各分支代码地址，按索引 O(1) 跳转</a:t>
            </a:r>
            <a:endParaRPr lang="zh-CN" sz="1400" dirty="0"/>
          </a:p>
        </p:txBody>
      </p:sp>
      <p:sp>
        <p:nvSpPr>
          <p:cNvPr id="30" name="Text 28"/>
          <p:cNvSpPr/>
          <p:nvPr/>
        </p:nvSpPr>
        <p:spPr>
          <a:xfrm>
            <a:off x="844550" y="3825180"/>
            <a:ext cx="2150765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0" i="0" dirty="0">
                <a:solidFill>
                  <a:srgbClr val="1C2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· 效率高于 if-else 链的 O(n)</a:t>
            </a:r>
            <a:endParaRPr lang="zh-CN" sz="1400" dirty="0"/>
          </a:p>
        </p:txBody>
      </p:sp>
      <p:sp>
        <p:nvSpPr>
          <p:cNvPr id="31" name="Shape 29"/>
          <p:cNvSpPr/>
          <p:nvPr/>
        </p:nvSpPr>
        <p:spPr>
          <a:xfrm>
            <a:off x="5413375" y="2927350"/>
            <a:ext cx="6169025" cy="2413000"/>
          </a:xfrm>
          <a:custGeom>
            <a:avLst/>
            <a:gdLst/>
            <a:ahLst/>
            <a:cxnLst/>
            <a:rect l="l" t="t" r="r" b="b"/>
            <a:pathLst>
              <a:path w="6169025" h="2413000">
                <a:moveTo>
                  <a:pt x="0" y="0"/>
                </a:moveTo>
                <a:lnTo>
                  <a:pt x="6169025" y="0"/>
                </a:lnTo>
                <a:cubicBezTo>
                  <a:pt x="6169025" y="0"/>
                  <a:pt x="6169025" y="0"/>
                  <a:pt x="6169025" y="0"/>
                </a:cubicBezTo>
                <a:lnTo>
                  <a:pt x="6169025" y="2413000"/>
                </a:lnTo>
                <a:cubicBezTo>
                  <a:pt x="6169025" y="2413000"/>
                  <a:pt x="6169025" y="2413000"/>
                  <a:pt x="6169025" y="2413000"/>
                </a:cubicBezTo>
                <a:lnTo>
                  <a:pt x="0" y="2413000"/>
                </a:lnTo>
                <a:cubicBezTo>
                  <a:pt x="0" y="2413000"/>
                  <a:pt x="0" y="2413000"/>
                  <a:pt x="0" y="24130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1C2333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641975" y="3117850"/>
            <a:ext cx="711299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1" i="0" dirty="0">
                <a:solidFill>
                  <a:srgbClr val="C8A2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地址计算</a:t>
            </a:r>
            <a:endParaRPr lang="zh-CN" sz="1400" dirty="0"/>
          </a:p>
        </p:txBody>
      </p:sp>
      <p:grpSp>
        <p:nvGrpSpPr>
          <p:cNvPr id="33" name="ma"/>
          <p:cNvGrpSpPr/>
          <p:nvPr/>
        </p:nvGrpSpPr>
        <p:grpSpPr>
          <a:xfrm>
            <a:off x="5641975" y="3536950"/>
            <a:ext cx="2316658" cy="203200"/>
            <a:chOff x="5641975" y="3536950"/>
            <a:chExt cx="2316658" cy="203200"/>
          </a:xfrm>
        </p:grpSpPr>
        <p:sp>
          <p:nvSpPr>
            <p:cNvPr id="34" name="Text 0"/>
            <p:cNvSpPr/>
            <p:nvPr/>
          </p:nvSpPr>
          <p:spPr>
            <a:xfrm>
              <a:off x="5641975" y="3536950"/>
              <a:ext cx="609699" cy="2032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600" b="0" i="0" dirty="0">
                  <a:solidFill>
                    <a:srgbClr val="E8ECF5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jmp *</a:t>
              </a:r>
              <a:endParaRPr lang="zh-CN" sz="1600" dirty="0"/>
            </a:p>
          </p:txBody>
        </p:sp>
        <p:sp>
          <p:nvSpPr>
            <p:cNvPr id="35" name="Text 1"/>
            <p:cNvSpPr/>
            <p:nvPr/>
          </p:nvSpPr>
          <p:spPr>
            <a:xfrm>
              <a:off x="6251674" y="3536950"/>
              <a:ext cx="1706959" cy="2032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600" b="1" i="0" dirty="0">
                  <a:solidFill>
                    <a:srgbClr val="FFD479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.Ltab(,%rdi,8)</a:t>
              </a:r>
              <a:endParaRPr lang="zh-CN" sz="1600" dirty="0"/>
            </a:p>
          </p:txBody>
        </p:sp>
      </p:grpSp>
      <p:sp>
        <p:nvSpPr>
          <p:cNvPr id="36" name="Text 31"/>
          <p:cNvSpPr/>
          <p:nvPr/>
        </p:nvSpPr>
        <p:spPr>
          <a:xfrm>
            <a:off x="5641975" y="3902670"/>
            <a:ext cx="2763540" cy="203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600" b="0" i="0" dirty="0">
                <a:solidFill>
                  <a:srgbClr val="7A8DB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目标地址 = .Ltab + x × 8</a:t>
            </a:r>
            <a:endParaRPr lang="zh-CN" sz="1600" dirty="0"/>
          </a:p>
        </p:txBody>
      </p:sp>
      <p:sp>
        <p:nvSpPr>
          <p:cNvPr id="37" name="Text 32"/>
          <p:cNvSpPr/>
          <p:nvPr/>
        </p:nvSpPr>
        <p:spPr>
          <a:xfrm>
            <a:off x="5641975" y="4331891"/>
            <a:ext cx="5131197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300" b="0" i="0" dirty="0">
                <a:solidFill>
                  <a:srgbClr val="AEBAD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ja 为无符号大于跳转；负数按无符号解释为极大值，进入默认分支（如</a:t>
            </a:r>
            <a:endParaRPr lang="zh-CN" sz="1300" dirty="0"/>
          </a:p>
        </p:txBody>
      </p:sp>
      <p:sp>
        <p:nvSpPr>
          <p:cNvPr id="38" name="Text 33"/>
          <p:cNvSpPr/>
          <p:nvPr/>
        </p:nvSpPr>
        <p:spPr>
          <a:xfrm>
            <a:off x="5641975" y="4612481"/>
            <a:ext cx="118616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300" b="0" i="0" dirty="0">
                <a:solidFill>
                  <a:srgbClr val="AEBAD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select(-1,4)=0）</a:t>
            </a:r>
            <a:endParaRPr lang="zh-CN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55588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300" b="1" i="0" kern="0" spc="200" dirty="0">
                <a:solidFill>
                  <a:srgbClr val="3B6BB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LECTURE 6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609600" y="831850"/>
            <a:ext cx="4374555" cy="6731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3900" b="1" i="0" dirty="0">
                <a:solidFill>
                  <a:srgbClr val="1E3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第6讲 栈与过程调用</a:t>
            </a:r>
            <a:endParaRPr lang="zh-CN" sz="3900" dirty="0"/>
          </a:p>
        </p:txBody>
      </p:sp>
      <p:sp>
        <p:nvSpPr>
          <p:cNvPr id="4" name="Shape 2"/>
          <p:cNvSpPr/>
          <p:nvPr/>
        </p:nvSpPr>
        <p:spPr>
          <a:xfrm>
            <a:off x="609600" y="1682750"/>
            <a:ext cx="609600" cy="31750"/>
          </a:xfrm>
          <a:custGeom>
            <a:avLst/>
            <a:gdLst/>
            <a:ahLst/>
            <a:cxnLst/>
            <a:rect l="l" t="t" r="r" b="b"/>
            <a:pathLst>
              <a:path w="609600" h="31750">
                <a:moveTo>
                  <a:pt x="0" y="0"/>
                </a:moveTo>
                <a:lnTo>
                  <a:pt x="609600" y="0"/>
                </a:lnTo>
                <a:cubicBezTo>
                  <a:pt x="609600" y="0"/>
                  <a:pt x="609600" y="0"/>
                  <a:pt x="609600" y="0"/>
                </a:cubicBezTo>
                <a:lnTo>
                  <a:pt x="609600" y="31750"/>
                </a:lnTo>
                <a:cubicBezTo>
                  <a:pt x="609600" y="31750"/>
                  <a:pt x="609600" y="31750"/>
                  <a:pt x="609600" y="31750"/>
                </a:cubicBezTo>
                <a:lnTo>
                  <a:pt x="0" y="31750"/>
                </a:lnTo>
                <a:cubicBezTo>
                  <a:pt x="0" y="31750"/>
                  <a:pt x="0" y="31750"/>
                  <a:pt x="0" y="3175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C8A24A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09600" y="1993900"/>
            <a:ext cx="3522067" cy="3556000"/>
          </a:xfrm>
          <a:custGeom>
            <a:avLst/>
            <a:gdLst/>
            <a:ahLst/>
            <a:cxnLst/>
            <a:rect l="l" t="t" r="r" b="b"/>
            <a:pathLst>
              <a:path w="3522067" h="3556000">
                <a:moveTo>
                  <a:pt x="0" y="0"/>
                </a:moveTo>
                <a:lnTo>
                  <a:pt x="3522067" y="0"/>
                </a:lnTo>
                <a:cubicBezTo>
                  <a:pt x="3522067" y="0"/>
                  <a:pt x="3522067" y="0"/>
                  <a:pt x="3522067" y="0"/>
                </a:cubicBezTo>
                <a:lnTo>
                  <a:pt x="3522067" y="3556000"/>
                </a:lnTo>
                <a:cubicBezTo>
                  <a:pt x="3522067" y="3556000"/>
                  <a:pt x="3522067" y="3556000"/>
                  <a:pt x="3522067" y="3556000"/>
                </a:cubicBezTo>
                <a:lnTo>
                  <a:pt x="0" y="3556000"/>
                </a:lnTo>
                <a:cubicBezTo>
                  <a:pt x="0" y="3556000"/>
                  <a:pt x="0" y="3556000"/>
                  <a:pt x="0" y="35560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09600" y="2012950"/>
            <a:ext cx="3522067" cy="0"/>
          </a:xfrm>
          <a:prstGeom prst="line">
            <a:avLst/>
          </a:prstGeom>
          <a:noFill/>
          <a:ln w="38100">
            <a:solidFill>
              <a:srgbClr val="C8A24A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128492" y="1993900"/>
            <a:ext cx="0" cy="355600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09600" y="5546725"/>
            <a:ext cx="3522067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12775" y="1993900"/>
            <a:ext cx="0" cy="355600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844550" y="2286000"/>
            <a:ext cx="558800" cy="330200"/>
          </a:xfrm>
          <a:custGeom>
            <a:avLst/>
            <a:gdLst/>
            <a:ahLst/>
            <a:cxnLst/>
            <a:rect l="l" t="t" r="r" b="b"/>
            <a:pathLst>
              <a:path w="558800" h="330200">
                <a:moveTo>
                  <a:pt x="0" y="0"/>
                </a:moveTo>
                <a:lnTo>
                  <a:pt x="558800" y="0"/>
                </a:lnTo>
                <a:cubicBezTo>
                  <a:pt x="558800" y="0"/>
                  <a:pt x="558800" y="0"/>
                  <a:pt x="558800" y="0"/>
                </a:cubicBezTo>
                <a:lnTo>
                  <a:pt x="558800" y="330200"/>
                </a:lnTo>
                <a:cubicBezTo>
                  <a:pt x="558800" y="330200"/>
                  <a:pt x="558800" y="330200"/>
                  <a:pt x="558800" y="330200"/>
                </a:cubicBezTo>
                <a:lnTo>
                  <a:pt x="0" y="330200"/>
                </a:lnTo>
                <a:cubicBezTo>
                  <a:pt x="0" y="330200"/>
                  <a:pt x="0" y="330200"/>
                  <a:pt x="0" y="3302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C8A24A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05979" y="2336800"/>
            <a:ext cx="235942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300" b="1" i="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6.1</a:t>
            </a:r>
            <a:endParaRPr lang="zh-CN" sz="1300" dirty="0"/>
          </a:p>
        </p:txBody>
      </p:sp>
      <p:sp>
        <p:nvSpPr>
          <p:cNvPr id="12" name="Text 10"/>
          <p:cNvSpPr/>
          <p:nvPr/>
        </p:nvSpPr>
        <p:spPr>
          <a:xfrm>
            <a:off x="844550" y="2813050"/>
            <a:ext cx="762000" cy="3492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2000" b="1" i="0" dirty="0">
                <a:solidFill>
                  <a:srgbClr val="1C2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栈操作</a:t>
            </a:r>
            <a:endParaRPr lang="zh-CN" sz="2000" dirty="0"/>
          </a:p>
        </p:txBody>
      </p:sp>
      <p:sp>
        <p:nvSpPr>
          <p:cNvPr id="13" name="Text 11"/>
          <p:cNvSpPr/>
          <p:nvPr/>
        </p:nvSpPr>
        <p:spPr>
          <a:xfrm>
            <a:off x="844550" y="4908550"/>
            <a:ext cx="439241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2200" b="1" i="0" dirty="0">
                <a:solidFill>
                  <a:srgbClr val="C8A2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4分</a:t>
            </a:r>
            <a:endParaRPr lang="zh-CN" sz="2200" dirty="0"/>
          </a:p>
        </p:txBody>
      </p:sp>
      <p:sp>
        <p:nvSpPr>
          <p:cNvPr id="14" name="Shape 12"/>
          <p:cNvSpPr/>
          <p:nvPr/>
        </p:nvSpPr>
        <p:spPr>
          <a:xfrm>
            <a:off x="4334867" y="1993900"/>
            <a:ext cx="3522166" cy="3556000"/>
          </a:xfrm>
          <a:custGeom>
            <a:avLst/>
            <a:gdLst/>
            <a:ahLst/>
            <a:cxnLst/>
            <a:rect l="l" t="t" r="r" b="b"/>
            <a:pathLst>
              <a:path w="3522166" h="3556000">
                <a:moveTo>
                  <a:pt x="0" y="0"/>
                </a:moveTo>
                <a:lnTo>
                  <a:pt x="3522167" y="0"/>
                </a:lnTo>
                <a:cubicBezTo>
                  <a:pt x="3522167" y="0"/>
                  <a:pt x="3522167" y="0"/>
                  <a:pt x="3522167" y="0"/>
                </a:cubicBezTo>
                <a:lnTo>
                  <a:pt x="3522167" y="3556000"/>
                </a:lnTo>
                <a:cubicBezTo>
                  <a:pt x="3522167" y="3556000"/>
                  <a:pt x="3522167" y="3556000"/>
                  <a:pt x="3522167" y="3556000"/>
                </a:cubicBezTo>
                <a:lnTo>
                  <a:pt x="0" y="3556000"/>
                </a:lnTo>
                <a:cubicBezTo>
                  <a:pt x="0" y="3556000"/>
                  <a:pt x="0" y="3556000"/>
                  <a:pt x="0" y="35560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334867" y="2012950"/>
            <a:ext cx="3522166" cy="0"/>
          </a:xfrm>
          <a:prstGeom prst="line">
            <a:avLst/>
          </a:prstGeom>
          <a:noFill/>
          <a:ln w="38100">
            <a:solidFill>
              <a:srgbClr val="C8A24A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7853859" y="1993900"/>
            <a:ext cx="0" cy="355600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334867" y="5546725"/>
            <a:ext cx="3522166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338042" y="1993900"/>
            <a:ext cx="0" cy="355600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569817" y="2286000"/>
            <a:ext cx="558800" cy="330200"/>
          </a:xfrm>
          <a:custGeom>
            <a:avLst/>
            <a:gdLst/>
            <a:ahLst/>
            <a:cxnLst/>
            <a:rect l="l" t="t" r="r" b="b"/>
            <a:pathLst>
              <a:path w="558800" h="330200">
                <a:moveTo>
                  <a:pt x="0" y="0"/>
                </a:moveTo>
                <a:lnTo>
                  <a:pt x="558800" y="0"/>
                </a:lnTo>
                <a:cubicBezTo>
                  <a:pt x="558800" y="0"/>
                  <a:pt x="558800" y="0"/>
                  <a:pt x="558800" y="0"/>
                </a:cubicBezTo>
                <a:lnTo>
                  <a:pt x="558800" y="330200"/>
                </a:lnTo>
                <a:cubicBezTo>
                  <a:pt x="558800" y="330200"/>
                  <a:pt x="558800" y="330200"/>
                  <a:pt x="558800" y="330200"/>
                </a:cubicBezTo>
                <a:lnTo>
                  <a:pt x="0" y="330200"/>
                </a:lnTo>
                <a:cubicBezTo>
                  <a:pt x="0" y="330200"/>
                  <a:pt x="0" y="330200"/>
                  <a:pt x="0" y="3302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C8A24A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31246" y="2336800"/>
            <a:ext cx="235942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300" b="1" i="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6.2</a:t>
            </a:r>
            <a:endParaRPr lang="zh-CN" sz="1300" dirty="0"/>
          </a:p>
        </p:txBody>
      </p:sp>
      <p:sp>
        <p:nvSpPr>
          <p:cNvPr id="21" name="Text 19"/>
          <p:cNvSpPr/>
          <p:nvPr/>
        </p:nvSpPr>
        <p:spPr>
          <a:xfrm>
            <a:off x="4569817" y="2813050"/>
            <a:ext cx="1016000" cy="3492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2000" b="1" i="0" dirty="0">
                <a:solidFill>
                  <a:srgbClr val="1C2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过程调用</a:t>
            </a:r>
            <a:endParaRPr lang="zh-CN" sz="2000" dirty="0"/>
          </a:p>
        </p:txBody>
      </p:sp>
      <p:sp>
        <p:nvSpPr>
          <p:cNvPr id="22" name="Text 20"/>
          <p:cNvSpPr/>
          <p:nvPr/>
        </p:nvSpPr>
        <p:spPr>
          <a:xfrm>
            <a:off x="4569817" y="4908550"/>
            <a:ext cx="439241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2200" b="1" i="0" dirty="0">
                <a:solidFill>
                  <a:srgbClr val="C8A2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4分</a:t>
            </a:r>
            <a:endParaRPr lang="zh-CN" sz="2200" dirty="0"/>
          </a:p>
        </p:txBody>
      </p:sp>
      <p:sp>
        <p:nvSpPr>
          <p:cNvPr id="23" name="Shape 21"/>
          <p:cNvSpPr/>
          <p:nvPr/>
        </p:nvSpPr>
        <p:spPr>
          <a:xfrm>
            <a:off x="8060234" y="1993900"/>
            <a:ext cx="3522166" cy="3556000"/>
          </a:xfrm>
          <a:custGeom>
            <a:avLst/>
            <a:gdLst/>
            <a:ahLst/>
            <a:cxnLst/>
            <a:rect l="l" t="t" r="r" b="b"/>
            <a:pathLst>
              <a:path w="3522166" h="3556000">
                <a:moveTo>
                  <a:pt x="0" y="0"/>
                </a:moveTo>
                <a:lnTo>
                  <a:pt x="3522167" y="0"/>
                </a:lnTo>
                <a:cubicBezTo>
                  <a:pt x="3522167" y="0"/>
                  <a:pt x="3522167" y="0"/>
                  <a:pt x="3522167" y="0"/>
                </a:cubicBezTo>
                <a:lnTo>
                  <a:pt x="3522167" y="3556000"/>
                </a:lnTo>
                <a:cubicBezTo>
                  <a:pt x="3522167" y="3556000"/>
                  <a:pt x="3522167" y="3556000"/>
                  <a:pt x="3522167" y="3556000"/>
                </a:cubicBezTo>
                <a:lnTo>
                  <a:pt x="0" y="3556000"/>
                </a:lnTo>
                <a:cubicBezTo>
                  <a:pt x="0" y="3556000"/>
                  <a:pt x="0" y="3556000"/>
                  <a:pt x="0" y="35560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8060234" y="2012950"/>
            <a:ext cx="3522166" cy="0"/>
          </a:xfrm>
          <a:prstGeom prst="line">
            <a:avLst/>
          </a:prstGeom>
          <a:noFill/>
          <a:ln w="38100">
            <a:solidFill>
              <a:srgbClr val="C8A24A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11579225" y="1993900"/>
            <a:ext cx="0" cy="355600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8060234" y="5546725"/>
            <a:ext cx="3522166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8063409" y="1993900"/>
            <a:ext cx="0" cy="355600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8295184" y="2286000"/>
            <a:ext cx="558800" cy="330200"/>
          </a:xfrm>
          <a:custGeom>
            <a:avLst/>
            <a:gdLst/>
            <a:ahLst/>
            <a:cxnLst/>
            <a:rect l="l" t="t" r="r" b="b"/>
            <a:pathLst>
              <a:path w="558800" h="330200">
                <a:moveTo>
                  <a:pt x="0" y="0"/>
                </a:moveTo>
                <a:lnTo>
                  <a:pt x="558800" y="0"/>
                </a:lnTo>
                <a:cubicBezTo>
                  <a:pt x="558800" y="0"/>
                  <a:pt x="558800" y="0"/>
                  <a:pt x="558800" y="0"/>
                </a:cubicBezTo>
                <a:lnTo>
                  <a:pt x="558800" y="330200"/>
                </a:lnTo>
                <a:cubicBezTo>
                  <a:pt x="558800" y="330200"/>
                  <a:pt x="558800" y="330200"/>
                  <a:pt x="558800" y="330200"/>
                </a:cubicBezTo>
                <a:lnTo>
                  <a:pt x="0" y="330200"/>
                </a:lnTo>
                <a:cubicBezTo>
                  <a:pt x="0" y="330200"/>
                  <a:pt x="0" y="330200"/>
                  <a:pt x="0" y="3302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C8A24A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456613" y="2336800"/>
            <a:ext cx="235942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300" b="1" i="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6.3</a:t>
            </a:r>
            <a:endParaRPr lang="zh-CN" sz="1300" dirty="0"/>
          </a:p>
        </p:txBody>
      </p:sp>
      <p:sp>
        <p:nvSpPr>
          <p:cNvPr id="30" name="Text 28"/>
          <p:cNvSpPr/>
          <p:nvPr/>
        </p:nvSpPr>
        <p:spPr>
          <a:xfrm>
            <a:off x="8295184" y="2813050"/>
            <a:ext cx="1778000" cy="3492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2000" b="1" i="0" dirty="0">
                <a:solidFill>
                  <a:srgbClr val="1C2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过程调用和栈帧</a:t>
            </a:r>
            <a:endParaRPr lang="zh-CN" sz="2000" dirty="0"/>
          </a:p>
        </p:txBody>
      </p:sp>
      <p:sp>
        <p:nvSpPr>
          <p:cNvPr id="31" name="Text 29"/>
          <p:cNvSpPr/>
          <p:nvPr/>
        </p:nvSpPr>
        <p:spPr>
          <a:xfrm>
            <a:off x="8295184" y="4908550"/>
            <a:ext cx="439241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2200" b="1" i="0" dirty="0">
                <a:solidFill>
                  <a:srgbClr val="C8A2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8分</a:t>
            </a:r>
            <a:endParaRPr lang="zh-CN" sz="2200" dirty="0"/>
          </a:p>
        </p:txBody>
      </p:sp>
      <p:sp>
        <p:nvSpPr>
          <p:cNvPr id="32" name="Text 30"/>
          <p:cNvSpPr/>
          <p:nvPr/>
        </p:nvSpPr>
        <p:spPr>
          <a:xfrm>
            <a:off x="844550" y="3308350"/>
            <a:ext cx="2885182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0" i="0" dirty="0">
                <a:solidFill>
                  <a:srgbClr val="1C2333">
                    <a:alpha val="7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栈向低地址增长；pushq 减8、popq</a:t>
            </a:r>
            <a:endParaRPr lang="zh-CN" sz="1400" dirty="0"/>
          </a:p>
        </p:txBody>
      </p:sp>
      <p:sp>
        <p:nvSpPr>
          <p:cNvPr id="33" name="Text 31"/>
          <p:cNvSpPr/>
          <p:nvPr/>
        </p:nvSpPr>
        <p:spPr>
          <a:xfrm>
            <a:off x="844550" y="3592810"/>
            <a:ext cx="2163862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0" i="0" dirty="0">
                <a:solidFill>
                  <a:srgbClr val="1C2333">
                    <a:alpha val="7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加8；%rsp 始终指向栈顶。</a:t>
            </a:r>
            <a:endParaRPr lang="zh-CN" sz="1400" dirty="0"/>
          </a:p>
        </p:txBody>
      </p:sp>
      <p:sp>
        <p:nvSpPr>
          <p:cNvPr id="34" name="Text 32"/>
          <p:cNvSpPr/>
          <p:nvPr/>
        </p:nvSpPr>
        <p:spPr>
          <a:xfrm>
            <a:off x="4569817" y="3308350"/>
            <a:ext cx="2934990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0" i="0" dirty="0">
                <a:solidFill>
                  <a:srgbClr val="1C2333">
                    <a:alpha val="7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调用者保存 vs 被调用者保存寄存器；</a:t>
            </a:r>
            <a:endParaRPr lang="zh-CN" sz="1400" dirty="0"/>
          </a:p>
        </p:txBody>
      </p:sp>
      <p:sp>
        <p:nvSpPr>
          <p:cNvPr id="35" name="Text 33"/>
          <p:cNvSpPr/>
          <p:nvPr/>
        </p:nvSpPr>
        <p:spPr>
          <a:xfrm>
            <a:off x="4569817" y="3592810"/>
            <a:ext cx="2622054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0" i="0" dirty="0">
                <a:solidFill>
                  <a:srgbClr val="1C2333">
                    <a:alpha val="7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参数 %rdi→%r9，返回值 %rax。</a:t>
            </a:r>
            <a:endParaRPr lang="zh-CN" sz="1400" dirty="0"/>
          </a:p>
        </p:txBody>
      </p:sp>
      <p:sp>
        <p:nvSpPr>
          <p:cNvPr id="36" name="Text 34"/>
          <p:cNvSpPr/>
          <p:nvPr/>
        </p:nvSpPr>
        <p:spPr>
          <a:xfrm>
            <a:off x="8295184" y="3308350"/>
            <a:ext cx="2890738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0" i="0" dirty="0">
                <a:solidFill>
                  <a:srgbClr val="1C2333">
                    <a:alpha val="7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栈帧结构与局部变量访问：leaq 取地</a:t>
            </a:r>
            <a:endParaRPr lang="zh-CN" sz="1400" dirty="0"/>
          </a:p>
        </p:txBody>
      </p:sp>
      <p:sp>
        <p:nvSpPr>
          <p:cNvPr id="37" name="Text 35"/>
          <p:cNvSpPr/>
          <p:nvPr/>
        </p:nvSpPr>
        <p:spPr>
          <a:xfrm>
            <a:off x="8295184" y="3592810"/>
            <a:ext cx="2933898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0" i="0" dirty="0">
                <a:solidFill>
                  <a:srgbClr val="1C2333">
                    <a:alpha val="7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址、movq 取值；返回前恢复 %rsp。</a:t>
            </a:r>
            <a:endParaRPr lang="zh-CN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95300"/>
            <a:ext cx="1905695" cy="5524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3200" b="1" i="0" dirty="0">
                <a:solidFill>
                  <a:srgbClr val="1E3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6.1 栈操作</a:t>
            </a:r>
            <a:endParaRPr lang="zh-CN" sz="3200" dirty="0"/>
          </a:p>
        </p:txBody>
      </p:sp>
      <p:sp>
        <p:nvSpPr>
          <p:cNvPr id="3" name="Shape 1"/>
          <p:cNvSpPr/>
          <p:nvPr/>
        </p:nvSpPr>
        <p:spPr>
          <a:xfrm>
            <a:off x="2667695" y="666750"/>
            <a:ext cx="573484" cy="342900"/>
          </a:xfrm>
          <a:custGeom>
            <a:avLst/>
            <a:gdLst/>
            <a:ahLst/>
            <a:cxnLst/>
            <a:rect l="l" t="t" r="r" b="b"/>
            <a:pathLst>
              <a:path w="573484" h="342900">
                <a:moveTo>
                  <a:pt x="0" y="0"/>
                </a:moveTo>
                <a:lnTo>
                  <a:pt x="573485" y="0"/>
                </a:lnTo>
                <a:cubicBezTo>
                  <a:pt x="573485" y="0"/>
                  <a:pt x="573485" y="0"/>
                  <a:pt x="573485" y="0"/>
                </a:cubicBezTo>
                <a:lnTo>
                  <a:pt x="573485" y="342900"/>
                </a:lnTo>
                <a:cubicBezTo>
                  <a:pt x="573485" y="342900"/>
                  <a:pt x="573485" y="342900"/>
                  <a:pt x="573485" y="342900"/>
                </a:cubicBezTo>
                <a:lnTo>
                  <a:pt x="0" y="342900"/>
                </a:lnTo>
                <a:cubicBezTo>
                  <a:pt x="0" y="342900"/>
                  <a:pt x="0" y="342900"/>
                  <a:pt x="0" y="3429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C8A24A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794695" y="711200"/>
            <a:ext cx="319484" cy="273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600" b="1" i="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4分</a:t>
            </a:r>
            <a:endParaRPr lang="zh-CN" sz="1600" dirty="0"/>
          </a:p>
        </p:txBody>
      </p:sp>
      <p:sp>
        <p:nvSpPr>
          <p:cNvPr id="5" name="Shape 3"/>
          <p:cNvSpPr/>
          <p:nvPr/>
        </p:nvSpPr>
        <p:spPr>
          <a:xfrm>
            <a:off x="609600" y="1174750"/>
            <a:ext cx="609600" cy="31750"/>
          </a:xfrm>
          <a:custGeom>
            <a:avLst/>
            <a:gdLst/>
            <a:ahLst/>
            <a:cxnLst/>
            <a:rect l="l" t="t" r="r" b="b"/>
            <a:pathLst>
              <a:path w="609600" h="31750">
                <a:moveTo>
                  <a:pt x="0" y="0"/>
                </a:moveTo>
                <a:lnTo>
                  <a:pt x="609600" y="0"/>
                </a:lnTo>
                <a:cubicBezTo>
                  <a:pt x="609600" y="0"/>
                  <a:pt x="609600" y="0"/>
                  <a:pt x="609600" y="0"/>
                </a:cubicBezTo>
                <a:lnTo>
                  <a:pt x="609600" y="31750"/>
                </a:lnTo>
                <a:cubicBezTo>
                  <a:pt x="609600" y="31750"/>
                  <a:pt x="609600" y="31750"/>
                  <a:pt x="609600" y="31750"/>
                </a:cubicBezTo>
                <a:lnTo>
                  <a:pt x="0" y="31750"/>
                </a:lnTo>
                <a:cubicBezTo>
                  <a:pt x="0" y="31750"/>
                  <a:pt x="0" y="31750"/>
                  <a:pt x="0" y="3175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C8A24A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09600" y="1435100"/>
            <a:ext cx="5614591" cy="1955800"/>
          </a:xfrm>
          <a:custGeom>
            <a:avLst/>
            <a:gdLst/>
            <a:ahLst/>
            <a:cxnLst/>
            <a:rect l="l" t="t" r="r" b="b"/>
            <a:pathLst>
              <a:path w="5614591" h="1955800">
                <a:moveTo>
                  <a:pt x="0" y="0"/>
                </a:moveTo>
                <a:lnTo>
                  <a:pt x="5614591" y="0"/>
                </a:lnTo>
                <a:cubicBezTo>
                  <a:pt x="5614591" y="0"/>
                  <a:pt x="5614591" y="0"/>
                  <a:pt x="5614591" y="0"/>
                </a:cubicBezTo>
                <a:lnTo>
                  <a:pt x="5614591" y="1955800"/>
                </a:lnTo>
                <a:cubicBezTo>
                  <a:pt x="5614591" y="1955800"/>
                  <a:pt x="5614591" y="1955800"/>
                  <a:pt x="5614591" y="1955800"/>
                </a:cubicBezTo>
                <a:lnTo>
                  <a:pt x="0" y="1955800"/>
                </a:lnTo>
                <a:cubicBezTo>
                  <a:pt x="0" y="1955800"/>
                  <a:pt x="0" y="1955800"/>
                  <a:pt x="0" y="19558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44550" y="1631950"/>
            <a:ext cx="1649115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1" i="0" dirty="0">
                <a:solidFill>
                  <a:srgbClr val="1E3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初始 %rsp = 0x3000</a:t>
            </a:r>
            <a:endParaRPr lang="zh-CN" sz="1400" dirty="0"/>
          </a:p>
        </p:txBody>
      </p:sp>
      <p:sp>
        <p:nvSpPr>
          <p:cNvPr id="8" name="Shape 6"/>
          <p:cNvSpPr/>
          <p:nvPr/>
        </p:nvSpPr>
        <p:spPr>
          <a:xfrm>
            <a:off x="844550" y="1974850"/>
            <a:ext cx="5144691" cy="434975"/>
          </a:xfrm>
          <a:custGeom>
            <a:avLst/>
            <a:gdLst/>
            <a:ahLst/>
            <a:cxnLst/>
            <a:rect l="l" t="t" r="r" b="b"/>
            <a:pathLst>
              <a:path w="5144691" h="434975">
                <a:moveTo>
                  <a:pt x="0" y="0"/>
                </a:moveTo>
                <a:lnTo>
                  <a:pt x="5144691" y="0"/>
                </a:lnTo>
                <a:cubicBezTo>
                  <a:pt x="5144691" y="0"/>
                  <a:pt x="5144691" y="0"/>
                  <a:pt x="5144691" y="0"/>
                </a:cubicBezTo>
                <a:lnTo>
                  <a:pt x="5144691" y="434975"/>
                </a:lnTo>
                <a:cubicBezTo>
                  <a:pt x="5144691" y="434975"/>
                  <a:pt x="5144691" y="434975"/>
                  <a:pt x="5144691" y="434975"/>
                </a:cubicBezTo>
                <a:lnTo>
                  <a:pt x="0" y="434975"/>
                </a:lnTo>
                <a:cubicBezTo>
                  <a:pt x="0" y="434975"/>
                  <a:pt x="0" y="434975"/>
                  <a:pt x="0" y="4349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E2E9F4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844550" y="2409825"/>
            <a:ext cx="2221508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076450"/>
            <a:ext cx="355699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1" i="0" dirty="0">
                <a:solidFill>
                  <a:srgbClr val="1C2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指令</a:t>
            </a:r>
            <a:endParaRPr lang="zh-CN" sz="1400" dirty="0"/>
          </a:p>
        </p:txBody>
      </p:sp>
      <p:sp>
        <p:nvSpPr>
          <p:cNvPr id="11" name="Shape 9"/>
          <p:cNvSpPr/>
          <p:nvPr/>
        </p:nvSpPr>
        <p:spPr>
          <a:xfrm>
            <a:off x="3066058" y="2409825"/>
            <a:ext cx="2923183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154958" y="2076450"/>
            <a:ext cx="843756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1" i="0" dirty="0">
                <a:solidFill>
                  <a:srgbClr val="1C2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%rsp 变化</a:t>
            </a:r>
            <a:endParaRPr lang="zh-CN" sz="1400" dirty="0"/>
          </a:p>
        </p:txBody>
      </p:sp>
      <p:sp>
        <p:nvSpPr>
          <p:cNvPr id="13" name="Shape 11"/>
          <p:cNvSpPr/>
          <p:nvPr/>
        </p:nvSpPr>
        <p:spPr>
          <a:xfrm>
            <a:off x="844550" y="2809875"/>
            <a:ext cx="2221508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33450" y="2520950"/>
            <a:ext cx="533499" cy="177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1" i="0" dirty="0">
                <a:solidFill>
                  <a:srgbClr val="3B6BB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pushq</a:t>
            </a:r>
            <a:endParaRPr lang="zh-CN" sz="1400" dirty="0"/>
          </a:p>
        </p:txBody>
      </p:sp>
      <p:grpSp>
        <p:nvGrpSpPr>
          <p:cNvPr id="15" name="ma"/>
          <p:cNvGrpSpPr/>
          <p:nvPr/>
        </p:nvGrpSpPr>
        <p:grpSpPr>
          <a:xfrm>
            <a:off x="3066058" y="2520950"/>
            <a:ext cx="2923183" cy="288925"/>
            <a:chOff x="3066058" y="2520950"/>
            <a:chExt cx="2923183" cy="288925"/>
          </a:xfrm>
        </p:grpSpPr>
        <p:sp>
          <p:nvSpPr>
            <p:cNvPr id="16" name="Shape 0"/>
            <p:cNvSpPr/>
            <p:nvPr/>
          </p:nvSpPr>
          <p:spPr>
            <a:xfrm>
              <a:off x="3066058" y="2809875"/>
              <a:ext cx="2923183" cy="0"/>
            </a:xfrm>
            <a:prstGeom prst="line">
              <a:avLst/>
            </a:prstGeom>
            <a:noFill/>
            <a:ln w="6350">
              <a:solidFill>
                <a:srgbClr val="DDE3EE"/>
              </a:solidFill>
              <a:prstDash val="solid"/>
            </a:ln>
          </p:spPr>
          <p:txBody>
            <a:bodyPr wrap="none" rtlCol="0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7" name="Text 1"/>
            <p:cNvSpPr/>
            <p:nvPr/>
          </p:nvSpPr>
          <p:spPr>
            <a:xfrm>
              <a:off x="3154958" y="2520950"/>
              <a:ext cx="853480" cy="1778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400" b="0" i="0" dirty="0">
                  <a:solidFill>
                    <a:srgbClr val="1C2333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0x3000 →</a:t>
              </a:r>
              <a:endParaRPr lang="zh-CN" sz="1400" dirty="0"/>
            </a:p>
          </p:txBody>
        </p:sp>
        <p:sp>
          <p:nvSpPr>
            <p:cNvPr id="18" name="Text 2"/>
            <p:cNvSpPr/>
            <p:nvPr/>
          </p:nvSpPr>
          <p:spPr>
            <a:xfrm>
              <a:off x="4115098" y="2520950"/>
              <a:ext cx="640159" cy="1778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400" b="1" i="0" dirty="0">
                  <a:solidFill>
                    <a:srgbClr val="C8A24A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0x2FF8</a:t>
              </a:r>
              <a:endParaRPr lang="zh-CN" sz="1400" dirty="0"/>
            </a:p>
          </p:txBody>
        </p:sp>
      </p:grpSp>
      <p:sp>
        <p:nvSpPr>
          <p:cNvPr id="19" name="Text 13"/>
          <p:cNvSpPr/>
          <p:nvPr/>
        </p:nvSpPr>
        <p:spPr>
          <a:xfrm>
            <a:off x="933450" y="2921000"/>
            <a:ext cx="1173559" cy="177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1" i="0" dirty="0">
                <a:solidFill>
                  <a:srgbClr val="3B6BB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popq → %rcx</a:t>
            </a:r>
            <a:endParaRPr lang="zh-CN" sz="1400" dirty="0"/>
          </a:p>
        </p:txBody>
      </p:sp>
      <p:sp>
        <p:nvSpPr>
          <p:cNvPr id="20" name="Text 14"/>
          <p:cNvSpPr/>
          <p:nvPr/>
        </p:nvSpPr>
        <p:spPr>
          <a:xfrm>
            <a:off x="3154958" y="2921000"/>
            <a:ext cx="1600299" cy="177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0" i="0" dirty="0">
                <a:solidFill>
                  <a:srgbClr val="1C233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0x2FF8 → 0x3000</a:t>
            </a:r>
            <a:endParaRPr lang="zh-CN" sz="1400" dirty="0"/>
          </a:p>
        </p:txBody>
      </p:sp>
      <p:sp>
        <p:nvSpPr>
          <p:cNvPr id="21" name="Shape 15"/>
          <p:cNvSpPr/>
          <p:nvPr/>
        </p:nvSpPr>
        <p:spPr>
          <a:xfrm>
            <a:off x="609600" y="3594100"/>
            <a:ext cx="5614591" cy="2413000"/>
          </a:xfrm>
          <a:custGeom>
            <a:avLst/>
            <a:gdLst/>
            <a:ahLst/>
            <a:cxnLst/>
            <a:rect l="l" t="t" r="r" b="b"/>
            <a:pathLst>
              <a:path w="5614591" h="2413000">
                <a:moveTo>
                  <a:pt x="0" y="0"/>
                </a:moveTo>
                <a:lnTo>
                  <a:pt x="5614591" y="0"/>
                </a:lnTo>
                <a:cubicBezTo>
                  <a:pt x="5614591" y="0"/>
                  <a:pt x="5614591" y="0"/>
                  <a:pt x="5614591" y="0"/>
                </a:cubicBezTo>
                <a:lnTo>
                  <a:pt x="5614591" y="2413000"/>
                </a:lnTo>
                <a:cubicBezTo>
                  <a:pt x="5614591" y="2413000"/>
                  <a:pt x="5614591" y="2413000"/>
                  <a:pt x="5614591" y="2413000"/>
                </a:cubicBezTo>
                <a:lnTo>
                  <a:pt x="0" y="2413000"/>
                </a:lnTo>
                <a:cubicBezTo>
                  <a:pt x="0" y="2413000"/>
                  <a:pt x="0" y="2413000"/>
                  <a:pt x="0" y="24130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16"/>
          <p:cNvSpPr/>
          <p:nvPr/>
        </p:nvSpPr>
        <p:spPr>
          <a:xfrm>
            <a:off x="609600" y="3597275"/>
            <a:ext cx="5614591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17"/>
          <p:cNvSpPr/>
          <p:nvPr/>
        </p:nvSpPr>
        <p:spPr>
          <a:xfrm>
            <a:off x="6221016" y="3594100"/>
            <a:ext cx="0" cy="241300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18"/>
          <p:cNvSpPr/>
          <p:nvPr/>
        </p:nvSpPr>
        <p:spPr>
          <a:xfrm>
            <a:off x="609600" y="6003925"/>
            <a:ext cx="5614591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19"/>
          <p:cNvSpPr/>
          <p:nvPr/>
        </p:nvSpPr>
        <p:spPr>
          <a:xfrm>
            <a:off x="635000" y="3594100"/>
            <a:ext cx="0" cy="2413000"/>
          </a:xfrm>
          <a:prstGeom prst="line">
            <a:avLst/>
          </a:prstGeom>
          <a:noFill/>
          <a:ln w="50800">
            <a:solidFill>
              <a:srgbClr val="C8A24A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889000" y="3790950"/>
            <a:ext cx="355699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1" i="0" dirty="0">
                <a:solidFill>
                  <a:srgbClr val="1E3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答案</a:t>
            </a:r>
            <a:endParaRPr lang="zh-CN" sz="1400" dirty="0"/>
          </a:p>
        </p:txBody>
      </p:sp>
      <p:sp>
        <p:nvSpPr>
          <p:cNvPr id="27" name="Text 21"/>
          <p:cNvSpPr/>
          <p:nvPr/>
        </p:nvSpPr>
        <p:spPr>
          <a:xfrm>
            <a:off x="889000" y="4419600"/>
            <a:ext cx="128022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2800" b="1" i="0" dirty="0">
                <a:solidFill>
                  <a:srgbClr val="1E3A6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0x2FF8</a:t>
            </a:r>
            <a:endParaRPr lang="zh-CN" sz="2800" dirty="0"/>
          </a:p>
        </p:txBody>
      </p:sp>
      <p:sp>
        <p:nvSpPr>
          <p:cNvPr id="28" name="Text 22"/>
          <p:cNvSpPr/>
          <p:nvPr/>
        </p:nvSpPr>
        <p:spPr>
          <a:xfrm>
            <a:off x="2575620" y="4419600"/>
            <a:ext cx="85348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2800" b="1" i="0" dirty="0">
                <a:solidFill>
                  <a:srgbClr val="1E3A6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0x35</a:t>
            </a:r>
            <a:endParaRPr lang="zh-CN" sz="2800" dirty="0"/>
          </a:p>
        </p:txBody>
      </p:sp>
      <p:sp>
        <p:nvSpPr>
          <p:cNvPr id="29" name="Shape 23"/>
          <p:cNvSpPr/>
          <p:nvPr/>
        </p:nvSpPr>
        <p:spPr>
          <a:xfrm>
            <a:off x="6478191" y="1435100"/>
            <a:ext cx="5104209" cy="596900"/>
          </a:xfrm>
          <a:custGeom>
            <a:avLst/>
            <a:gdLst/>
            <a:ahLst/>
            <a:cxnLst/>
            <a:rect l="l" t="t" r="r" b="b"/>
            <a:pathLst>
              <a:path w="5104209" h="596900">
                <a:moveTo>
                  <a:pt x="0" y="0"/>
                </a:moveTo>
                <a:lnTo>
                  <a:pt x="5104209" y="0"/>
                </a:lnTo>
                <a:cubicBezTo>
                  <a:pt x="5104209" y="0"/>
                  <a:pt x="5104209" y="0"/>
                  <a:pt x="5104209" y="0"/>
                </a:cubicBezTo>
                <a:lnTo>
                  <a:pt x="5104209" y="596900"/>
                </a:lnTo>
                <a:cubicBezTo>
                  <a:pt x="5104209" y="596900"/>
                  <a:pt x="5104209" y="596900"/>
                  <a:pt x="5104209" y="596900"/>
                </a:cubicBezTo>
                <a:lnTo>
                  <a:pt x="0" y="596900"/>
                </a:lnTo>
                <a:cubicBezTo>
                  <a:pt x="0" y="596900"/>
                  <a:pt x="0" y="596900"/>
                  <a:pt x="0" y="5969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1E3A6E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6706791" y="1606550"/>
            <a:ext cx="1016099" cy="273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600" b="1" i="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核心知识点</a:t>
            </a:r>
            <a:endParaRPr lang="zh-CN" sz="1600" dirty="0"/>
          </a:p>
        </p:txBody>
      </p:sp>
      <p:sp>
        <p:nvSpPr>
          <p:cNvPr id="31" name="Shape 25"/>
          <p:cNvSpPr/>
          <p:nvPr/>
        </p:nvSpPr>
        <p:spPr>
          <a:xfrm>
            <a:off x="6478191" y="2032000"/>
            <a:ext cx="5104209" cy="3975100"/>
          </a:xfrm>
          <a:custGeom>
            <a:avLst/>
            <a:gdLst/>
            <a:ahLst/>
            <a:cxnLst/>
            <a:rect l="l" t="t" r="r" b="b"/>
            <a:pathLst>
              <a:path w="5104209" h="3975100">
                <a:moveTo>
                  <a:pt x="0" y="0"/>
                </a:moveTo>
                <a:lnTo>
                  <a:pt x="5104209" y="0"/>
                </a:lnTo>
                <a:cubicBezTo>
                  <a:pt x="5104209" y="0"/>
                  <a:pt x="5104209" y="0"/>
                  <a:pt x="5104209" y="0"/>
                </a:cubicBezTo>
                <a:lnTo>
                  <a:pt x="5104209" y="3975100"/>
                </a:lnTo>
                <a:cubicBezTo>
                  <a:pt x="5104209" y="3975100"/>
                  <a:pt x="5104209" y="3975100"/>
                  <a:pt x="5104209" y="3975100"/>
                </a:cubicBezTo>
                <a:lnTo>
                  <a:pt x="0" y="3975100"/>
                </a:lnTo>
                <a:cubicBezTo>
                  <a:pt x="0" y="3975100"/>
                  <a:pt x="0" y="3975100"/>
                  <a:pt x="0" y="39751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grpSp>
        <p:nvGrpSpPr>
          <p:cNvPr id="32" name="ma"/>
          <p:cNvGrpSpPr/>
          <p:nvPr/>
        </p:nvGrpSpPr>
        <p:grpSpPr>
          <a:xfrm>
            <a:off x="6713141" y="2286000"/>
            <a:ext cx="3619798" cy="1356122"/>
            <a:chOff x="6713141" y="2286000"/>
            <a:chExt cx="3619798" cy="1356122"/>
          </a:xfrm>
        </p:grpSpPr>
        <p:sp>
          <p:nvSpPr>
            <p:cNvPr id="33" name="Text 0"/>
            <p:cNvSpPr/>
            <p:nvPr/>
          </p:nvSpPr>
          <p:spPr>
            <a:xfrm>
              <a:off x="6713141" y="2286000"/>
              <a:ext cx="1053902" cy="2413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400" b="0" i="0" dirty="0">
                  <a:solidFill>
                    <a:srgbClr val="1C233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· x86-64 栈向</a:t>
              </a:r>
              <a:endParaRPr lang="zh-CN" sz="1400" dirty="0"/>
            </a:p>
          </p:txBody>
        </p:sp>
        <p:sp>
          <p:nvSpPr>
            <p:cNvPr id="34" name="Text 1"/>
            <p:cNvSpPr/>
            <p:nvPr/>
          </p:nvSpPr>
          <p:spPr>
            <a:xfrm>
              <a:off x="8300541" y="2286000"/>
              <a:ext cx="355699" cy="2413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400" b="0" i="0" dirty="0">
                  <a:solidFill>
                    <a:srgbClr val="1C233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增长</a:t>
              </a:r>
              <a:endParaRPr lang="zh-CN" sz="1400" dirty="0"/>
            </a:p>
          </p:txBody>
        </p:sp>
        <p:sp>
          <p:nvSpPr>
            <p:cNvPr id="35" name="Text 2"/>
            <p:cNvSpPr/>
            <p:nvPr/>
          </p:nvSpPr>
          <p:spPr>
            <a:xfrm>
              <a:off x="6713141" y="2623741"/>
              <a:ext cx="47724" cy="2413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400" b="0" i="0" dirty="0">
                  <a:solidFill>
                    <a:srgbClr val="1C233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·</a:t>
              </a:r>
              <a:endParaRPr lang="zh-CN" sz="1400" dirty="0"/>
            </a:p>
          </p:txBody>
        </p:sp>
        <p:sp>
          <p:nvSpPr>
            <p:cNvPr id="36" name="Text 3"/>
            <p:cNvSpPr/>
            <p:nvPr/>
          </p:nvSpPr>
          <p:spPr>
            <a:xfrm>
              <a:off x="7340600" y="2623741"/>
              <a:ext cx="2565698" cy="2413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400" b="0" i="0" dirty="0">
                  <a:solidFill>
                    <a:srgbClr val="1C233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：%rsp 减 8，将操作数存入栈顶</a:t>
              </a:r>
              <a:endParaRPr lang="zh-CN" sz="1400" dirty="0"/>
            </a:p>
          </p:txBody>
        </p:sp>
        <p:sp>
          <p:nvSpPr>
            <p:cNvPr id="37" name="Text 4"/>
            <p:cNvSpPr/>
            <p:nvPr/>
          </p:nvSpPr>
          <p:spPr>
            <a:xfrm>
              <a:off x="6713141" y="3012281"/>
              <a:ext cx="47724" cy="2413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400" b="0" i="0" dirty="0">
                  <a:solidFill>
                    <a:srgbClr val="1C233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·</a:t>
              </a:r>
              <a:endParaRPr lang="zh-CN" sz="1400" dirty="0"/>
            </a:p>
          </p:txBody>
        </p:sp>
        <p:sp>
          <p:nvSpPr>
            <p:cNvPr id="38" name="Text 5"/>
            <p:cNvSpPr/>
            <p:nvPr/>
          </p:nvSpPr>
          <p:spPr>
            <a:xfrm>
              <a:off x="7233841" y="3012281"/>
              <a:ext cx="3099098" cy="2413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400" b="0" i="0" dirty="0">
                  <a:solidFill>
                    <a:srgbClr val="1C233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：取出栈顶值到目标寄存器，%rsp 加 8</a:t>
              </a:r>
              <a:endParaRPr lang="zh-CN" sz="1400" dirty="0"/>
            </a:p>
          </p:txBody>
        </p:sp>
        <p:sp>
          <p:nvSpPr>
            <p:cNvPr id="39" name="Text 6"/>
            <p:cNvSpPr/>
            <p:nvPr/>
          </p:nvSpPr>
          <p:spPr>
            <a:xfrm>
              <a:off x="6713141" y="3400822"/>
              <a:ext cx="1978223" cy="2413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400" b="0" i="0" dirty="0">
                  <a:solidFill>
                    <a:srgbClr val="1C233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· %rsp 始终指向栈顶元素</a:t>
              </a:r>
              <a:endParaRPr lang="zh-CN" sz="1400" dirty="0"/>
            </a:p>
          </p:txBody>
        </p:sp>
        <p:sp>
          <p:nvSpPr>
            <p:cNvPr id="40" name="Text 7"/>
            <p:cNvSpPr/>
            <p:nvPr/>
          </p:nvSpPr>
          <p:spPr>
            <a:xfrm>
              <a:off x="7767042" y="2286000"/>
              <a:ext cx="533499" cy="2413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400" b="1" i="0" dirty="0">
                  <a:solidFill>
                    <a:srgbClr val="C8A24A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低地址</a:t>
              </a:r>
              <a:endParaRPr lang="zh-CN" sz="1400" dirty="0"/>
            </a:p>
          </p:txBody>
        </p:sp>
        <p:sp>
          <p:nvSpPr>
            <p:cNvPr id="41" name="Text 8"/>
            <p:cNvSpPr/>
            <p:nvPr/>
          </p:nvSpPr>
          <p:spPr>
            <a:xfrm>
              <a:off x="6807101" y="2706291"/>
              <a:ext cx="533499" cy="1778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400" b="1" i="0" dirty="0">
                  <a:solidFill>
                    <a:srgbClr val="3B6BB5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pushq</a:t>
              </a:r>
              <a:endParaRPr lang="zh-CN" sz="1400" dirty="0"/>
            </a:p>
          </p:txBody>
        </p:sp>
        <p:sp>
          <p:nvSpPr>
            <p:cNvPr id="42" name="Text 9"/>
            <p:cNvSpPr/>
            <p:nvPr/>
          </p:nvSpPr>
          <p:spPr>
            <a:xfrm>
              <a:off x="6807101" y="3094831"/>
              <a:ext cx="426740" cy="1778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400" b="1" i="0" dirty="0">
                  <a:solidFill>
                    <a:srgbClr val="3B6BB5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popq</a:t>
              </a:r>
              <a:endParaRPr lang="zh-CN" sz="1400" dirty="0"/>
            </a:p>
          </p:txBody>
        </p:sp>
      </p:grpSp>
      <p:sp>
        <p:nvSpPr>
          <p:cNvPr id="43" name="Text 26"/>
          <p:cNvSpPr/>
          <p:nvPr/>
        </p:nvSpPr>
        <p:spPr>
          <a:xfrm>
            <a:off x="889000" y="4146550"/>
            <a:ext cx="1100237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0" i="0" dirty="0">
                <a:solidFill>
                  <a:srgbClr val="1C2333">
                    <a:alpha val="7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push 后 %rsp</a:t>
            </a:r>
            <a:endParaRPr lang="zh-CN" sz="1400" dirty="0"/>
          </a:p>
        </p:txBody>
      </p:sp>
      <p:sp>
        <p:nvSpPr>
          <p:cNvPr id="44" name="Text 27"/>
          <p:cNvSpPr/>
          <p:nvPr/>
        </p:nvSpPr>
        <p:spPr>
          <a:xfrm>
            <a:off x="2575620" y="4146550"/>
            <a:ext cx="798909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0" i="0" dirty="0">
                <a:solidFill>
                  <a:srgbClr val="1C2333">
                    <a:alpha val="7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最终 %rcx</a:t>
            </a:r>
            <a:endParaRPr lang="zh-CN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95300"/>
            <a:ext cx="2312095" cy="5524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3200" b="1" i="0" dirty="0">
                <a:solidFill>
                  <a:srgbClr val="1E3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6.2 过程调用</a:t>
            </a:r>
            <a:endParaRPr lang="zh-CN" sz="3200" dirty="0"/>
          </a:p>
        </p:txBody>
      </p:sp>
      <p:sp>
        <p:nvSpPr>
          <p:cNvPr id="3" name="Shape 1"/>
          <p:cNvSpPr/>
          <p:nvPr/>
        </p:nvSpPr>
        <p:spPr>
          <a:xfrm>
            <a:off x="3074095" y="666750"/>
            <a:ext cx="573484" cy="342900"/>
          </a:xfrm>
          <a:custGeom>
            <a:avLst/>
            <a:gdLst/>
            <a:ahLst/>
            <a:cxnLst/>
            <a:rect l="l" t="t" r="r" b="b"/>
            <a:pathLst>
              <a:path w="573484" h="342900">
                <a:moveTo>
                  <a:pt x="0" y="0"/>
                </a:moveTo>
                <a:lnTo>
                  <a:pt x="573485" y="0"/>
                </a:lnTo>
                <a:cubicBezTo>
                  <a:pt x="573485" y="0"/>
                  <a:pt x="573485" y="0"/>
                  <a:pt x="573485" y="0"/>
                </a:cubicBezTo>
                <a:lnTo>
                  <a:pt x="573485" y="342900"/>
                </a:lnTo>
                <a:cubicBezTo>
                  <a:pt x="573485" y="342900"/>
                  <a:pt x="573485" y="342900"/>
                  <a:pt x="573485" y="342900"/>
                </a:cubicBezTo>
                <a:lnTo>
                  <a:pt x="0" y="342900"/>
                </a:lnTo>
                <a:cubicBezTo>
                  <a:pt x="0" y="342900"/>
                  <a:pt x="0" y="342900"/>
                  <a:pt x="0" y="3429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C8A24A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201095" y="711200"/>
            <a:ext cx="319484" cy="273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600" b="1" i="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4分</a:t>
            </a:r>
            <a:endParaRPr lang="zh-CN" sz="1600" dirty="0"/>
          </a:p>
        </p:txBody>
      </p:sp>
      <p:sp>
        <p:nvSpPr>
          <p:cNvPr id="5" name="Shape 3"/>
          <p:cNvSpPr/>
          <p:nvPr/>
        </p:nvSpPr>
        <p:spPr>
          <a:xfrm>
            <a:off x="609600" y="1174750"/>
            <a:ext cx="609600" cy="31750"/>
          </a:xfrm>
          <a:custGeom>
            <a:avLst/>
            <a:gdLst/>
            <a:ahLst/>
            <a:cxnLst/>
            <a:rect l="l" t="t" r="r" b="b"/>
            <a:pathLst>
              <a:path w="609600" h="31750">
                <a:moveTo>
                  <a:pt x="0" y="0"/>
                </a:moveTo>
                <a:lnTo>
                  <a:pt x="609600" y="0"/>
                </a:lnTo>
                <a:cubicBezTo>
                  <a:pt x="609600" y="0"/>
                  <a:pt x="609600" y="0"/>
                  <a:pt x="609600" y="0"/>
                </a:cubicBezTo>
                <a:lnTo>
                  <a:pt x="609600" y="31750"/>
                </a:lnTo>
                <a:cubicBezTo>
                  <a:pt x="609600" y="31750"/>
                  <a:pt x="609600" y="31750"/>
                  <a:pt x="609600" y="31750"/>
                </a:cubicBezTo>
                <a:lnTo>
                  <a:pt x="0" y="31750"/>
                </a:lnTo>
                <a:cubicBezTo>
                  <a:pt x="0" y="31750"/>
                  <a:pt x="0" y="31750"/>
                  <a:pt x="0" y="3175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C8A24A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09600" y="1435100"/>
            <a:ext cx="5614591" cy="4406900"/>
          </a:xfrm>
          <a:custGeom>
            <a:avLst/>
            <a:gdLst/>
            <a:ahLst/>
            <a:cxnLst/>
            <a:rect l="l" t="t" r="r" b="b"/>
            <a:pathLst>
              <a:path w="5614591" h="4406900">
                <a:moveTo>
                  <a:pt x="0" y="0"/>
                </a:moveTo>
                <a:lnTo>
                  <a:pt x="5614591" y="0"/>
                </a:lnTo>
                <a:cubicBezTo>
                  <a:pt x="5614591" y="0"/>
                  <a:pt x="5614591" y="0"/>
                  <a:pt x="5614591" y="0"/>
                </a:cubicBezTo>
                <a:lnTo>
                  <a:pt x="5614591" y="4406900"/>
                </a:lnTo>
                <a:cubicBezTo>
                  <a:pt x="5614591" y="4406900"/>
                  <a:pt x="5614591" y="4406900"/>
                  <a:pt x="5614591" y="4406900"/>
                </a:cubicBezTo>
                <a:lnTo>
                  <a:pt x="0" y="4406900"/>
                </a:lnTo>
                <a:cubicBezTo>
                  <a:pt x="0" y="4406900"/>
                  <a:pt x="0" y="4406900"/>
                  <a:pt x="0" y="44069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1C2333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63600" y="1651000"/>
            <a:ext cx="3517106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1" i="0" dirty="0">
                <a:solidFill>
                  <a:srgbClr val="C8A2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combine 调用 twice 的汇编（空缺已补全）</a:t>
            </a:r>
            <a:endParaRPr lang="zh-CN" sz="1400" dirty="0"/>
          </a:p>
        </p:txBody>
      </p:sp>
      <p:sp>
        <p:nvSpPr>
          <p:cNvPr id="8" name="Text 6"/>
          <p:cNvSpPr/>
          <p:nvPr/>
        </p:nvSpPr>
        <p:spPr>
          <a:xfrm>
            <a:off x="863600" y="2101850"/>
            <a:ext cx="914400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500" b="0" i="0" dirty="0">
                <a:solidFill>
                  <a:srgbClr val="7A8DB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combine:</a:t>
            </a:r>
            <a:endParaRPr lang="zh-CN" sz="1500" dirty="0"/>
          </a:p>
        </p:txBody>
      </p:sp>
      <p:sp>
        <p:nvSpPr>
          <p:cNvPr id="9" name="Text 7"/>
          <p:cNvSpPr/>
          <p:nvPr/>
        </p:nvSpPr>
        <p:spPr>
          <a:xfrm>
            <a:off x="863600" y="2463800"/>
            <a:ext cx="1143000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500" b="0" i="0" dirty="0">
                <a:solidFill>
                  <a:srgbClr val="7A8DB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pushq %rbx</a:t>
            </a:r>
            <a:endParaRPr lang="zh-CN" sz="1500" dirty="0"/>
          </a:p>
        </p:txBody>
      </p:sp>
      <p:sp>
        <p:nvSpPr>
          <p:cNvPr id="10" name="Text 8"/>
          <p:cNvSpPr/>
          <p:nvPr/>
        </p:nvSpPr>
        <p:spPr>
          <a:xfrm>
            <a:off x="863600" y="2825750"/>
            <a:ext cx="1714500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500" b="0" i="0" dirty="0">
                <a:solidFill>
                  <a:srgbClr val="7A8DB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movq %rdi, %rbx</a:t>
            </a:r>
            <a:endParaRPr lang="zh-CN" sz="1500" dirty="0"/>
          </a:p>
        </p:txBody>
      </p:sp>
      <p:grpSp>
        <p:nvGrpSpPr>
          <p:cNvPr id="11" name="ma"/>
          <p:cNvGrpSpPr/>
          <p:nvPr/>
        </p:nvGrpSpPr>
        <p:grpSpPr>
          <a:xfrm>
            <a:off x="863600" y="3187700"/>
            <a:ext cx="3695700" cy="190500"/>
            <a:chOff x="863600" y="3187700"/>
            <a:chExt cx="3695700" cy="190500"/>
          </a:xfrm>
        </p:grpSpPr>
        <p:sp>
          <p:nvSpPr>
            <p:cNvPr id="12" name="Text 0"/>
            <p:cNvSpPr/>
            <p:nvPr/>
          </p:nvSpPr>
          <p:spPr>
            <a:xfrm>
              <a:off x="863600" y="3187700"/>
              <a:ext cx="1714500" cy="1905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500" b="1" i="0" dirty="0">
                  <a:solidFill>
                    <a:srgbClr val="FFD479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movq %rsi, %rdi</a:t>
              </a:r>
              <a:endParaRPr lang="zh-CN" sz="1500" dirty="0"/>
            </a:p>
          </p:txBody>
        </p:sp>
        <p:sp>
          <p:nvSpPr>
            <p:cNvPr id="13" name="Text 1"/>
            <p:cNvSpPr/>
            <p:nvPr/>
          </p:nvSpPr>
          <p:spPr>
            <a:xfrm>
              <a:off x="2692400" y="3187700"/>
              <a:ext cx="1866900" cy="1905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500" b="0" i="0" dirty="0">
                  <a:solidFill>
                    <a:srgbClr val="7A8DB5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; ① 参数装入 %rdi</a:t>
              </a:r>
              <a:endParaRPr lang="zh-CN" sz="1500" dirty="0"/>
            </a:p>
          </p:txBody>
        </p:sp>
      </p:grpSp>
      <p:sp>
        <p:nvSpPr>
          <p:cNvPr id="14" name="Text 9"/>
          <p:cNvSpPr/>
          <p:nvPr/>
        </p:nvSpPr>
        <p:spPr>
          <a:xfrm>
            <a:off x="863600" y="3549650"/>
            <a:ext cx="1143000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500" b="0" i="0" dirty="0">
                <a:solidFill>
                  <a:srgbClr val="7A8DB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call twice</a:t>
            </a:r>
            <a:endParaRPr lang="zh-CN" sz="1500" dirty="0"/>
          </a:p>
        </p:txBody>
      </p:sp>
      <p:sp>
        <p:nvSpPr>
          <p:cNvPr id="15" name="Text 10"/>
          <p:cNvSpPr/>
          <p:nvPr/>
        </p:nvSpPr>
        <p:spPr>
          <a:xfrm>
            <a:off x="863600" y="3911600"/>
            <a:ext cx="1714500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500" b="0" i="0" dirty="0">
                <a:solidFill>
                  <a:srgbClr val="7A8DB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movq %rax, %rdx</a:t>
            </a:r>
            <a:endParaRPr lang="zh-CN" sz="1500" dirty="0"/>
          </a:p>
        </p:txBody>
      </p:sp>
      <p:sp>
        <p:nvSpPr>
          <p:cNvPr id="16" name="Text 11"/>
          <p:cNvSpPr/>
          <p:nvPr/>
        </p:nvSpPr>
        <p:spPr>
          <a:xfrm>
            <a:off x="863600" y="4273550"/>
            <a:ext cx="1714500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500" b="0" i="0" dirty="0">
                <a:solidFill>
                  <a:srgbClr val="7A8DB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movq %rbx, %rax</a:t>
            </a:r>
            <a:endParaRPr lang="zh-CN" sz="1500" dirty="0"/>
          </a:p>
        </p:txBody>
      </p:sp>
      <p:grpSp>
        <p:nvGrpSpPr>
          <p:cNvPr id="17" name="ma"/>
          <p:cNvGrpSpPr/>
          <p:nvPr/>
        </p:nvGrpSpPr>
        <p:grpSpPr>
          <a:xfrm>
            <a:off x="863600" y="4635500"/>
            <a:ext cx="2247900" cy="190500"/>
            <a:chOff x="863600" y="4635500"/>
            <a:chExt cx="2247900" cy="190500"/>
          </a:xfrm>
        </p:grpSpPr>
        <p:sp>
          <p:nvSpPr>
            <p:cNvPr id="18" name="Text 0"/>
            <p:cNvSpPr/>
            <p:nvPr/>
          </p:nvSpPr>
          <p:spPr>
            <a:xfrm>
              <a:off x="863600" y="4635500"/>
              <a:ext cx="1714500" cy="1905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500" b="1" i="0" dirty="0">
                  <a:solidFill>
                    <a:srgbClr val="FFD479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addq %rbx, %rax</a:t>
              </a:r>
              <a:endParaRPr lang="zh-CN" sz="1500" dirty="0"/>
            </a:p>
          </p:txBody>
        </p:sp>
        <p:sp>
          <p:nvSpPr>
            <p:cNvPr id="19" name="Text 1"/>
            <p:cNvSpPr/>
            <p:nvPr/>
          </p:nvSpPr>
          <p:spPr>
            <a:xfrm>
              <a:off x="2692400" y="4635500"/>
              <a:ext cx="419100" cy="1905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500" b="0" i="0" dirty="0">
                  <a:solidFill>
                    <a:srgbClr val="7A8DB5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; ②</a:t>
              </a:r>
              <a:endParaRPr lang="zh-CN" sz="1500" dirty="0"/>
            </a:p>
          </p:txBody>
        </p:sp>
      </p:grpSp>
      <p:sp>
        <p:nvSpPr>
          <p:cNvPr id="20" name="Text 12"/>
          <p:cNvSpPr/>
          <p:nvPr/>
        </p:nvSpPr>
        <p:spPr>
          <a:xfrm>
            <a:off x="863600" y="4997450"/>
            <a:ext cx="1028700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500" b="0" i="0" dirty="0">
                <a:solidFill>
                  <a:srgbClr val="7A8DB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popq %rbx</a:t>
            </a:r>
            <a:endParaRPr lang="zh-CN" sz="1500" dirty="0"/>
          </a:p>
        </p:txBody>
      </p:sp>
      <p:sp>
        <p:nvSpPr>
          <p:cNvPr id="21" name="Text 13"/>
          <p:cNvSpPr/>
          <p:nvPr/>
        </p:nvSpPr>
        <p:spPr>
          <a:xfrm>
            <a:off x="863600" y="5359400"/>
            <a:ext cx="342900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500" b="0" i="0" dirty="0">
                <a:solidFill>
                  <a:srgbClr val="7A8DB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ret</a:t>
            </a:r>
            <a:endParaRPr lang="zh-CN" sz="1500" dirty="0"/>
          </a:p>
        </p:txBody>
      </p:sp>
      <p:sp>
        <p:nvSpPr>
          <p:cNvPr id="22" name="Shape 14"/>
          <p:cNvSpPr/>
          <p:nvPr/>
        </p:nvSpPr>
        <p:spPr>
          <a:xfrm>
            <a:off x="609600" y="6045200"/>
            <a:ext cx="5614591" cy="812800"/>
          </a:xfrm>
          <a:prstGeom prst="rect">
            <a:avLst/>
          </a:prstGeom>
          <a:solidFill>
            <a:srgbClr val="FFFFFF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15"/>
          <p:cNvSpPr/>
          <p:nvPr/>
        </p:nvSpPr>
        <p:spPr>
          <a:xfrm>
            <a:off x="609600" y="6048375"/>
            <a:ext cx="5614591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16"/>
          <p:cNvSpPr/>
          <p:nvPr/>
        </p:nvSpPr>
        <p:spPr>
          <a:xfrm>
            <a:off x="6221016" y="6045200"/>
            <a:ext cx="0" cy="81280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17"/>
          <p:cNvSpPr/>
          <p:nvPr/>
        </p:nvSpPr>
        <p:spPr>
          <a:xfrm>
            <a:off x="635000" y="6045200"/>
            <a:ext cx="0" cy="812800"/>
          </a:xfrm>
          <a:prstGeom prst="line">
            <a:avLst/>
          </a:prstGeom>
          <a:noFill/>
          <a:ln w="50800">
            <a:solidFill>
              <a:srgbClr val="C8A24A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18"/>
          <p:cNvSpPr/>
          <p:nvPr/>
        </p:nvSpPr>
        <p:spPr>
          <a:xfrm>
            <a:off x="889000" y="6216650"/>
            <a:ext cx="355699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1" i="0" dirty="0">
                <a:solidFill>
                  <a:srgbClr val="1E3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答案</a:t>
            </a:r>
            <a:endParaRPr lang="zh-CN" sz="1400" dirty="0"/>
          </a:p>
        </p:txBody>
      </p:sp>
      <p:grpSp>
        <p:nvGrpSpPr>
          <p:cNvPr id="27" name="ma"/>
          <p:cNvGrpSpPr/>
          <p:nvPr/>
        </p:nvGrpSpPr>
        <p:grpSpPr>
          <a:xfrm>
            <a:off x="889000" y="6540500"/>
            <a:ext cx="4165203" cy="279400"/>
            <a:chOff x="889000" y="6540500"/>
            <a:chExt cx="4165203" cy="279400"/>
          </a:xfrm>
        </p:grpSpPr>
        <p:sp>
          <p:nvSpPr>
            <p:cNvPr id="28" name="Text 0"/>
            <p:cNvSpPr/>
            <p:nvPr/>
          </p:nvSpPr>
          <p:spPr>
            <a:xfrm>
              <a:off x="889000" y="6540500"/>
              <a:ext cx="223341" cy="26035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500" b="0" i="0" dirty="0">
                  <a:solidFill>
                    <a:srgbClr val="1C233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(1)</a:t>
              </a:r>
              <a:endParaRPr lang="zh-CN" sz="1500" dirty="0"/>
            </a:p>
          </p:txBody>
        </p:sp>
        <p:sp>
          <p:nvSpPr>
            <p:cNvPr id="29" name="Text 1"/>
            <p:cNvSpPr/>
            <p:nvPr/>
          </p:nvSpPr>
          <p:spPr>
            <a:xfrm>
              <a:off x="3066752" y="6540500"/>
              <a:ext cx="223441" cy="26035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500" b="0" i="0" dirty="0">
                  <a:solidFill>
                    <a:srgbClr val="1C233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(2)</a:t>
              </a:r>
              <a:endParaRPr lang="zh-CN" sz="1500" dirty="0"/>
            </a:p>
          </p:txBody>
        </p:sp>
        <p:sp>
          <p:nvSpPr>
            <p:cNvPr id="30" name="Text 2"/>
            <p:cNvSpPr/>
            <p:nvPr/>
          </p:nvSpPr>
          <p:spPr>
            <a:xfrm>
              <a:off x="1161852" y="6629400"/>
              <a:ext cx="1714500" cy="1905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500" b="1" i="0" dirty="0">
                  <a:solidFill>
                    <a:srgbClr val="3B6BB5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movq %rsi, %rdi</a:t>
              </a:r>
              <a:endParaRPr lang="zh-CN" sz="1500" dirty="0"/>
            </a:p>
          </p:txBody>
        </p:sp>
        <p:sp>
          <p:nvSpPr>
            <p:cNvPr id="31" name="Text 3"/>
            <p:cNvSpPr/>
            <p:nvPr/>
          </p:nvSpPr>
          <p:spPr>
            <a:xfrm>
              <a:off x="3339703" y="6629400"/>
              <a:ext cx="1714500" cy="1905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500" b="1" i="0" dirty="0">
                  <a:solidFill>
                    <a:srgbClr val="3B6BB5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addq %rbx, %rax</a:t>
              </a:r>
              <a:endParaRPr lang="zh-CN" sz="1500" dirty="0"/>
            </a:p>
          </p:txBody>
        </p:sp>
      </p:grpSp>
      <p:sp>
        <p:nvSpPr>
          <p:cNvPr id="32" name="Shape 19"/>
          <p:cNvSpPr/>
          <p:nvPr/>
        </p:nvSpPr>
        <p:spPr>
          <a:xfrm>
            <a:off x="6478191" y="1435100"/>
            <a:ext cx="5104209" cy="596900"/>
          </a:xfrm>
          <a:custGeom>
            <a:avLst/>
            <a:gdLst/>
            <a:ahLst/>
            <a:cxnLst/>
            <a:rect l="l" t="t" r="r" b="b"/>
            <a:pathLst>
              <a:path w="5104209" h="596900">
                <a:moveTo>
                  <a:pt x="0" y="0"/>
                </a:moveTo>
                <a:lnTo>
                  <a:pt x="5104209" y="0"/>
                </a:lnTo>
                <a:cubicBezTo>
                  <a:pt x="5104209" y="0"/>
                  <a:pt x="5104209" y="0"/>
                  <a:pt x="5104209" y="0"/>
                </a:cubicBezTo>
                <a:lnTo>
                  <a:pt x="5104209" y="596900"/>
                </a:lnTo>
                <a:cubicBezTo>
                  <a:pt x="5104209" y="596900"/>
                  <a:pt x="5104209" y="596900"/>
                  <a:pt x="5104209" y="596900"/>
                </a:cubicBezTo>
                <a:lnTo>
                  <a:pt x="0" y="596900"/>
                </a:lnTo>
                <a:cubicBezTo>
                  <a:pt x="0" y="596900"/>
                  <a:pt x="0" y="596900"/>
                  <a:pt x="0" y="5969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1E3A6E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0"/>
          <p:cNvSpPr/>
          <p:nvPr/>
        </p:nvSpPr>
        <p:spPr>
          <a:xfrm>
            <a:off x="6706791" y="1606550"/>
            <a:ext cx="1016099" cy="273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600" b="1" i="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核心知识点</a:t>
            </a:r>
            <a:endParaRPr lang="zh-CN" sz="1600" dirty="0"/>
          </a:p>
        </p:txBody>
      </p:sp>
      <p:sp>
        <p:nvSpPr>
          <p:cNvPr id="34" name="Shape 21"/>
          <p:cNvSpPr/>
          <p:nvPr/>
        </p:nvSpPr>
        <p:spPr>
          <a:xfrm>
            <a:off x="6478191" y="2032000"/>
            <a:ext cx="5104209" cy="3975100"/>
          </a:xfrm>
          <a:custGeom>
            <a:avLst/>
            <a:gdLst/>
            <a:ahLst/>
            <a:cxnLst/>
            <a:rect l="l" t="t" r="r" b="b"/>
            <a:pathLst>
              <a:path w="5104209" h="3975100">
                <a:moveTo>
                  <a:pt x="0" y="0"/>
                </a:moveTo>
                <a:lnTo>
                  <a:pt x="5104209" y="0"/>
                </a:lnTo>
                <a:cubicBezTo>
                  <a:pt x="5104209" y="0"/>
                  <a:pt x="5104209" y="0"/>
                  <a:pt x="5104209" y="0"/>
                </a:cubicBezTo>
                <a:lnTo>
                  <a:pt x="5104209" y="3975100"/>
                </a:lnTo>
                <a:cubicBezTo>
                  <a:pt x="5104209" y="3975100"/>
                  <a:pt x="5104209" y="3975100"/>
                  <a:pt x="5104209" y="3975100"/>
                </a:cubicBezTo>
                <a:lnTo>
                  <a:pt x="0" y="3975100"/>
                </a:lnTo>
                <a:cubicBezTo>
                  <a:pt x="0" y="3975100"/>
                  <a:pt x="0" y="3975100"/>
                  <a:pt x="0" y="39751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22"/>
          <p:cNvSpPr/>
          <p:nvPr/>
        </p:nvSpPr>
        <p:spPr>
          <a:xfrm>
            <a:off x="6713141" y="2241550"/>
            <a:ext cx="4634309" cy="434975"/>
          </a:xfrm>
          <a:custGeom>
            <a:avLst/>
            <a:gdLst/>
            <a:ahLst/>
            <a:cxnLst/>
            <a:rect l="l" t="t" r="r" b="b"/>
            <a:pathLst>
              <a:path w="4634309" h="434975">
                <a:moveTo>
                  <a:pt x="0" y="0"/>
                </a:moveTo>
                <a:lnTo>
                  <a:pt x="4634309" y="0"/>
                </a:lnTo>
                <a:cubicBezTo>
                  <a:pt x="4634309" y="0"/>
                  <a:pt x="4634309" y="0"/>
                  <a:pt x="4634309" y="0"/>
                </a:cubicBezTo>
                <a:lnTo>
                  <a:pt x="4634309" y="434975"/>
                </a:lnTo>
                <a:cubicBezTo>
                  <a:pt x="4634309" y="434975"/>
                  <a:pt x="4634309" y="434975"/>
                  <a:pt x="4634309" y="434975"/>
                </a:cubicBezTo>
                <a:lnTo>
                  <a:pt x="0" y="434975"/>
                </a:lnTo>
                <a:cubicBezTo>
                  <a:pt x="0" y="434975"/>
                  <a:pt x="0" y="434975"/>
                  <a:pt x="0" y="4349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E2E9F4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Shape 23"/>
          <p:cNvSpPr/>
          <p:nvPr/>
        </p:nvSpPr>
        <p:spPr>
          <a:xfrm>
            <a:off x="6713141" y="2676525"/>
            <a:ext cx="1448197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24"/>
          <p:cNvSpPr/>
          <p:nvPr/>
        </p:nvSpPr>
        <p:spPr>
          <a:xfrm>
            <a:off x="6802041" y="2343150"/>
            <a:ext cx="889099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1" i="0" dirty="0">
                <a:solidFill>
                  <a:srgbClr val="1C2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寄存器类别</a:t>
            </a:r>
            <a:endParaRPr lang="zh-CN" sz="1400" dirty="0"/>
          </a:p>
        </p:txBody>
      </p:sp>
      <p:sp>
        <p:nvSpPr>
          <p:cNvPr id="38" name="Shape 25"/>
          <p:cNvSpPr/>
          <p:nvPr/>
        </p:nvSpPr>
        <p:spPr>
          <a:xfrm>
            <a:off x="8161337" y="2676525"/>
            <a:ext cx="3186113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26"/>
          <p:cNvSpPr/>
          <p:nvPr/>
        </p:nvSpPr>
        <p:spPr>
          <a:xfrm>
            <a:off x="8250237" y="2343150"/>
            <a:ext cx="355699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1" i="0" dirty="0">
                <a:solidFill>
                  <a:srgbClr val="1C2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代表</a:t>
            </a:r>
            <a:endParaRPr lang="zh-CN" sz="1400" dirty="0"/>
          </a:p>
        </p:txBody>
      </p:sp>
      <p:sp>
        <p:nvSpPr>
          <p:cNvPr id="40" name="Shape 27"/>
          <p:cNvSpPr/>
          <p:nvPr/>
        </p:nvSpPr>
        <p:spPr>
          <a:xfrm>
            <a:off x="6713141" y="3114675"/>
            <a:ext cx="1448197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28"/>
          <p:cNvSpPr/>
          <p:nvPr/>
        </p:nvSpPr>
        <p:spPr>
          <a:xfrm>
            <a:off x="6802041" y="2781300"/>
            <a:ext cx="889099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0" i="0" dirty="0">
                <a:solidFill>
                  <a:srgbClr val="1C2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调用者保存</a:t>
            </a:r>
            <a:endParaRPr lang="zh-CN" sz="1400" dirty="0"/>
          </a:p>
        </p:txBody>
      </p:sp>
      <p:sp>
        <p:nvSpPr>
          <p:cNvPr id="42" name="Shape 29"/>
          <p:cNvSpPr/>
          <p:nvPr/>
        </p:nvSpPr>
        <p:spPr>
          <a:xfrm>
            <a:off x="8161337" y="3114675"/>
            <a:ext cx="3186113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0"/>
          <p:cNvSpPr/>
          <p:nvPr/>
        </p:nvSpPr>
        <p:spPr>
          <a:xfrm>
            <a:off x="8250237" y="2806700"/>
            <a:ext cx="2560340" cy="177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1" i="0" dirty="0">
                <a:solidFill>
                  <a:srgbClr val="3B6BB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%rax %rcx %rdx %rsi %rdi</a:t>
            </a:r>
            <a:endParaRPr lang="zh-CN" sz="1400" dirty="0"/>
          </a:p>
        </p:txBody>
      </p:sp>
      <p:sp>
        <p:nvSpPr>
          <p:cNvPr id="44" name="Text 31"/>
          <p:cNvSpPr/>
          <p:nvPr/>
        </p:nvSpPr>
        <p:spPr>
          <a:xfrm>
            <a:off x="6802041" y="3219450"/>
            <a:ext cx="1066899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0" i="0" dirty="0">
                <a:solidFill>
                  <a:srgbClr val="1C2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被调用者保存</a:t>
            </a:r>
            <a:endParaRPr lang="zh-CN" sz="1400" dirty="0"/>
          </a:p>
        </p:txBody>
      </p:sp>
      <p:sp>
        <p:nvSpPr>
          <p:cNvPr id="45" name="Text 32"/>
          <p:cNvSpPr/>
          <p:nvPr/>
        </p:nvSpPr>
        <p:spPr>
          <a:xfrm>
            <a:off x="8250237" y="3244850"/>
            <a:ext cx="2026940" cy="177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1" i="0" dirty="0">
                <a:solidFill>
                  <a:srgbClr val="3B6BB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%rbx %rbp %r12–%r15</a:t>
            </a:r>
            <a:endParaRPr lang="zh-CN" sz="1400" dirty="0"/>
          </a:p>
        </p:txBody>
      </p:sp>
      <p:grpSp>
        <p:nvGrpSpPr>
          <p:cNvPr id="46" name="ma"/>
          <p:cNvGrpSpPr/>
          <p:nvPr/>
        </p:nvGrpSpPr>
        <p:grpSpPr>
          <a:xfrm>
            <a:off x="6713141" y="3765550"/>
            <a:ext cx="4575373" cy="951111"/>
            <a:chOff x="6713141" y="3765550"/>
            <a:chExt cx="4575373" cy="951111"/>
          </a:xfrm>
        </p:grpSpPr>
        <p:sp>
          <p:nvSpPr>
            <p:cNvPr id="47" name="Text 0"/>
            <p:cNvSpPr/>
            <p:nvPr/>
          </p:nvSpPr>
          <p:spPr>
            <a:xfrm>
              <a:off x="6713141" y="3765550"/>
              <a:ext cx="4575373" cy="2413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400" b="0" i="0" dirty="0">
                  <a:solidFill>
                    <a:srgbClr val="1C233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· 被调用者保存寄存器使用前 push 保存、返回前 pop 恢复</a:t>
              </a:r>
              <a:endParaRPr lang="zh-CN" sz="1400" dirty="0"/>
            </a:p>
          </p:txBody>
        </p:sp>
        <p:sp>
          <p:nvSpPr>
            <p:cNvPr id="48" name="Text 1"/>
            <p:cNvSpPr/>
            <p:nvPr/>
          </p:nvSpPr>
          <p:spPr>
            <a:xfrm>
              <a:off x="6713141" y="4085530"/>
              <a:ext cx="982960" cy="2413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400" b="0" i="0" dirty="0">
                  <a:solidFill>
                    <a:srgbClr val="1C233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· 参数顺序：</a:t>
              </a:r>
              <a:endParaRPr lang="zh-CN" sz="1400" dirty="0"/>
            </a:p>
          </p:txBody>
        </p:sp>
        <p:sp>
          <p:nvSpPr>
            <p:cNvPr id="49" name="Text 2"/>
            <p:cNvSpPr/>
            <p:nvPr/>
          </p:nvSpPr>
          <p:spPr>
            <a:xfrm>
              <a:off x="6713141" y="4456311"/>
              <a:ext cx="2421731" cy="2413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400" b="0" i="0" dirty="0">
                  <a:solidFill>
                    <a:srgbClr val="1C233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· 超过 6 个参数放栈；返回值存</a:t>
              </a:r>
              <a:endParaRPr lang="zh-CN" sz="1400" dirty="0"/>
            </a:p>
          </p:txBody>
        </p:sp>
        <p:sp>
          <p:nvSpPr>
            <p:cNvPr id="50" name="Text 3"/>
            <p:cNvSpPr/>
            <p:nvPr/>
          </p:nvSpPr>
          <p:spPr>
            <a:xfrm>
              <a:off x="7696101" y="4168080"/>
              <a:ext cx="2880420" cy="1778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400" b="1" i="0" dirty="0">
                  <a:solidFill>
                    <a:srgbClr val="3B6BB5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%rdi→%rsi→%rdx→%rcx→%r8→%r9</a:t>
              </a:r>
              <a:endParaRPr lang="zh-CN" sz="1400" dirty="0"/>
            </a:p>
          </p:txBody>
        </p:sp>
        <p:sp>
          <p:nvSpPr>
            <p:cNvPr id="51" name="Text 4"/>
            <p:cNvSpPr/>
            <p:nvPr/>
          </p:nvSpPr>
          <p:spPr>
            <a:xfrm>
              <a:off x="9181108" y="4538861"/>
              <a:ext cx="426740" cy="1778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400" b="1" i="0" dirty="0">
                  <a:solidFill>
                    <a:srgbClr val="3B6BB5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%rax</a:t>
              </a:r>
              <a:endParaRPr lang="zh-CN" sz="1400" dirty="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95300"/>
            <a:ext cx="3531295" cy="5524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3200" b="1" i="0" dirty="0">
                <a:solidFill>
                  <a:srgbClr val="1E3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6.3 过程调用和栈帧</a:t>
            </a:r>
            <a:endParaRPr lang="zh-CN" sz="3200" dirty="0"/>
          </a:p>
        </p:txBody>
      </p:sp>
      <p:sp>
        <p:nvSpPr>
          <p:cNvPr id="3" name="Shape 1"/>
          <p:cNvSpPr/>
          <p:nvPr/>
        </p:nvSpPr>
        <p:spPr>
          <a:xfrm>
            <a:off x="4293295" y="666750"/>
            <a:ext cx="573484" cy="342900"/>
          </a:xfrm>
          <a:custGeom>
            <a:avLst/>
            <a:gdLst/>
            <a:ahLst/>
            <a:cxnLst/>
            <a:rect l="l" t="t" r="r" b="b"/>
            <a:pathLst>
              <a:path w="573484" h="342900">
                <a:moveTo>
                  <a:pt x="0" y="0"/>
                </a:moveTo>
                <a:lnTo>
                  <a:pt x="573485" y="0"/>
                </a:lnTo>
                <a:cubicBezTo>
                  <a:pt x="573485" y="0"/>
                  <a:pt x="573485" y="0"/>
                  <a:pt x="573485" y="0"/>
                </a:cubicBezTo>
                <a:lnTo>
                  <a:pt x="573485" y="342900"/>
                </a:lnTo>
                <a:cubicBezTo>
                  <a:pt x="573485" y="342900"/>
                  <a:pt x="573485" y="342900"/>
                  <a:pt x="573485" y="342900"/>
                </a:cubicBezTo>
                <a:lnTo>
                  <a:pt x="0" y="342900"/>
                </a:lnTo>
                <a:cubicBezTo>
                  <a:pt x="0" y="342900"/>
                  <a:pt x="0" y="342900"/>
                  <a:pt x="0" y="3429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C8A24A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420295" y="711200"/>
            <a:ext cx="319484" cy="273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600" b="1" i="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8分</a:t>
            </a:r>
            <a:endParaRPr lang="zh-CN" sz="1600" dirty="0"/>
          </a:p>
        </p:txBody>
      </p:sp>
      <p:sp>
        <p:nvSpPr>
          <p:cNvPr id="5" name="Shape 3"/>
          <p:cNvSpPr/>
          <p:nvPr/>
        </p:nvSpPr>
        <p:spPr>
          <a:xfrm>
            <a:off x="609600" y="1174750"/>
            <a:ext cx="609600" cy="31750"/>
          </a:xfrm>
          <a:custGeom>
            <a:avLst/>
            <a:gdLst/>
            <a:ahLst/>
            <a:cxnLst/>
            <a:rect l="l" t="t" r="r" b="b"/>
            <a:pathLst>
              <a:path w="609600" h="31750">
                <a:moveTo>
                  <a:pt x="0" y="0"/>
                </a:moveTo>
                <a:lnTo>
                  <a:pt x="609600" y="0"/>
                </a:lnTo>
                <a:cubicBezTo>
                  <a:pt x="609600" y="0"/>
                  <a:pt x="609600" y="0"/>
                  <a:pt x="609600" y="0"/>
                </a:cubicBezTo>
                <a:lnTo>
                  <a:pt x="609600" y="31750"/>
                </a:lnTo>
                <a:cubicBezTo>
                  <a:pt x="609600" y="31750"/>
                  <a:pt x="609600" y="31750"/>
                  <a:pt x="609600" y="31750"/>
                </a:cubicBezTo>
                <a:lnTo>
                  <a:pt x="0" y="31750"/>
                </a:lnTo>
                <a:cubicBezTo>
                  <a:pt x="0" y="31750"/>
                  <a:pt x="0" y="31750"/>
                  <a:pt x="0" y="3175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C8A24A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09600" y="1435100"/>
            <a:ext cx="6077545" cy="4572000"/>
          </a:xfrm>
          <a:custGeom>
            <a:avLst/>
            <a:gdLst/>
            <a:ahLst/>
            <a:cxnLst/>
            <a:rect l="l" t="t" r="r" b="b"/>
            <a:pathLst>
              <a:path w="6077545" h="4572000">
                <a:moveTo>
                  <a:pt x="0" y="0"/>
                </a:moveTo>
                <a:lnTo>
                  <a:pt x="6077545" y="0"/>
                </a:lnTo>
                <a:cubicBezTo>
                  <a:pt x="6077545" y="0"/>
                  <a:pt x="6077545" y="0"/>
                  <a:pt x="6077545" y="0"/>
                </a:cubicBezTo>
                <a:lnTo>
                  <a:pt x="6077545" y="4572000"/>
                </a:lnTo>
                <a:cubicBezTo>
                  <a:pt x="6077545" y="4572000"/>
                  <a:pt x="6077545" y="4572000"/>
                  <a:pt x="6077545" y="4572000"/>
                </a:cubicBezTo>
                <a:lnTo>
                  <a:pt x="0" y="4572000"/>
                </a:lnTo>
                <a:cubicBezTo>
                  <a:pt x="0" y="4572000"/>
                  <a:pt x="0" y="4572000"/>
                  <a:pt x="0" y="45720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1C2333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63600" y="1651000"/>
            <a:ext cx="2494260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1" i="0" dirty="0">
                <a:solidFill>
                  <a:srgbClr val="C8A2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run 函数的汇编（空缺已补全）</a:t>
            </a:r>
            <a:endParaRPr lang="zh-CN" sz="1400" dirty="0"/>
          </a:p>
        </p:txBody>
      </p:sp>
      <p:sp>
        <p:nvSpPr>
          <p:cNvPr id="8" name="Text 6"/>
          <p:cNvSpPr/>
          <p:nvPr/>
        </p:nvSpPr>
        <p:spPr>
          <a:xfrm>
            <a:off x="863600" y="2044700"/>
            <a:ext cx="457200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500" b="0" i="0" dirty="0">
                <a:solidFill>
                  <a:srgbClr val="7A8DB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run:</a:t>
            </a:r>
            <a:endParaRPr lang="zh-CN" sz="1500" dirty="0"/>
          </a:p>
        </p:txBody>
      </p:sp>
      <p:sp>
        <p:nvSpPr>
          <p:cNvPr id="9" name="Text 7"/>
          <p:cNvSpPr/>
          <p:nvPr/>
        </p:nvSpPr>
        <p:spPr>
          <a:xfrm>
            <a:off x="863600" y="2345630"/>
            <a:ext cx="1143000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500" b="0" i="0" dirty="0">
                <a:solidFill>
                  <a:srgbClr val="7A8DB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pushq %rbx</a:t>
            </a:r>
            <a:endParaRPr lang="zh-CN" sz="1500" dirty="0"/>
          </a:p>
        </p:txBody>
      </p:sp>
      <p:sp>
        <p:nvSpPr>
          <p:cNvPr id="10" name="Text 8"/>
          <p:cNvSpPr/>
          <p:nvPr/>
        </p:nvSpPr>
        <p:spPr>
          <a:xfrm>
            <a:off x="863600" y="2646561"/>
            <a:ext cx="1600200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500" b="0" i="0" dirty="0">
                <a:solidFill>
                  <a:srgbClr val="7A8DB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subq $16, %rsp</a:t>
            </a:r>
            <a:endParaRPr lang="zh-CN" sz="1500" dirty="0"/>
          </a:p>
        </p:txBody>
      </p:sp>
      <p:sp>
        <p:nvSpPr>
          <p:cNvPr id="11" name="Text 9"/>
          <p:cNvSpPr/>
          <p:nvPr/>
        </p:nvSpPr>
        <p:spPr>
          <a:xfrm>
            <a:off x="863600" y="2947491"/>
            <a:ext cx="1943100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500" b="0" i="0" dirty="0">
                <a:solidFill>
                  <a:srgbClr val="7A8DB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movq %rsi, (%rsp)</a:t>
            </a:r>
            <a:endParaRPr lang="zh-CN" sz="1500" dirty="0"/>
          </a:p>
        </p:txBody>
      </p:sp>
      <p:grpSp>
        <p:nvGrpSpPr>
          <p:cNvPr id="12" name="ma"/>
          <p:cNvGrpSpPr/>
          <p:nvPr/>
        </p:nvGrpSpPr>
        <p:grpSpPr>
          <a:xfrm>
            <a:off x="863600" y="3248422"/>
            <a:ext cx="2590800" cy="190500"/>
            <a:chOff x="863600" y="3248422"/>
            <a:chExt cx="2590800" cy="190500"/>
          </a:xfrm>
        </p:grpSpPr>
        <p:sp>
          <p:nvSpPr>
            <p:cNvPr id="13" name="Text 0"/>
            <p:cNvSpPr/>
            <p:nvPr/>
          </p:nvSpPr>
          <p:spPr>
            <a:xfrm>
              <a:off x="863600" y="3248422"/>
              <a:ext cx="2057400" cy="1905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500" b="1" i="0" dirty="0">
                  <a:solidFill>
                    <a:srgbClr val="FFD479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leaq 8(%rsp), %rdi</a:t>
              </a:r>
              <a:endParaRPr lang="zh-CN" sz="1500" dirty="0"/>
            </a:p>
          </p:txBody>
        </p:sp>
        <p:sp>
          <p:nvSpPr>
            <p:cNvPr id="14" name="Text 1"/>
            <p:cNvSpPr/>
            <p:nvPr/>
          </p:nvSpPr>
          <p:spPr>
            <a:xfrm>
              <a:off x="3035300" y="3248422"/>
              <a:ext cx="419100" cy="1905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500" b="0" i="0" dirty="0">
                  <a:solidFill>
                    <a:srgbClr val="7A8DB5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; ①</a:t>
              </a:r>
              <a:endParaRPr lang="zh-CN" sz="1500" dirty="0"/>
            </a:p>
          </p:txBody>
        </p:sp>
      </p:grpSp>
      <p:sp>
        <p:nvSpPr>
          <p:cNvPr id="15" name="Text 10"/>
          <p:cNvSpPr/>
          <p:nvPr/>
        </p:nvSpPr>
        <p:spPr>
          <a:xfrm>
            <a:off x="863600" y="3549352"/>
            <a:ext cx="1143000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500" b="0" i="0" dirty="0">
                <a:solidFill>
                  <a:srgbClr val="7A8DB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call twice</a:t>
            </a:r>
            <a:endParaRPr lang="zh-CN" sz="1500" dirty="0"/>
          </a:p>
        </p:txBody>
      </p:sp>
      <p:sp>
        <p:nvSpPr>
          <p:cNvPr id="16" name="Text 11"/>
          <p:cNvSpPr/>
          <p:nvPr/>
        </p:nvSpPr>
        <p:spPr>
          <a:xfrm>
            <a:off x="863600" y="3850283"/>
            <a:ext cx="1714500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500" b="0" i="0" dirty="0">
                <a:solidFill>
                  <a:srgbClr val="7A8DB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movq %rax, %rbx</a:t>
            </a:r>
            <a:endParaRPr lang="zh-CN" sz="1500" dirty="0"/>
          </a:p>
        </p:txBody>
      </p:sp>
      <p:grpSp>
        <p:nvGrpSpPr>
          <p:cNvPr id="17" name="ma"/>
          <p:cNvGrpSpPr/>
          <p:nvPr/>
        </p:nvGrpSpPr>
        <p:grpSpPr>
          <a:xfrm>
            <a:off x="863600" y="4151213"/>
            <a:ext cx="2590800" cy="190500"/>
            <a:chOff x="863600" y="4151213"/>
            <a:chExt cx="2590800" cy="190500"/>
          </a:xfrm>
        </p:grpSpPr>
        <p:sp>
          <p:nvSpPr>
            <p:cNvPr id="18" name="Text 0"/>
            <p:cNvSpPr/>
            <p:nvPr/>
          </p:nvSpPr>
          <p:spPr>
            <a:xfrm>
              <a:off x="863600" y="4151213"/>
              <a:ext cx="2057400" cy="1905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500" b="1" i="0" dirty="0">
                  <a:solidFill>
                    <a:srgbClr val="FFD479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addq 8(%rsp), %rax</a:t>
              </a:r>
              <a:endParaRPr lang="zh-CN" sz="1500" dirty="0"/>
            </a:p>
          </p:txBody>
        </p:sp>
        <p:sp>
          <p:nvSpPr>
            <p:cNvPr id="19" name="Text 1"/>
            <p:cNvSpPr/>
            <p:nvPr/>
          </p:nvSpPr>
          <p:spPr>
            <a:xfrm>
              <a:off x="3035300" y="4151213"/>
              <a:ext cx="419100" cy="1905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500" b="0" i="0" dirty="0">
                  <a:solidFill>
                    <a:srgbClr val="7A8DB5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; ②</a:t>
              </a:r>
              <a:endParaRPr lang="zh-CN" sz="1500" dirty="0"/>
            </a:p>
          </p:txBody>
        </p:sp>
      </p:grpSp>
      <p:grpSp>
        <p:nvGrpSpPr>
          <p:cNvPr id="20" name="ma"/>
          <p:cNvGrpSpPr/>
          <p:nvPr/>
        </p:nvGrpSpPr>
        <p:grpSpPr>
          <a:xfrm>
            <a:off x="863600" y="4452144"/>
            <a:ext cx="2247900" cy="190500"/>
            <a:chOff x="863600" y="4452144"/>
            <a:chExt cx="2247900" cy="190500"/>
          </a:xfrm>
        </p:grpSpPr>
        <p:sp>
          <p:nvSpPr>
            <p:cNvPr id="21" name="Text 0"/>
            <p:cNvSpPr/>
            <p:nvPr/>
          </p:nvSpPr>
          <p:spPr>
            <a:xfrm>
              <a:off x="863600" y="4452144"/>
              <a:ext cx="1714500" cy="1905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500" b="1" i="0" dirty="0">
                  <a:solidFill>
                    <a:srgbClr val="FFD479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addq %rbx, %rax</a:t>
              </a:r>
              <a:endParaRPr lang="zh-CN" sz="1500" dirty="0"/>
            </a:p>
          </p:txBody>
        </p:sp>
        <p:sp>
          <p:nvSpPr>
            <p:cNvPr id="22" name="Text 1"/>
            <p:cNvSpPr/>
            <p:nvPr/>
          </p:nvSpPr>
          <p:spPr>
            <a:xfrm>
              <a:off x="2692400" y="4452144"/>
              <a:ext cx="419100" cy="1905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500" b="0" i="0" dirty="0">
                  <a:solidFill>
                    <a:srgbClr val="7A8DB5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; ③</a:t>
              </a:r>
              <a:endParaRPr lang="zh-CN" sz="1500" dirty="0"/>
            </a:p>
          </p:txBody>
        </p:sp>
      </p:grpSp>
      <p:sp>
        <p:nvSpPr>
          <p:cNvPr id="23" name="Text 12"/>
          <p:cNvSpPr/>
          <p:nvPr/>
        </p:nvSpPr>
        <p:spPr>
          <a:xfrm>
            <a:off x="863600" y="4753074"/>
            <a:ext cx="1600200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500" b="0" i="0" dirty="0">
                <a:solidFill>
                  <a:srgbClr val="7A8DB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addq $16, %rsp</a:t>
            </a:r>
            <a:endParaRPr lang="zh-CN" sz="1500" dirty="0"/>
          </a:p>
        </p:txBody>
      </p:sp>
      <p:sp>
        <p:nvSpPr>
          <p:cNvPr id="24" name="Text 13"/>
          <p:cNvSpPr/>
          <p:nvPr/>
        </p:nvSpPr>
        <p:spPr>
          <a:xfrm>
            <a:off x="863600" y="5054005"/>
            <a:ext cx="1028700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500" b="0" i="0" dirty="0">
                <a:solidFill>
                  <a:srgbClr val="7A8DB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popq %rbx</a:t>
            </a:r>
            <a:endParaRPr lang="zh-CN" sz="1500" dirty="0"/>
          </a:p>
        </p:txBody>
      </p:sp>
      <p:sp>
        <p:nvSpPr>
          <p:cNvPr id="25" name="Text 14"/>
          <p:cNvSpPr/>
          <p:nvPr/>
        </p:nvSpPr>
        <p:spPr>
          <a:xfrm>
            <a:off x="863600" y="5354935"/>
            <a:ext cx="342900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500" b="0" i="0" dirty="0">
                <a:solidFill>
                  <a:srgbClr val="7A8DB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ret</a:t>
            </a:r>
            <a:endParaRPr lang="zh-CN" sz="1500" dirty="0"/>
          </a:p>
        </p:txBody>
      </p:sp>
      <p:sp>
        <p:nvSpPr>
          <p:cNvPr id="26" name="Shape 15"/>
          <p:cNvSpPr/>
          <p:nvPr/>
        </p:nvSpPr>
        <p:spPr>
          <a:xfrm>
            <a:off x="6941145" y="1435100"/>
            <a:ext cx="4641255" cy="2172791"/>
          </a:xfrm>
          <a:custGeom>
            <a:avLst/>
            <a:gdLst/>
            <a:ahLst/>
            <a:cxnLst/>
            <a:rect l="l" t="t" r="r" b="b"/>
            <a:pathLst>
              <a:path w="4641255" h="2172791">
                <a:moveTo>
                  <a:pt x="0" y="0"/>
                </a:moveTo>
                <a:lnTo>
                  <a:pt x="4641255" y="0"/>
                </a:lnTo>
                <a:cubicBezTo>
                  <a:pt x="4641255" y="0"/>
                  <a:pt x="4641255" y="0"/>
                  <a:pt x="4641255" y="0"/>
                </a:cubicBezTo>
                <a:lnTo>
                  <a:pt x="4641255" y="2172791"/>
                </a:lnTo>
                <a:cubicBezTo>
                  <a:pt x="4641255" y="2172791"/>
                  <a:pt x="4641255" y="2172791"/>
                  <a:pt x="4641255" y="2172791"/>
                </a:cubicBezTo>
                <a:lnTo>
                  <a:pt x="0" y="2172791"/>
                </a:lnTo>
                <a:cubicBezTo>
                  <a:pt x="0" y="2172791"/>
                  <a:pt x="0" y="2172791"/>
                  <a:pt x="0" y="2172791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16"/>
          <p:cNvSpPr/>
          <p:nvPr/>
        </p:nvSpPr>
        <p:spPr>
          <a:xfrm>
            <a:off x="6941145" y="1438275"/>
            <a:ext cx="4641255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17"/>
          <p:cNvSpPr/>
          <p:nvPr/>
        </p:nvSpPr>
        <p:spPr>
          <a:xfrm>
            <a:off x="11579225" y="1435100"/>
            <a:ext cx="0" cy="2172791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18"/>
          <p:cNvSpPr/>
          <p:nvPr/>
        </p:nvSpPr>
        <p:spPr>
          <a:xfrm>
            <a:off x="6941145" y="3604716"/>
            <a:ext cx="4641255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19"/>
          <p:cNvSpPr/>
          <p:nvPr/>
        </p:nvSpPr>
        <p:spPr>
          <a:xfrm>
            <a:off x="6966545" y="1435100"/>
            <a:ext cx="0" cy="2172791"/>
          </a:xfrm>
          <a:prstGeom prst="line">
            <a:avLst/>
          </a:prstGeom>
          <a:noFill/>
          <a:ln w="50800">
            <a:solidFill>
              <a:srgbClr val="C8A24A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0"/>
          <p:cNvSpPr/>
          <p:nvPr/>
        </p:nvSpPr>
        <p:spPr>
          <a:xfrm>
            <a:off x="7220545" y="1631950"/>
            <a:ext cx="355699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1" i="0" dirty="0">
                <a:solidFill>
                  <a:srgbClr val="1E3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答案</a:t>
            </a:r>
            <a:endParaRPr lang="zh-CN" sz="1400" dirty="0"/>
          </a:p>
        </p:txBody>
      </p:sp>
      <p:sp>
        <p:nvSpPr>
          <p:cNvPr id="32" name="Text 21"/>
          <p:cNvSpPr/>
          <p:nvPr/>
        </p:nvSpPr>
        <p:spPr>
          <a:xfrm>
            <a:off x="7220545" y="2019300"/>
            <a:ext cx="2347020" cy="177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0" i="0" dirty="0">
                <a:solidFill>
                  <a:srgbClr val="1C233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(1) leaq 8(%rsp), %rdi</a:t>
            </a:r>
            <a:endParaRPr lang="zh-CN" sz="1400" dirty="0"/>
          </a:p>
        </p:txBody>
      </p:sp>
      <p:sp>
        <p:nvSpPr>
          <p:cNvPr id="33" name="Text 22"/>
          <p:cNvSpPr/>
          <p:nvPr/>
        </p:nvSpPr>
        <p:spPr>
          <a:xfrm>
            <a:off x="7220545" y="2339280"/>
            <a:ext cx="2347020" cy="177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0" i="0" dirty="0">
                <a:solidFill>
                  <a:srgbClr val="1C233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(2) addq 8(%rsp), %rax</a:t>
            </a:r>
            <a:endParaRPr lang="zh-CN" sz="1400" dirty="0"/>
          </a:p>
        </p:txBody>
      </p:sp>
      <p:sp>
        <p:nvSpPr>
          <p:cNvPr id="34" name="Text 23"/>
          <p:cNvSpPr/>
          <p:nvPr/>
        </p:nvSpPr>
        <p:spPr>
          <a:xfrm>
            <a:off x="7220545" y="2659261"/>
            <a:ext cx="2026940" cy="177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0" i="0" dirty="0">
                <a:solidFill>
                  <a:srgbClr val="1C233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(3) addq %rbx, %rax</a:t>
            </a:r>
            <a:endParaRPr lang="zh-CN" sz="1400" dirty="0"/>
          </a:p>
        </p:txBody>
      </p:sp>
      <p:grpSp>
        <p:nvGrpSpPr>
          <p:cNvPr id="35" name="ma"/>
          <p:cNvGrpSpPr/>
          <p:nvPr/>
        </p:nvGrpSpPr>
        <p:grpSpPr>
          <a:xfrm>
            <a:off x="7220545" y="3010991"/>
            <a:ext cx="1367433" cy="412750"/>
            <a:chOff x="7220545" y="3010991"/>
            <a:chExt cx="1367433" cy="412750"/>
          </a:xfrm>
        </p:grpSpPr>
        <p:sp>
          <p:nvSpPr>
            <p:cNvPr id="36" name="Text 0"/>
            <p:cNvSpPr/>
            <p:nvPr/>
          </p:nvSpPr>
          <p:spPr>
            <a:xfrm>
              <a:off x="7220545" y="3118941"/>
              <a:ext cx="965895" cy="27305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600" b="0" i="0" dirty="0">
                  <a:solidFill>
                    <a:srgbClr val="1C233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run(4, 3) =</a:t>
              </a:r>
              <a:endParaRPr lang="zh-CN" sz="1600" dirty="0"/>
            </a:p>
          </p:txBody>
        </p:sp>
        <p:sp>
          <p:nvSpPr>
            <p:cNvPr id="37" name="Text 1"/>
            <p:cNvSpPr/>
            <p:nvPr/>
          </p:nvSpPr>
          <p:spPr>
            <a:xfrm>
              <a:off x="8239224" y="3010991"/>
              <a:ext cx="348754" cy="41275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2400" b="1" i="0" dirty="0">
                  <a:solidFill>
                    <a:srgbClr val="C8A24A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23</a:t>
              </a:r>
              <a:endParaRPr lang="zh-CN" sz="2400" dirty="0"/>
            </a:p>
          </p:txBody>
        </p:sp>
      </p:grpSp>
      <p:sp>
        <p:nvSpPr>
          <p:cNvPr id="38" name="Shape 24"/>
          <p:cNvSpPr/>
          <p:nvPr/>
        </p:nvSpPr>
        <p:spPr>
          <a:xfrm>
            <a:off x="6941145" y="3811091"/>
            <a:ext cx="4641255" cy="2196009"/>
          </a:xfrm>
          <a:custGeom>
            <a:avLst/>
            <a:gdLst/>
            <a:ahLst/>
            <a:cxnLst/>
            <a:rect l="l" t="t" r="r" b="b"/>
            <a:pathLst>
              <a:path w="4641255" h="2196009">
                <a:moveTo>
                  <a:pt x="0" y="0"/>
                </a:moveTo>
                <a:lnTo>
                  <a:pt x="4641255" y="0"/>
                </a:lnTo>
                <a:cubicBezTo>
                  <a:pt x="4641255" y="0"/>
                  <a:pt x="4641255" y="0"/>
                  <a:pt x="4641255" y="0"/>
                </a:cubicBezTo>
                <a:lnTo>
                  <a:pt x="4641255" y="2196009"/>
                </a:lnTo>
                <a:cubicBezTo>
                  <a:pt x="4641255" y="2196009"/>
                  <a:pt x="4641255" y="2196009"/>
                  <a:pt x="4641255" y="2196009"/>
                </a:cubicBezTo>
                <a:lnTo>
                  <a:pt x="0" y="2196009"/>
                </a:lnTo>
                <a:cubicBezTo>
                  <a:pt x="0" y="2196009"/>
                  <a:pt x="0" y="2196009"/>
                  <a:pt x="0" y="2196009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6350">
            <a:solidFill>
              <a:srgbClr val="DDE3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25"/>
          <p:cNvSpPr/>
          <p:nvPr/>
        </p:nvSpPr>
        <p:spPr>
          <a:xfrm>
            <a:off x="7176095" y="4007941"/>
            <a:ext cx="889099" cy="241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1" i="0" dirty="0">
                <a:solidFill>
                  <a:srgbClr val="1E3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核心知识点</a:t>
            </a:r>
            <a:endParaRPr lang="zh-CN" sz="1400" dirty="0"/>
          </a:p>
        </p:txBody>
      </p:sp>
      <p:grpSp>
        <p:nvGrpSpPr>
          <p:cNvPr id="40" name="ma"/>
          <p:cNvGrpSpPr/>
          <p:nvPr/>
        </p:nvGrpSpPr>
        <p:grpSpPr>
          <a:xfrm>
            <a:off x="7176095" y="4376241"/>
            <a:ext cx="4144367" cy="1302842"/>
            <a:chOff x="7176095" y="4376241"/>
            <a:chExt cx="4144367" cy="1302842"/>
          </a:xfrm>
        </p:grpSpPr>
        <p:sp>
          <p:nvSpPr>
            <p:cNvPr id="41" name="Text 0"/>
            <p:cNvSpPr/>
            <p:nvPr/>
          </p:nvSpPr>
          <p:spPr>
            <a:xfrm>
              <a:off x="7176095" y="4376241"/>
              <a:ext cx="4005560" cy="2413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400" b="0" i="0" dirty="0">
                  <a:solidFill>
                    <a:srgbClr val="1C233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· 栈帧含返回地址、被调用者保存寄存器、局部变量</a:t>
              </a:r>
              <a:endParaRPr lang="zh-CN" sz="1400" dirty="0"/>
            </a:p>
          </p:txBody>
        </p:sp>
        <p:sp>
          <p:nvSpPr>
            <p:cNvPr id="42" name="Text 1"/>
            <p:cNvSpPr/>
            <p:nvPr/>
          </p:nvSpPr>
          <p:spPr>
            <a:xfrm>
              <a:off x="7176095" y="4696222"/>
              <a:ext cx="1694160" cy="2413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400" b="0" i="0" dirty="0">
                  <a:solidFill>
                    <a:srgbClr val="1C233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· 栈上局部变量用偏移</a:t>
              </a:r>
              <a:endParaRPr lang="zh-CN" sz="1400" dirty="0"/>
            </a:p>
          </p:txBody>
        </p:sp>
        <p:sp>
          <p:nvSpPr>
            <p:cNvPr id="43" name="Text 2"/>
            <p:cNvSpPr/>
            <p:nvPr/>
          </p:nvSpPr>
          <p:spPr>
            <a:xfrm>
              <a:off x="9602788" y="4696222"/>
              <a:ext cx="533499" cy="2413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400" b="0" i="0" dirty="0">
                  <a:solidFill>
                    <a:srgbClr val="1C233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访问：</a:t>
              </a:r>
              <a:endParaRPr lang="zh-CN" sz="1400" dirty="0"/>
            </a:p>
          </p:txBody>
        </p:sp>
        <p:sp>
          <p:nvSpPr>
            <p:cNvPr id="44" name="Text 3"/>
            <p:cNvSpPr/>
            <p:nvPr/>
          </p:nvSpPr>
          <p:spPr>
            <a:xfrm>
              <a:off x="10609163" y="4696222"/>
              <a:ext cx="711299" cy="2413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400" b="0" i="0" dirty="0">
                  <a:solidFill>
                    <a:srgbClr val="1C233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取地址、</a:t>
              </a:r>
              <a:endParaRPr lang="zh-CN" sz="1400" dirty="0"/>
            </a:p>
          </p:txBody>
        </p:sp>
        <p:sp>
          <p:nvSpPr>
            <p:cNvPr id="45" name="Text 4"/>
            <p:cNvSpPr/>
            <p:nvPr/>
          </p:nvSpPr>
          <p:spPr>
            <a:xfrm>
              <a:off x="7648972" y="5067002"/>
              <a:ext cx="355699" cy="2413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400" b="0" i="0" dirty="0">
                  <a:solidFill>
                    <a:srgbClr val="1C233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取值</a:t>
              </a:r>
              <a:endParaRPr lang="zh-CN" sz="1400" dirty="0"/>
            </a:p>
          </p:txBody>
        </p:sp>
        <p:sp>
          <p:nvSpPr>
            <p:cNvPr id="46" name="Text 5"/>
            <p:cNvSpPr/>
            <p:nvPr/>
          </p:nvSpPr>
          <p:spPr>
            <a:xfrm>
              <a:off x="7176095" y="5437783"/>
              <a:ext cx="3045023" cy="2413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400" b="0" i="0" dirty="0">
                  <a:solidFill>
                    <a:srgbClr val="1C233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· 分配栈空间后，返回前必须恢复 %rsp</a:t>
              </a:r>
              <a:endParaRPr lang="zh-CN" sz="1400" dirty="0"/>
            </a:p>
          </p:txBody>
        </p:sp>
        <p:sp>
          <p:nvSpPr>
            <p:cNvPr id="47" name="Text 6"/>
            <p:cNvSpPr/>
            <p:nvPr/>
          </p:nvSpPr>
          <p:spPr>
            <a:xfrm>
              <a:off x="8916491" y="4778772"/>
              <a:ext cx="640159" cy="1778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400" b="1" i="0" dirty="0">
                  <a:solidFill>
                    <a:srgbClr val="3B6BB5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(%rsp)</a:t>
              </a:r>
              <a:endParaRPr lang="zh-CN" sz="1400" dirty="0"/>
            </a:p>
          </p:txBody>
        </p:sp>
        <p:sp>
          <p:nvSpPr>
            <p:cNvPr id="48" name="Text 7"/>
            <p:cNvSpPr/>
            <p:nvPr/>
          </p:nvSpPr>
          <p:spPr>
            <a:xfrm>
              <a:off x="10136287" y="4778772"/>
              <a:ext cx="426740" cy="1778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400" b="1" i="0" dirty="0">
                  <a:solidFill>
                    <a:srgbClr val="3B6BB5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leaq</a:t>
              </a:r>
              <a:endParaRPr lang="zh-CN" sz="1400" dirty="0"/>
            </a:p>
          </p:txBody>
        </p:sp>
        <p:sp>
          <p:nvSpPr>
            <p:cNvPr id="49" name="Text 8"/>
            <p:cNvSpPr/>
            <p:nvPr/>
          </p:nvSpPr>
          <p:spPr>
            <a:xfrm>
              <a:off x="7176095" y="5149552"/>
              <a:ext cx="426740" cy="1778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400" b="1" i="0" dirty="0">
                  <a:solidFill>
                    <a:srgbClr val="3B6BB5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movq</a:t>
              </a:r>
              <a:endParaRPr lang="zh-CN" sz="140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2398</Words>
  <Application>WPS 演示</Application>
  <PresentationFormat>On-screen Show (16:9)</PresentationFormat>
  <Paragraphs>574</Paragraphs>
  <Slides>11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Arial</vt:lpstr>
      <vt:lpstr>宋体</vt:lpstr>
      <vt:lpstr>Wingdings</vt:lpstr>
      <vt:lpstr>Arial</vt:lpstr>
      <vt:lpstr>Arial</vt:lpstr>
      <vt:lpstr>Courier New</vt:lpstr>
      <vt:lpstr>Courier New</vt:lpstr>
      <vt:lpstr>Courier New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aippt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by aippt</dc:title>
  <dc:creator>aippt</dc:creator>
  <dc:subject>Generated by aippt</dc:subject>
  <cp:lastModifiedBy>楚宝</cp:lastModifiedBy>
  <cp:revision>2</cp:revision>
  <dcterms:created xsi:type="dcterms:W3CDTF">2026-10-14T13:10:00Z</dcterms:created>
  <dcterms:modified xsi:type="dcterms:W3CDTF">2026-10-14T13:13:47Z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D1A610FD06DE48BA8691A2F860B6954F_12</vt:lpwstr>
  </property>
  <property fmtid="{D5CDD505-2E9C-101B-9397-08002B2CF9AE}" pid="3" name="KSOProductBuildVer">
    <vt:lpwstr>2052-12.1.0.28505</vt:lpwstr>
  </property>
</Properties>
</file>