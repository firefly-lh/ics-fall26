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3"/>
    <p:sldId id="257" r:id="rId4"/>
    <p:sldId id="258" r:id="rId5"/>
    <p:sldId id="261" r:id="rId6"/>
    <p:sldId id="263" r:id="rId7"/>
    <p:sldId id="264" r:id="rId8"/>
    <p:sldId id="265" r:id="rId10"/>
    <p:sldId id="268" r:id="rId11"/>
    <p:sldId id="267" r:id="rId12"/>
    <p:sldId id="270" r:id="rId13"/>
    <p:sldId id="271" r:id="rId14"/>
    <p:sldId id="272" r:id="rId15"/>
    <p:sldId id="274" r:id="rId16"/>
    <p:sldId id="276" r:id="rId17"/>
    <p:sldId id="277" r:id="rId18"/>
    <p:sldId id="278" r:id="rId19"/>
    <p:sldId id="279" r:id="rId20"/>
    <p:sldId id="280" r:id="rId21"/>
    <p:sldId id="281" r:id="rId22"/>
    <p:sldId id="282" r:id="rId23"/>
    <p:sldId id="283" r:id="rId24"/>
    <p:sldId id="28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7"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17"/>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2.png"/><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3.png"/><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3.xml"/><Relationship Id="rId3" Type="http://schemas.openxmlformats.org/officeDocument/2006/relationships/image" Target="../media/image4.png"/><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6.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image" Target="../media/image6.png"/><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7.png"/><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5.xml"/><Relationship Id="rId3" Type="http://schemas.openxmlformats.org/officeDocument/2006/relationships/image" Target="../media/image8.png"/><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8.xml"/><Relationship Id="rId3" Type="http://schemas.openxmlformats.org/officeDocument/2006/relationships/image" Target="../media/image9.png"/><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4.xml"/><Relationship Id="rId3" Type="http://schemas.openxmlformats.org/officeDocument/2006/relationships/image" Target="../media/image10.png"/><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13.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112.xml"/><Relationship Id="rId1" Type="http://schemas.openxmlformats.org/officeDocument/2006/relationships/tags" Target="../tags/tag111.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6.xml"/><Relationship Id="rId3" Type="http://schemas.openxmlformats.org/officeDocument/2006/relationships/image" Target="../media/image13.png"/><Relationship Id="rId2" Type="http://schemas.openxmlformats.org/officeDocument/2006/relationships/tags" Target="../tags/tag115.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19.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118.xml"/><Relationship Id="rId1" Type="http://schemas.openxmlformats.org/officeDocument/2006/relationships/tags" Target="../tags/tag117.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2.xml"/><Relationship Id="rId3" Type="http://schemas.openxmlformats.org/officeDocument/2006/relationships/image" Target="../media/image15.png"/><Relationship Id="rId2" Type="http://schemas.openxmlformats.org/officeDocument/2006/relationships/tags" Target="../tags/tag121.xml"/><Relationship Id="rId1" Type="http://schemas.openxmlformats.org/officeDocument/2006/relationships/tags" Target="../tags/tag12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ICS</a:t>
            </a:r>
            <a:r>
              <a:rPr lang="zh-CN" altLang="en-US"/>
              <a:t>小测</a:t>
            </a:r>
            <a:r>
              <a:rPr lang="en-US" altLang="zh-CN"/>
              <a:t>1 7-8</a:t>
            </a:r>
            <a:r>
              <a:rPr lang="zh-CN" altLang="en-US"/>
              <a:t>讲</a:t>
            </a:r>
            <a:r>
              <a:rPr lang="en-US" altLang="zh-CN"/>
              <a:t> </a:t>
            </a:r>
            <a:r>
              <a:rPr lang="zh-CN" altLang="en-US"/>
              <a:t>讲解</a:t>
            </a:r>
            <a:endParaRPr lang="zh-CN" altLang="en-US"/>
          </a:p>
        </p:txBody>
      </p:sp>
      <p:sp>
        <p:nvSpPr>
          <p:cNvPr id="3" name="Subtitle 2"/>
          <p:cNvSpPr>
            <a:spLocks noGrp="1"/>
          </p:cNvSpPr>
          <p:nvPr>
            <p:ph type="subTitle" idx="1"/>
            <p:custDataLst>
              <p:tags r:id="rId2"/>
            </p:custDataLst>
          </p:nvPr>
        </p:nvSpPr>
        <p:spPr/>
        <p:txBody>
          <a:bodyPr/>
          <a:p>
            <a:r>
              <a:rPr lang="zh-CN" altLang="en-US"/>
              <a:t>汪苏轶</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ltLang="zh-CN"/>
              <a:t>7.1 </a:t>
            </a:r>
            <a:r>
              <a:rPr lang="zh-CN" altLang="en-US"/>
              <a:t>数组</a:t>
            </a:r>
            <a:endParaRPr lang="zh-CN" altLang="en-US"/>
          </a:p>
        </p:txBody>
      </p:sp>
      <p:pic>
        <p:nvPicPr>
          <p:cNvPr id="4" name="Content Placeholder 3"/>
          <p:cNvPicPr>
            <a:picLocks noChangeAspect="1"/>
          </p:cNvPicPr>
          <p:nvPr>
            <p:ph idx="1"/>
            <p:custDataLst>
              <p:tags r:id="rId2"/>
            </p:custDataLst>
          </p:nvPr>
        </p:nvPicPr>
        <p:blipFill>
          <a:blip r:embed="rId3"/>
          <a:stretch>
            <a:fillRect/>
          </a:stretch>
        </p:blipFill>
        <p:spPr>
          <a:xfrm>
            <a:off x="679450" y="1490345"/>
            <a:ext cx="10825480" cy="4759325"/>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t>7.1 </a:t>
            </a:r>
            <a:r>
              <a:rPr lang="zh-CN" altLang="en-US"/>
              <a:t>数组</a:t>
            </a:r>
            <a:endParaRPr lang="zh-CN" altLang="en-US"/>
          </a:p>
        </p:txBody>
      </p:sp>
      <p:sp>
        <p:nvSpPr>
          <p:cNvPr id="3" name="Content Placeholder 2"/>
          <p:cNvSpPr/>
          <p:nvPr>
            <p:ph idx="1"/>
            <p:custDataLst>
              <p:tags r:id="rId2"/>
            </p:custDataLst>
          </p:nvPr>
        </p:nvSpPr>
        <p:spPr/>
        <p:txBody>
          <a:bodyPr/>
          <a:p>
            <a:r>
              <a:rPr lang="zh-CN" altLang="en-US">
                <a:solidFill>
                  <a:schemeClr val="tx1"/>
                </a:solidFill>
              </a:rPr>
              <a:t>考察二维数组的存储</a:t>
            </a:r>
            <a:r>
              <a:rPr lang="en-US" altLang="zh-CN">
                <a:solidFill>
                  <a:schemeClr val="tx1"/>
                </a:solidFill>
              </a:rPr>
              <a:t>。</a:t>
            </a:r>
            <a:r>
              <a:rPr lang="zh-CN" altLang="en-US">
                <a:solidFill>
                  <a:schemeClr val="tx1"/>
                </a:solidFill>
              </a:rPr>
              <a:t>回忆二维数组的存储方式</a:t>
            </a:r>
            <a:r>
              <a:rPr lang="en-US" altLang="zh-CN">
                <a:solidFill>
                  <a:schemeClr val="tx1"/>
                </a:solidFill>
              </a:rPr>
              <a:t>：</a:t>
            </a:r>
            <a:endParaRPr lang="en-US" altLang="zh-CN">
              <a:solidFill>
                <a:schemeClr val="tx1"/>
              </a:solidFill>
            </a:endParaRPr>
          </a:p>
          <a:p>
            <a:r>
              <a:rPr lang="zh-CN" altLang="en-US">
                <a:solidFill>
                  <a:schemeClr val="tx1"/>
                </a:solidFill>
              </a:rPr>
              <a:t>对于数组</a:t>
            </a:r>
            <a:r>
              <a:rPr lang="en-US" altLang="zh-CN">
                <a:solidFill>
                  <a:schemeClr val="tx1"/>
                </a:solidFill>
              </a:rPr>
              <a:t> T A[R][C]，</a:t>
            </a:r>
            <a:r>
              <a:rPr lang="zh-CN" altLang="en-US">
                <a:solidFill>
                  <a:schemeClr val="tx1"/>
                </a:solidFill>
              </a:rPr>
              <a:t>会现在内存中分配一段连续的，长为</a:t>
            </a:r>
            <a:r>
              <a:rPr lang="en-US" altLang="zh-CN">
                <a:solidFill>
                  <a:schemeClr val="tx1"/>
                </a:solidFill>
              </a:rPr>
              <a:t> R*C*sizeof(T) </a:t>
            </a:r>
            <a:r>
              <a:rPr lang="zh-CN" altLang="en-US">
                <a:solidFill>
                  <a:schemeClr val="tx1"/>
                </a:solidFill>
              </a:rPr>
              <a:t>的区域</a:t>
            </a:r>
            <a:r>
              <a:rPr lang="en-US" altLang="zh-CN">
                <a:solidFill>
                  <a:schemeClr val="tx1"/>
                </a:solidFill>
              </a:rPr>
              <a:t>。</a:t>
            </a:r>
            <a:endParaRPr lang="en-US" altLang="zh-CN">
              <a:solidFill>
                <a:schemeClr val="tx1"/>
              </a:solidFill>
            </a:endParaRPr>
          </a:p>
          <a:p>
            <a:r>
              <a:rPr lang="zh-CN" altLang="en-US">
                <a:solidFill>
                  <a:schemeClr val="tx1"/>
                </a:solidFill>
              </a:rPr>
              <a:t>二维数组按照行优先存储方式</a:t>
            </a:r>
            <a:r>
              <a:rPr lang="en-US" altLang="zh-CN">
                <a:solidFill>
                  <a:schemeClr val="tx1"/>
                </a:solidFill>
              </a:rPr>
              <a:t>，A[i][j] </a:t>
            </a:r>
            <a:r>
              <a:rPr lang="zh-CN" altLang="en-US">
                <a:solidFill>
                  <a:schemeClr val="tx1"/>
                </a:solidFill>
              </a:rPr>
              <a:t>存储在</a:t>
            </a:r>
            <a:r>
              <a:rPr lang="en-US" altLang="zh-CN">
                <a:solidFill>
                  <a:schemeClr val="tx1"/>
                </a:solidFill>
              </a:rPr>
              <a:t> A+(i*C+j)*sizeof(T) </a:t>
            </a:r>
            <a:r>
              <a:rPr lang="zh-CN" altLang="en-US">
                <a:solidFill>
                  <a:schemeClr val="tx1"/>
                </a:solidFill>
              </a:rPr>
              <a:t>开始的</a:t>
            </a:r>
            <a:r>
              <a:rPr lang="en-US" altLang="zh-CN">
                <a:solidFill>
                  <a:schemeClr val="tx1"/>
                </a:solidFill>
              </a:rPr>
              <a:t> sizeof(T) </a:t>
            </a:r>
            <a:r>
              <a:rPr lang="zh-CN" altLang="en-US">
                <a:solidFill>
                  <a:schemeClr val="tx1"/>
                </a:solidFill>
              </a:rPr>
              <a:t>个</a:t>
            </a:r>
            <a:r>
              <a:rPr lang="en-US" altLang="zh-CN">
                <a:solidFill>
                  <a:schemeClr val="tx1"/>
                </a:solidFill>
              </a:rPr>
              <a:t> byte </a:t>
            </a:r>
            <a:r>
              <a:rPr lang="zh-CN" altLang="en-US">
                <a:solidFill>
                  <a:schemeClr val="tx1"/>
                </a:solidFill>
              </a:rPr>
              <a:t>内</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zh-CN" altLang="en-US">
                <a:solidFill>
                  <a:schemeClr val="tx1"/>
                </a:solidFill>
              </a:rPr>
              <a:t>对于这个题的第一问</a:t>
            </a:r>
            <a:r>
              <a:rPr lang="en-US" altLang="zh-CN">
                <a:solidFill>
                  <a:schemeClr val="tx1"/>
                </a:solidFill>
              </a:rPr>
              <a:t>，</a:t>
            </a:r>
            <a:r>
              <a:rPr lang="zh-CN" altLang="en-US">
                <a:solidFill>
                  <a:schemeClr val="tx1"/>
                </a:solidFill>
              </a:rPr>
              <a:t>要计算</a:t>
            </a:r>
            <a:r>
              <a:rPr lang="en-US" altLang="zh-CN">
                <a:solidFill>
                  <a:schemeClr val="tx1"/>
                </a:solidFill>
              </a:rPr>
              <a:t> m[2][1] </a:t>
            </a:r>
            <a:r>
              <a:rPr lang="zh-CN" altLang="en-US">
                <a:solidFill>
                  <a:schemeClr val="tx1"/>
                </a:solidFill>
              </a:rPr>
              <a:t>的地址</a:t>
            </a:r>
            <a:r>
              <a:rPr lang="en-US" altLang="zh-CN">
                <a:solidFill>
                  <a:schemeClr val="tx1"/>
                </a:solidFill>
              </a:rPr>
              <a:t>：</a:t>
            </a:r>
            <a:endParaRPr lang="en-US" altLang="zh-CN">
              <a:solidFill>
                <a:schemeClr val="tx1"/>
              </a:solidFill>
            </a:endParaRPr>
          </a:p>
          <a:p>
            <a:r>
              <a:rPr lang="en-US" altLang="zh-CN">
                <a:solidFill>
                  <a:schemeClr val="tx1"/>
                </a:solidFill>
              </a:rPr>
              <a:t>i*C+j=2*4+1=9。</a:t>
            </a:r>
            <a:r>
              <a:rPr lang="zh-CN" altLang="en-US">
                <a:solidFill>
                  <a:schemeClr val="tx1"/>
                </a:solidFill>
              </a:rPr>
              <a:t>因此</a:t>
            </a:r>
            <a:r>
              <a:rPr lang="en-US" altLang="zh-CN">
                <a:solidFill>
                  <a:schemeClr val="tx1"/>
                </a:solidFill>
              </a:rPr>
              <a:t> m[2][1] </a:t>
            </a:r>
            <a:r>
              <a:rPr lang="zh-CN" altLang="en-US">
                <a:solidFill>
                  <a:schemeClr val="tx1"/>
                </a:solidFill>
              </a:rPr>
              <a:t>的地址在</a:t>
            </a:r>
            <a:r>
              <a:rPr lang="en-US" altLang="zh-CN">
                <a:solidFill>
                  <a:schemeClr val="tx1"/>
                </a:solidFill>
              </a:rPr>
              <a:t> m </a:t>
            </a:r>
            <a:r>
              <a:rPr lang="zh-CN" altLang="en-US">
                <a:solidFill>
                  <a:schemeClr val="tx1"/>
                </a:solidFill>
              </a:rPr>
              <a:t>之后的</a:t>
            </a:r>
            <a:r>
              <a:rPr lang="en-US" altLang="zh-CN">
                <a:solidFill>
                  <a:schemeClr val="tx1"/>
                </a:solidFill>
              </a:rPr>
              <a:t> 9*sizeof(int)=36 </a:t>
            </a:r>
            <a:r>
              <a:rPr lang="zh-CN" altLang="en-US">
                <a:solidFill>
                  <a:schemeClr val="tx1"/>
                </a:solidFill>
              </a:rPr>
              <a:t>个</a:t>
            </a:r>
            <a:r>
              <a:rPr lang="en-US" altLang="zh-CN">
                <a:solidFill>
                  <a:schemeClr val="tx1"/>
                </a:solidFill>
              </a:rPr>
              <a:t> byte。</a:t>
            </a:r>
            <a:endParaRPr lang="en-US" altLang="zh-CN">
              <a:solidFill>
                <a:schemeClr val="tx1"/>
              </a:solidFill>
            </a:endParaRPr>
          </a:p>
          <a:p>
            <a:r>
              <a:rPr lang="zh-CN" altLang="en-US">
                <a:solidFill>
                  <a:schemeClr val="tx1"/>
                </a:solidFill>
              </a:rPr>
              <a:t>所以答案为</a:t>
            </a:r>
            <a:r>
              <a:rPr lang="en-US" altLang="zh-CN">
                <a:solidFill>
                  <a:schemeClr val="tx1"/>
                </a:solidFill>
              </a:rPr>
              <a:t> 0x3000+0x24 = </a:t>
            </a:r>
            <a:r>
              <a:rPr lang="en-US" altLang="zh-CN">
                <a:solidFill>
                  <a:srgbClr val="FF0000"/>
                </a:solidFill>
              </a:rPr>
              <a:t>0x3024</a:t>
            </a:r>
            <a:r>
              <a:rPr lang="en-US" altLang="zh-CN">
                <a:solidFill>
                  <a:schemeClr val="tx1"/>
                </a:solidFill>
              </a:rPr>
              <a:t>。</a:t>
            </a:r>
            <a:endParaRPr lang="en-US" altLang="zh-CN">
              <a:solidFill>
                <a:schemeClr val="tx1"/>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t>7.1 </a:t>
            </a:r>
            <a:r>
              <a:rPr lang="zh-CN" altLang="en-US"/>
              <a:t>数组</a:t>
            </a:r>
            <a:endParaRPr lang="zh-CN" altLang="en-US"/>
          </a:p>
        </p:txBody>
      </p:sp>
      <p:sp>
        <p:nvSpPr>
          <p:cNvPr id="3" name="Content Placeholder 2"/>
          <p:cNvSpPr/>
          <p:nvPr>
            <p:ph idx="1"/>
            <p:custDataLst>
              <p:tags r:id="rId2"/>
            </p:custDataLst>
          </p:nvPr>
        </p:nvSpPr>
        <p:spPr/>
        <p:txBody>
          <a:bodyPr/>
          <a:p>
            <a:r>
              <a:rPr lang="en-US" altLang="zh-CN">
                <a:solidFill>
                  <a:schemeClr val="tx1"/>
                </a:solidFill>
              </a:rPr>
              <a:t>int *row[3] = {m[2], m[0], m[1]};</a:t>
            </a:r>
            <a:endParaRPr lang="en-US" altLang="zh-CN">
              <a:solidFill>
                <a:schemeClr val="tx1"/>
              </a:solidFill>
            </a:endParaRPr>
          </a:p>
          <a:p>
            <a:r>
              <a:rPr lang="en-US" altLang="zh-CN">
                <a:solidFill>
                  <a:schemeClr val="tx1"/>
                </a:solidFill>
              </a:rPr>
              <a:t>row </a:t>
            </a:r>
            <a:r>
              <a:rPr lang="zh-CN" altLang="en-US">
                <a:solidFill>
                  <a:schemeClr val="tx1"/>
                </a:solidFill>
              </a:rPr>
              <a:t>是一个长度为</a:t>
            </a:r>
            <a:r>
              <a:rPr lang="en-US" altLang="zh-CN">
                <a:solidFill>
                  <a:schemeClr val="tx1"/>
                </a:solidFill>
              </a:rPr>
              <a:t> 3 </a:t>
            </a:r>
            <a:r>
              <a:rPr lang="zh-CN" altLang="en-US">
                <a:solidFill>
                  <a:schemeClr val="tx1"/>
                </a:solidFill>
              </a:rPr>
              <a:t>的指针数组</a:t>
            </a:r>
            <a:r>
              <a:rPr lang="en-US" altLang="zh-CN">
                <a:solidFill>
                  <a:schemeClr val="tx1"/>
                </a:solidFill>
              </a:rPr>
              <a:t>，</a:t>
            </a:r>
            <a:r>
              <a:rPr lang="zh-CN" altLang="en-US">
                <a:solidFill>
                  <a:schemeClr val="tx1"/>
                </a:solidFill>
              </a:rPr>
              <a:t>三个指针分别指向</a:t>
            </a:r>
            <a:r>
              <a:rPr lang="en-US" altLang="zh-CN">
                <a:solidFill>
                  <a:schemeClr val="tx1"/>
                </a:solidFill>
              </a:rPr>
              <a:t> m[2], m[0], m[1] </a:t>
            </a:r>
            <a:r>
              <a:rPr lang="zh-CN" altLang="en-US">
                <a:solidFill>
                  <a:schemeClr val="tx1"/>
                </a:solidFill>
              </a:rPr>
              <a:t>的</a:t>
            </a:r>
            <a:r>
              <a:rPr lang="zh-CN" altLang="en-US">
                <a:solidFill>
                  <a:schemeClr val="tx1"/>
                </a:solidFill>
              </a:rPr>
              <a:t>首地址</a:t>
            </a:r>
            <a:r>
              <a:rPr lang="en-US" altLang="zh-CN">
                <a:solidFill>
                  <a:schemeClr val="tx1"/>
                </a:solidFill>
              </a:rPr>
              <a:t>。</a:t>
            </a:r>
            <a:endParaRPr lang="en-US" altLang="zh-CN">
              <a:solidFill>
                <a:schemeClr val="tx1"/>
              </a:solidFill>
            </a:endParaRPr>
          </a:p>
          <a:p>
            <a:r>
              <a:rPr lang="zh-CN" altLang="en-US">
                <a:solidFill>
                  <a:schemeClr val="tx1"/>
                </a:solidFill>
              </a:rPr>
              <a:t>因此</a:t>
            </a:r>
            <a:r>
              <a:rPr lang="en-US" altLang="zh-CN">
                <a:solidFill>
                  <a:schemeClr val="tx1"/>
                </a:solidFill>
              </a:rPr>
              <a:t> row[0][1] = *(row[0] + 1) = *(m[2] + 1) = m[2][1] = 10。</a:t>
            </a:r>
            <a:endParaRPr lang="en-US" altLang="zh-CN">
              <a:solidFill>
                <a:schemeClr val="tx1"/>
              </a:solidFill>
            </a:endParaRPr>
          </a:p>
          <a:p>
            <a:r>
              <a:rPr lang="zh-CN" altLang="en-US">
                <a:solidFill>
                  <a:schemeClr val="tx1"/>
                </a:solidFill>
              </a:rPr>
              <a:t>同理</a:t>
            </a:r>
            <a:r>
              <a:rPr lang="en-US" altLang="zh-CN">
                <a:solidFill>
                  <a:schemeClr val="tx1"/>
                </a:solidFill>
              </a:rPr>
              <a:t> row[2][2] = *(row[2] + 2) = *(m[1] + 2) = m[1][2] = 7。</a:t>
            </a:r>
            <a:endParaRPr lang="en-US" altLang="zh-CN">
              <a:solidFill>
                <a:schemeClr val="tx1"/>
              </a:solidFill>
            </a:endParaRPr>
          </a:p>
          <a:p>
            <a:r>
              <a:rPr lang="zh-CN" altLang="en-US">
                <a:solidFill>
                  <a:schemeClr val="tx1"/>
                </a:solidFill>
              </a:rPr>
              <a:t>因此最终答案为</a:t>
            </a:r>
            <a:r>
              <a:rPr lang="en-US" altLang="zh-CN">
                <a:solidFill>
                  <a:schemeClr val="tx1"/>
                </a:solidFill>
              </a:rPr>
              <a:t> 10+7 = </a:t>
            </a:r>
            <a:r>
              <a:rPr lang="en-US" altLang="zh-CN">
                <a:solidFill>
                  <a:srgbClr val="FF0000"/>
                </a:solidFill>
              </a:rPr>
              <a:t>17</a:t>
            </a:r>
            <a:r>
              <a:rPr lang="en-US" altLang="zh-CN">
                <a:solidFill>
                  <a:schemeClr val="tx1"/>
                </a:solidFill>
              </a:rPr>
              <a:t>。</a:t>
            </a:r>
            <a:endParaRPr lang="en-US" altLang="zh-CN">
              <a:solidFill>
                <a:schemeClr val="tx1"/>
              </a:solidFill>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t>7.2 </a:t>
            </a:r>
            <a:r>
              <a:rPr lang="zh-CN" altLang="en-US"/>
              <a:t>结构体</a:t>
            </a:r>
            <a:endParaRPr lang="zh-CN" altLang="en-US"/>
          </a:p>
        </p:txBody>
      </p:sp>
      <p:pic>
        <p:nvPicPr>
          <p:cNvPr id="6" name="Content Placeholder 5"/>
          <p:cNvPicPr>
            <a:picLocks noChangeAspect="1"/>
          </p:cNvPicPr>
          <p:nvPr>
            <p:ph idx="1"/>
            <p:custDataLst>
              <p:tags r:id="rId2"/>
            </p:custDataLst>
          </p:nvPr>
        </p:nvPicPr>
        <p:blipFill>
          <a:blip r:embed="rId3"/>
          <a:stretch>
            <a:fillRect/>
          </a:stretch>
        </p:blipFill>
        <p:spPr>
          <a:xfrm>
            <a:off x="2157095" y="1490345"/>
            <a:ext cx="7870190" cy="475932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sym typeface="+mn-ea"/>
              </a:rPr>
              <a:t>7.2 </a:t>
            </a:r>
            <a:r>
              <a:rPr lang="zh-CN" altLang="en-US">
                <a:sym typeface="+mn-ea"/>
              </a:rPr>
              <a:t>结构体</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2292350"/>
            <a:ext cx="10968990" cy="315468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7.2 </a:t>
            </a:r>
            <a:r>
              <a:rPr lang="zh-CN" altLang="en-US"/>
              <a:t>结构体</a:t>
            </a:r>
            <a:endParaRPr lang="zh-CN" altLang="en-US"/>
          </a:p>
        </p:txBody>
      </p:sp>
      <p:sp>
        <p:nvSpPr>
          <p:cNvPr id="3" name="Content Placeholder 2"/>
          <p:cNvSpPr>
            <a:spLocks noGrp="1"/>
          </p:cNvSpPr>
          <p:nvPr>
            <p:ph idx="1"/>
            <p:custDataLst>
              <p:tags r:id="rId2"/>
            </p:custDataLst>
          </p:nvPr>
        </p:nvSpPr>
        <p:spPr/>
        <p:txBody>
          <a:bodyPr/>
          <a:p>
            <a:r>
              <a:rPr lang="zh-CN" altLang="en-US">
                <a:solidFill>
                  <a:schemeClr val="tx1"/>
                </a:solidFill>
              </a:rPr>
              <a:t>回忆数据的对齐方式</a:t>
            </a:r>
            <a:r>
              <a:rPr lang="en-US" altLang="zh-CN">
                <a:solidFill>
                  <a:schemeClr val="tx1"/>
                </a:solidFill>
              </a:rPr>
              <a:t>：</a:t>
            </a:r>
            <a:r>
              <a:rPr lang="zh-CN" altLang="en-US">
                <a:solidFill>
                  <a:schemeClr val="tx1"/>
                </a:solidFill>
              </a:rPr>
              <a:t>一个</a:t>
            </a:r>
            <a:r>
              <a:rPr lang="en-US" altLang="zh-CN">
                <a:solidFill>
                  <a:schemeClr val="tx1"/>
                </a:solidFill>
              </a:rPr>
              <a:t> K </a:t>
            </a:r>
            <a:r>
              <a:rPr lang="zh-CN" altLang="en-US">
                <a:solidFill>
                  <a:schemeClr val="tx1"/>
                </a:solidFill>
              </a:rPr>
              <a:t>字节的数据类型</a:t>
            </a:r>
            <a:r>
              <a:rPr lang="en-US" altLang="zh-CN">
                <a:solidFill>
                  <a:schemeClr val="tx1"/>
                </a:solidFill>
              </a:rPr>
              <a:t>，</a:t>
            </a:r>
            <a:r>
              <a:rPr lang="zh-CN" altLang="en-US">
                <a:solidFill>
                  <a:schemeClr val="tx1"/>
                </a:solidFill>
              </a:rPr>
              <a:t>其起始地址必须是</a:t>
            </a:r>
            <a:r>
              <a:rPr lang="en-US" altLang="zh-CN">
                <a:solidFill>
                  <a:schemeClr val="tx1"/>
                </a:solidFill>
              </a:rPr>
              <a:t> K </a:t>
            </a:r>
            <a:r>
              <a:rPr lang="zh-CN" altLang="en-US">
                <a:solidFill>
                  <a:schemeClr val="tx1"/>
                </a:solidFill>
              </a:rPr>
              <a:t>的倍数</a:t>
            </a:r>
            <a:r>
              <a:rPr lang="en-US" altLang="zh-CN">
                <a:solidFill>
                  <a:schemeClr val="tx1"/>
                </a:solidFill>
              </a:rPr>
              <a:t>。</a:t>
            </a:r>
            <a:endParaRPr lang="en-US" altLang="zh-CN">
              <a:solidFill>
                <a:schemeClr val="tx1"/>
              </a:solidFill>
            </a:endParaRPr>
          </a:p>
          <a:p>
            <a:r>
              <a:rPr lang="zh-CN" altLang="en-US">
                <a:solidFill>
                  <a:schemeClr val="tx1"/>
                </a:solidFill>
              </a:rPr>
              <a:t>因此在本题定义的结构体中</a:t>
            </a:r>
            <a:r>
              <a:rPr lang="en-US" altLang="zh-CN">
                <a:solidFill>
                  <a:schemeClr val="tx1"/>
                </a:solidFill>
              </a:rPr>
              <a:t>，</a:t>
            </a:r>
            <a:r>
              <a:rPr lang="zh-CN" altLang="en-US">
                <a:solidFill>
                  <a:schemeClr val="tx1"/>
                </a:solidFill>
              </a:rPr>
              <a:t>每个变量</a:t>
            </a:r>
            <a:r>
              <a:rPr lang="zh-CN" altLang="en-US">
                <a:solidFill>
                  <a:schemeClr val="tx1"/>
                </a:solidFill>
              </a:rPr>
              <a:t>的地址分别是</a:t>
            </a:r>
            <a:r>
              <a:rPr lang="en-US" altLang="zh-CN">
                <a:solidFill>
                  <a:schemeClr val="tx1"/>
                </a:solidFill>
              </a:rPr>
              <a:t>：</a:t>
            </a:r>
            <a:endParaRPr lang="en-US" altLang="zh-CN">
              <a:solidFill>
                <a:schemeClr val="tx1"/>
              </a:solidFill>
            </a:endParaRPr>
          </a:p>
          <a:p>
            <a:pPr lvl="1"/>
            <a:r>
              <a:rPr lang="en-US" altLang="zh-CN">
                <a:solidFill>
                  <a:schemeClr val="tx1"/>
                </a:solidFill>
              </a:rPr>
              <a:t>tag: 0</a:t>
            </a:r>
            <a:endParaRPr lang="en-US" altLang="zh-CN">
              <a:solidFill>
                <a:schemeClr val="tx1"/>
              </a:solidFill>
            </a:endParaRPr>
          </a:p>
          <a:p>
            <a:pPr lvl="1"/>
            <a:r>
              <a:rPr lang="en-US" altLang="zh-CN">
                <a:solidFill>
                  <a:schemeClr val="tx1"/>
                </a:solidFill>
              </a:rPr>
              <a:t>v[3]: 4~15</a:t>
            </a:r>
            <a:endParaRPr lang="en-US" altLang="zh-CN">
              <a:solidFill>
                <a:schemeClr val="tx1"/>
              </a:solidFill>
            </a:endParaRPr>
          </a:p>
          <a:p>
            <a:pPr lvl="1"/>
            <a:r>
              <a:rPr lang="en-US" altLang="zh-CN">
                <a:solidFill>
                  <a:schemeClr val="tx1"/>
                </a:solidFill>
              </a:rPr>
              <a:t>sum: 16~23</a:t>
            </a:r>
            <a:endParaRPr lang="en-US" altLang="zh-CN">
              <a:solidFill>
                <a:schemeClr val="tx1"/>
              </a:solidFill>
            </a:endParaRPr>
          </a:p>
          <a:p>
            <a:pPr lvl="0"/>
            <a:r>
              <a:rPr lang="zh-CN" altLang="en-US">
                <a:solidFill>
                  <a:schemeClr val="tx1"/>
                </a:solidFill>
              </a:rPr>
              <a:t>因此</a:t>
            </a:r>
            <a:r>
              <a:rPr lang="en-US" altLang="zh-CN">
                <a:solidFill>
                  <a:schemeClr val="tx1"/>
                </a:solidFill>
              </a:rPr>
              <a:t> v </a:t>
            </a:r>
            <a:r>
              <a:rPr lang="zh-CN" altLang="en-US">
                <a:solidFill>
                  <a:schemeClr val="tx1"/>
                </a:solidFill>
              </a:rPr>
              <a:t>相对于结构体起始地址的偏移量是</a:t>
            </a:r>
            <a:r>
              <a:rPr lang="en-US" altLang="zh-CN">
                <a:solidFill>
                  <a:schemeClr val="tx1"/>
                </a:solidFill>
              </a:rPr>
              <a:t> </a:t>
            </a:r>
            <a:r>
              <a:rPr lang="en-US" altLang="zh-CN">
                <a:solidFill>
                  <a:srgbClr val="FF0000"/>
                </a:solidFill>
              </a:rPr>
              <a:t>4</a:t>
            </a:r>
            <a:r>
              <a:rPr lang="en-US" altLang="zh-CN">
                <a:solidFill>
                  <a:schemeClr val="tx1"/>
                </a:solidFill>
              </a:rPr>
              <a:t>。</a:t>
            </a:r>
            <a:endParaRPr lang="en-US" altLang="zh-CN">
              <a:solidFill>
                <a:schemeClr val="tx1"/>
              </a:solidFill>
            </a:endParaRPr>
          </a:p>
          <a:p>
            <a:pPr lvl="0"/>
            <a:endParaRPr lang="en-US" altLang="zh-CN">
              <a:solidFill>
                <a:schemeClr val="tx1"/>
              </a:solidFill>
            </a:endParaRPr>
          </a:p>
          <a:p>
            <a:pPr lvl="0"/>
            <a:r>
              <a:rPr lang="en-US" altLang="zh-CN">
                <a:solidFill>
                  <a:schemeClr val="tx1"/>
                </a:solidFill>
              </a:rPr>
              <a:t>sizeof(Rec) </a:t>
            </a:r>
            <a:r>
              <a:rPr lang="zh-CN" altLang="en-US">
                <a:solidFill>
                  <a:schemeClr val="tx1"/>
                </a:solidFill>
              </a:rPr>
              <a:t>的大小必须是最大数据类型大小的倍数，</a:t>
            </a:r>
            <a:endParaRPr lang="zh-CN" altLang="en-US">
              <a:solidFill>
                <a:schemeClr val="tx1"/>
              </a:solidFill>
            </a:endParaRPr>
          </a:p>
          <a:p>
            <a:pPr lvl="0"/>
            <a:r>
              <a:rPr lang="zh-CN" altLang="en-US">
                <a:solidFill>
                  <a:schemeClr val="tx1"/>
                </a:solidFill>
              </a:rPr>
              <a:t>也就是</a:t>
            </a:r>
            <a:r>
              <a:rPr lang="en-US" altLang="zh-CN">
                <a:solidFill>
                  <a:schemeClr val="tx1"/>
                </a:solidFill>
              </a:rPr>
              <a:t> 8 </a:t>
            </a:r>
            <a:r>
              <a:rPr lang="zh-CN" altLang="en-US">
                <a:solidFill>
                  <a:schemeClr val="tx1"/>
                </a:solidFill>
              </a:rPr>
              <a:t>的倍数</a:t>
            </a:r>
            <a:r>
              <a:rPr lang="en-US" altLang="zh-CN">
                <a:solidFill>
                  <a:schemeClr val="tx1"/>
                </a:solidFill>
              </a:rPr>
              <a:t>，</a:t>
            </a:r>
            <a:r>
              <a:rPr lang="zh-CN" altLang="en-US">
                <a:solidFill>
                  <a:schemeClr val="tx1"/>
                </a:solidFill>
              </a:rPr>
              <a:t>因此答案为</a:t>
            </a:r>
            <a:r>
              <a:rPr lang="en-US" altLang="zh-CN">
                <a:solidFill>
                  <a:schemeClr val="tx1"/>
                </a:solidFill>
              </a:rPr>
              <a:t> </a:t>
            </a:r>
            <a:r>
              <a:rPr lang="en-US" altLang="zh-CN">
                <a:solidFill>
                  <a:srgbClr val="FF0000"/>
                </a:solidFill>
              </a:rPr>
              <a:t>24</a:t>
            </a:r>
            <a:r>
              <a:rPr lang="en-US" altLang="zh-CN">
                <a:solidFill>
                  <a:schemeClr val="tx1"/>
                </a:solidFill>
              </a:rPr>
              <a:t>。</a:t>
            </a:r>
            <a:endParaRPr lang="en-US" altLang="zh-CN">
              <a:solidFill>
                <a:schemeClr val="tx1"/>
              </a:solidFill>
            </a:endParaRPr>
          </a:p>
        </p:txBody>
      </p:sp>
      <p:pic>
        <p:nvPicPr>
          <p:cNvPr id="4" name="Picture 3"/>
          <p:cNvPicPr>
            <a:picLocks noChangeAspect="1"/>
          </p:cNvPicPr>
          <p:nvPr/>
        </p:nvPicPr>
        <p:blipFill>
          <a:blip r:embed="rId3"/>
          <a:stretch>
            <a:fillRect/>
          </a:stretch>
        </p:blipFill>
        <p:spPr>
          <a:xfrm>
            <a:off x="7706360" y="2902585"/>
            <a:ext cx="3676650" cy="257175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7.2 </a:t>
            </a:r>
            <a:r>
              <a:rPr lang="zh-CN" altLang="en-US"/>
              <a:t>结构体</a:t>
            </a:r>
            <a:endParaRPr lang="zh-CN" altLang="en-US"/>
          </a:p>
        </p:txBody>
      </p:sp>
      <p:sp>
        <p:nvSpPr>
          <p:cNvPr id="3" name="Content Placeholder 2"/>
          <p:cNvSpPr>
            <a:spLocks noGrp="1"/>
          </p:cNvSpPr>
          <p:nvPr>
            <p:ph idx="1"/>
            <p:custDataLst>
              <p:tags r:id="rId2"/>
            </p:custDataLst>
          </p:nvPr>
        </p:nvSpPr>
        <p:spPr>
          <a:xfrm>
            <a:off x="608330" y="1490345"/>
            <a:ext cx="6249035" cy="4759325"/>
          </a:xfrm>
        </p:spPr>
        <p:txBody>
          <a:bodyPr/>
          <a:p>
            <a:r>
              <a:rPr lang="zh-CN" altLang="en-US">
                <a:solidFill>
                  <a:schemeClr val="tx1"/>
                </a:solidFill>
              </a:rPr>
              <a:t>下一问要求</a:t>
            </a:r>
            <a:r>
              <a:rPr lang="en-US" altLang="zh-CN">
                <a:solidFill>
                  <a:schemeClr val="tx1"/>
                </a:solidFill>
              </a:rPr>
              <a:t> &amp;a[2].v[1] </a:t>
            </a:r>
            <a:r>
              <a:rPr lang="zh-CN" altLang="en-US">
                <a:solidFill>
                  <a:schemeClr val="tx1"/>
                </a:solidFill>
              </a:rPr>
              <a:t>的起始地址</a:t>
            </a:r>
            <a:r>
              <a:rPr lang="en-US" altLang="zh-CN">
                <a:solidFill>
                  <a:schemeClr val="tx1"/>
                </a:solidFill>
              </a:rPr>
              <a:t>。</a:t>
            </a:r>
            <a:endParaRPr lang="en-US" altLang="zh-CN">
              <a:solidFill>
                <a:schemeClr val="tx1"/>
              </a:solidFill>
            </a:endParaRPr>
          </a:p>
          <a:p>
            <a:r>
              <a:rPr lang="zh-CN" altLang="en-US">
                <a:solidFill>
                  <a:schemeClr val="tx1"/>
                </a:solidFill>
              </a:rPr>
              <a:t>根据前面的计算</a:t>
            </a:r>
            <a:r>
              <a:rPr lang="en-US" altLang="zh-CN">
                <a:solidFill>
                  <a:schemeClr val="tx1"/>
                </a:solidFill>
              </a:rPr>
              <a:t>，sizeof(Rec) = 24，</a:t>
            </a:r>
            <a:r>
              <a:rPr lang="zh-CN" altLang="en-US">
                <a:solidFill>
                  <a:schemeClr val="tx1"/>
                </a:solidFill>
              </a:rPr>
              <a:t>因此</a:t>
            </a:r>
            <a:r>
              <a:rPr lang="en-US" altLang="zh-CN">
                <a:solidFill>
                  <a:schemeClr val="tx1"/>
                </a:solidFill>
              </a:rPr>
              <a:t> a[2] </a:t>
            </a:r>
            <a:r>
              <a:rPr lang="zh-CN" altLang="en-US">
                <a:solidFill>
                  <a:schemeClr val="tx1"/>
                </a:solidFill>
              </a:rPr>
              <a:t>的起始地址就是</a:t>
            </a:r>
            <a:r>
              <a:rPr lang="en-US" altLang="zh-CN">
                <a:solidFill>
                  <a:schemeClr val="tx1"/>
                </a:solidFill>
              </a:rPr>
              <a:t> &amp;a + 2 * sizeof(Rec) = 0x1000 + 48。</a:t>
            </a:r>
            <a:endParaRPr lang="en-US" altLang="zh-CN">
              <a:solidFill>
                <a:schemeClr val="tx1"/>
              </a:solidFill>
            </a:endParaRPr>
          </a:p>
          <a:p>
            <a:endParaRPr lang="en-US" altLang="zh-CN">
              <a:solidFill>
                <a:schemeClr val="tx1"/>
              </a:solidFill>
            </a:endParaRPr>
          </a:p>
          <a:p>
            <a:r>
              <a:rPr lang="zh-CN" altLang="en-US">
                <a:solidFill>
                  <a:schemeClr val="tx1"/>
                </a:solidFill>
              </a:rPr>
              <a:t>然后</a:t>
            </a:r>
            <a:r>
              <a:rPr lang="en-US" altLang="zh-CN">
                <a:solidFill>
                  <a:schemeClr val="tx1"/>
                </a:solidFill>
              </a:rPr>
              <a:t> v </a:t>
            </a:r>
            <a:r>
              <a:rPr lang="zh-CN" altLang="en-US">
                <a:solidFill>
                  <a:schemeClr val="tx1"/>
                </a:solidFill>
              </a:rPr>
              <a:t>相对于</a:t>
            </a:r>
            <a:r>
              <a:rPr lang="zh-CN" altLang="en-US">
                <a:solidFill>
                  <a:schemeClr val="tx1"/>
                </a:solidFill>
                <a:sym typeface="+mn-ea"/>
              </a:rPr>
              <a:t>结构体起始地址的偏移量是</a:t>
            </a:r>
            <a:r>
              <a:rPr lang="en-US" altLang="zh-CN">
                <a:solidFill>
                  <a:schemeClr val="tx1"/>
                </a:solidFill>
                <a:sym typeface="+mn-ea"/>
              </a:rPr>
              <a:t> 4，</a:t>
            </a:r>
            <a:r>
              <a:rPr lang="zh-CN" altLang="en-US">
                <a:solidFill>
                  <a:schemeClr val="tx1"/>
                </a:solidFill>
                <a:sym typeface="+mn-ea"/>
              </a:rPr>
              <a:t>因此</a:t>
            </a:r>
            <a:r>
              <a:rPr lang="en-US" altLang="zh-CN">
                <a:solidFill>
                  <a:schemeClr val="tx1"/>
                </a:solidFill>
                <a:sym typeface="+mn-ea"/>
              </a:rPr>
              <a:t> &amp;a[2].v = &amp;a[2] + 4 = 0x1000 + 52。</a:t>
            </a:r>
            <a:endParaRPr lang="en-US" altLang="zh-CN">
              <a:solidFill>
                <a:schemeClr val="tx1"/>
              </a:solidFill>
              <a:sym typeface="+mn-ea"/>
            </a:endParaRPr>
          </a:p>
          <a:p>
            <a:r>
              <a:rPr lang="zh-CN" altLang="en-US">
                <a:solidFill>
                  <a:schemeClr val="tx1"/>
                </a:solidFill>
                <a:sym typeface="+mn-ea"/>
              </a:rPr>
              <a:t>再计算</a:t>
            </a:r>
            <a:r>
              <a:rPr lang="en-US" altLang="zh-CN">
                <a:solidFill>
                  <a:schemeClr val="tx1"/>
                </a:solidFill>
                <a:sym typeface="+mn-ea"/>
              </a:rPr>
              <a:t> &amp;a[2].v[1] = &amp;a[2].v + 1 * sizeof(int) = 0x1000 + 56 = </a:t>
            </a:r>
            <a:r>
              <a:rPr lang="en-US" altLang="zh-CN">
                <a:solidFill>
                  <a:srgbClr val="FF0000"/>
                </a:solidFill>
                <a:sym typeface="+mn-ea"/>
              </a:rPr>
              <a:t>0x1038</a:t>
            </a:r>
            <a:r>
              <a:rPr lang="en-US" altLang="zh-CN">
                <a:solidFill>
                  <a:schemeClr val="tx1"/>
                </a:solidFill>
                <a:sym typeface="+mn-ea"/>
              </a:rPr>
              <a:t>。</a:t>
            </a:r>
            <a:endParaRPr lang="en-US" altLang="zh-CN">
              <a:solidFill>
                <a:schemeClr val="tx1"/>
              </a:solidFill>
              <a:sym typeface="+mn-ea"/>
            </a:endParaRPr>
          </a:p>
        </p:txBody>
      </p:sp>
      <p:pic>
        <p:nvPicPr>
          <p:cNvPr id="5" name="Picture 4"/>
          <p:cNvPicPr>
            <a:picLocks noChangeAspect="1"/>
          </p:cNvPicPr>
          <p:nvPr/>
        </p:nvPicPr>
        <p:blipFill>
          <a:blip r:embed="rId3"/>
          <a:stretch>
            <a:fillRect/>
          </a:stretch>
        </p:blipFill>
        <p:spPr>
          <a:xfrm>
            <a:off x="7554595" y="1313815"/>
            <a:ext cx="2931795" cy="2051050"/>
          </a:xfrm>
          <a:prstGeom prst="rect">
            <a:avLst/>
          </a:prstGeom>
        </p:spPr>
      </p:pic>
      <p:pic>
        <p:nvPicPr>
          <p:cNvPr id="6" name="Picture 5"/>
          <p:cNvPicPr>
            <a:picLocks noChangeAspect="1"/>
          </p:cNvPicPr>
          <p:nvPr/>
        </p:nvPicPr>
        <p:blipFill>
          <a:blip r:embed="rId4"/>
          <a:stretch>
            <a:fillRect/>
          </a:stretch>
        </p:blipFill>
        <p:spPr>
          <a:xfrm>
            <a:off x="7077710" y="3552190"/>
            <a:ext cx="4335780" cy="2307590"/>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7.2 </a:t>
            </a:r>
            <a:r>
              <a:rPr lang="zh-CN" altLang="en-US"/>
              <a:t>结构体</a:t>
            </a:r>
            <a:endParaRPr lang="zh-CN" altLang="en-US"/>
          </a:p>
        </p:txBody>
      </p:sp>
      <p:sp>
        <p:nvSpPr>
          <p:cNvPr id="3" name="Content Placeholder 2"/>
          <p:cNvSpPr>
            <a:spLocks noGrp="1"/>
          </p:cNvSpPr>
          <p:nvPr>
            <p:ph idx="1"/>
            <p:custDataLst>
              <p:tags r:id="rId2"/>
            </p:custDataLst>
          </p:nvPr>
        </p:nvSpPr>
        <p:spPr>
          <a:xfrm>
            <a:off x="608330" y="1490345"/>
            <a:ext cx="5901690" cy="4759325"/>
          </a:xfrm>
        </p:spPr>
        <p:txBody>
          <a:bodyPr/>
          <a:p>
            <a:r>
              <a:rPr lang="zh-CN" altLang="en-US">
                <a:solidFill>
                  <a:schemeClr val="tx1"/>
                </a:solidFill>
                <a:sym typeface="+mn-ea"/>
              </a:rPr>
              <a:t>最后一题需要求</a:t>
            </a:r>
            <a:r>
              <a:rPr lang="en-US" altLang="zh-CN">
                <a:solidFill>
                  <a:schemeClr val="tx1"/>
                </a:solidFill>
                <a:sym typeface="+mn-ea"/>
              </a:rPr>
              <a:t> p[1].sum + q[2] </a:t>
            </a:r>
            <a:r>
              <a:rPr lang="zh-CN" altLang="en-US">
                <a:solidFill>
                  <a:schemeClr val="tx1"/>
                </a:solidFill>
                <a:sym typeface="+mn-ea"/>
              </a:rPr>
              <a:t>的值</a:t>
            </a:r>
            <a:r>
              <a:rPr lang="en-US" altLang="zh-CN">
                <a:solidFill>
                  <a:schemeClr val="tx1"/>
                </a:solidFill>
                <a:sym typeface="+mn-ea"/>
              </a:rPr>
              <a:t>。</a:t>
            </a:r>
            <a:endParaRPr lang="en-US" altLang="zh-CN">
              <a:solidFill>
                <a:schemeClr val="tx1"/>
              </a:solidFill>
              <a:sym typeface="+mn-ea"/>
            </a:endParaRPr>
          </a:p>
          <a:p>
            <a:endParaRPr lang="en-US" altLang="zh-CN">
              <a:solidFill>
                <a:schemeClr val="tx1"/>
              </a:solidFill>
              <a:sym typeface="+mn-ea"/>
            </a:endParaRPr>
          </a:p>
          <a:p>
            <a:r>
              <a:rPr lang="zh-CN" altLang="en-US">
                <a:solidFill>
                  <a:schemeClr val="tx1"/>
                </a:solidFill>
                <a:sym typeface="+mn-ea"/>
              </a:rPr>
              <a:t>首先</a:t>
            </a:r>
            <a:r>
              <a:rPr lang="en-US" altLang="zh-CN">
                <a:solidFill>
                  <a:schemeClr val="tx1"/>
                </a:solidFill>
                <a:sym typeface="+mn-ea"/>
              </a:rPr>
              <a:t> p </a:t>
            </a:r>
            <a:r>
              <a:rPr lang="zh-CN" altLang="en-US">
                <a:solidFill>
                  <a:schemeClr val="tx1"/>
                </a:solidFill>
                <a:sym typeface="+mn-ea"/>
              </a:rPr>
              <a:t>指向</a:t>
            </a:r>
            <a:r>
              <a:rPr lang="en-US" altLang="zh-CN">
                <a:solidFill>
                  <a:schemeClr val="tx1"/>
                </a:solidFill>
                <a:sym typeface="+mn-ea"/>
              </a:rPr>
              <a:t> a[1]，</a:t>
            </a:r>
            <a:r>
              <a:rPr lang="zh-CN" altLang="en-US">
                <a:solidFill>
                  <a:schemeClr val="tx1"/>
                </a:solidFill>
                <a:sym typeface="+mn-ea"/>
              </a:rPr>
              <a:t>因此</a:t>
            </a:r>
            <a:r>
              <a:rPr lang="en-US" altLang="zh-CN">
                <a:solidFill>
                  <a:schemeClr val="tx1"/>
                </a:solidFill>
                <a:sym typeface="+mn-ea"/>
              </a:rPr>
              <a:t> p[1] = p + sizeof(Rec)，</a:t>
            </a:r>
            <a:r>
              <a:rPr lang="zh-CN" altLang="en-US">
                <a:solidFill>
                  <a:schemeClr val="tx1"/>
                </a:solidFill>
                <a:sym typeface="+mn-ea"/>
              </a:rPr>
              <a:t>因此定位到的是</a:t>
            </a:r>
            <a:r>
              <a:rPr lang="en-US" altLang="zh-CN">
                <a:solidFill>
                  <a:schemeClr val="tx1"/>
                </a:solidFill>
                <a:sym typeface="+mn-ea"/>
              </a:rPr>
              <a:t> a[2] </a:t>
            </a:r>
            <a:r>
              <a:rPr lang="zh-CN" altLang="en-US">
                <a:solidFill>
                  <a:schemeClr val="tx1"/>
                </a:solidFill>
                <a:sym typeface="+mn-ea"/>
              </a:rPr>
              <a:t>的起始位置</a:t>
            </a:r>
            <a:r>
              <a:rPr lang="en-US" altLang="zh-CN">
                <a:solidFill>
                  <a:schemeClr val="tx1"/>
                </a:solidFill>
                <a:sym typeface="+mn-ea"/>
              </a:rPr>
              <a:t>。</a:t>
            </a:r>
            <a:r>
              <a:rPr lang="zh-CN" altLang="en-US">
                <a:solidFill>
                  <a:schemeClr val="tx1"/>
                </a:solidFill>
                <a:sym typeface="+mn-ea"/>
              </a:rPr>
              <a:t>所以</a:t>
            </a:r>
            <a:r>
              <a:rPr lang="en-US" altLang="zh-CN">
                <a:solidFill>
                  <a:schemeClr val="tx1"/>
                </a:solidFill>
                <a:sym typeface="+mn-ea"/>
              </a:rPr>
              <a:t> p[1].sum = a[2].sum = 30。</a:t>
            </a:r>
            <a:endParaRPr lang="en-US" altLang="zh-CN">
              <a:solidFill>
                <a:schemeClr val="tx1"/>
              </a:solidFill>
              <a:sym typeface="+mn-ea"/>
            </a:endParaRPr>
          </a:p>
          <a:p>
            <a:r>
              <a:rPr lang="en-US" altLang="zh-CN">
                <a:solidFill>
                  <a:schemeClr val="tx1"/>
                </a:solidFill>
                <a:sym typeface="+mn-ea"/>
              </a:rPr>
              <a:t>q </a:t>
            </a:r>
            <a:r>
              <a:rPr lang="zh-CN" altLang="en-US">
                <a:solidFill>
                  <a:schemeClr val="tx1"/>
                </a:solidFill>
                <a:sym typeface="+mn-ea"/>
              </a:rPr>
              <a:t>定位的是</a:t>
            </a:r>
            <a:r>
              <a:rPr lang="en-US" altLang="zh-CN">
                <a:solidFill>
                  <a:schemeClr val="tx1"/>
                </a:solidFill>
                <a:sym typeface="+mn-ea"/>
              </a:rPr>
              <a:t> p -&gt; v </a:t>
            </a:r>
            <a:r>
              <a:rPr lang="zh-CN" altLang="en-US">
                <a:solidFill>
                  <a:schemeClr val="tx1"/>
                </a:solidFill>
                <a:sym typeface="+mn-ea"/>
              </a:rPr>
              <a:t>也就是</a:t>
            </a:r>
            <a:r>
              <a:rPr lang="en-US" altLang="zh-CN">
                <a:solidFill>
                  <a:schemeClr val="tx1"/>
                </a:solidFill>
                <a:sym typeface="+mn-ea"/>
              </a:rPr>
              <a:t> a[1].v，</a:t>
            </a:r>
            <a:r>
              <a:rPr lang="zh-CN" altLang="en-US">
                <a:solidFill>
                  <a:schemeClr val="tx1"/>
                </a:solidFill>
                <a:sym typeface="+mn-ea"/>
              </a:rPr>
              <a:t>所以</a:t>
            </a:r>
            <a:r>
              <a:rPr lang="en-US" altLang="zh-CN">
                <a:solidFill>
                  <a:schemeClr val="tx1"/>
                </a:solidFill>
                <a:sym typeface="+mn-ea"/>
              </a:rPr>
              <a:t> q[2] </a:t>
            </a:r>
            <a:r>
              <a:rPr lang="zh-CN" altLang="en-US">
                <a:solidFill>
                  <a:schemeClr val="tx1"/>
                </a:solidFill>
                <a:sym typeface="+mn-ea"/>
              </a:rPr>
              <a:t>就是</a:t>
            </a:r>
            <a:r>
              <a:rPr lang="en-US" altLang="zh-CN">
                <a:solidFill>
                  <a:schemeClr val="tx1"/>
                </a:solidFill>
                <a:sym typeface="+mn-ea"/>
              </a:rPr>
              <a:t> a[1].v[2] = 6。</a:t>
            </a:r>
            <a:endParaRPr lang="en-US" altLang="zh-CN">
              <a:solidFill>
                <a:schemeClr val="tx1"/>
              </a:solidFill>
              <a:sym typeface="+mn-ea"/>
            </a:endParaRPr>
          </a:p>
          <a:p>
            <a:endParaRPr lang="en-US" altLang="zh-CN">
              <a:solidFill>
                <a:schemeClr val="tx1"/>
              </a:solidFill>
              <a:sym typeface="+mn-ea"/>
            </a:endParaRPr>
          </a:p>
          <a:p>
            <a:r>
              <a:rPr lang="zh-CN" altLang="en-US">
                <a:solidFill>
                  <a:schemeClr val="tx1"/>
                </a:solidFill>
                <a:sym typeface="+mn-ea"/>
              </a:rPr>
              <a:t>因此</a:t>
            </a:r>
            <a:r>
              <a:rPr lang="en-US" altLang="zh-CN">
                <a:solidFill>
                  <a:schemeClr val="tx1"/>
                </a:solidFill>
                <a:sym typeface="+mn-ea"/>
              </a:rPr>
              <a:t> result = 30+6 = </a:t>
            </a:r>
            <a:r>
              <a:rPr lang="en-US" altLang="zh-CN">
                <a:solidFill>
                  <a:srgbClr val="FF0000"/>
                </a:solidFill>
                <a:sym typeface="+mn-ea"/>
              </a:rPr>
              <a:t>36</a:t>
            </a:r>
            <a:r>
              <a:rPr lang="en-US" altLang="zh-CN">
                <a:solidFill>
                  <a:schemeClr val="tx1"/>
                </a:solidFill>
                <a:sym typeface="+mn-ea"/>
              </a:rPr>
              <a:t>。</a:t>
            </a:r>
            <a:endParaRPr lang="en-US" altLang="zh-CN">
              <a:solidFill>
                <a:schemeClr val="tx1"/>
              </a:solidFill>
              <a:sym typeface="+mn-ea"/>
            </a:endParaRPr>
          </a:p>
        </p:txBody>
      </p:sp>
      <p:pic>
        <p:nvPicPr>
          <p:cNvPr id="7" name="Picture 6"/>
          <p:cNvPicPr>
            <a:picLocks noChangeAspect="1"/>
          </p:cNvPicPr>
          <p:nvPr/>
        </p:nvPicPr>
        <p:blipFill>
          <a:blip r:embed="rId3"/>
          <a:stretch>
            <a:fillRect/>
          </a:stretch>
        </p:blipFill>
        <p:spPr>
          <a:xfrm>
            <a:off x="6741160" y="1899285"/>
            <a:ext cx="4953635" cy="3608070"/>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8.1 </a:t>
            </a:r>
            <a:r>
              <a:rPr lang="zh-CN" altLang="en-US"/>
              <a:t>结构与</a:t>
            </a:r>
            <a:r>
              <a:rPr lang="zh-CN" altLang="en-US"/>
              <a:t>联合</a:t>
            </a:r>
            <a:endParaRPr lang="zh-CN" altLang="en-US"/>
          </a:p>
        </p:txBody>
      </p:sp>
      <p:pic>
        <p:nvPicPr>
          <p:cNvPr id="4" name="Content Placeholder 3"/>
          <p:cNvPicPr>
            <a:picLocks noChangeAspect="1"/>
          </p:cNvPicPr>
          <p:nvPr>
            <p:ph idx="1"/>
            <p:custDataLst>
              <p:tags r:id="rId2"/>
            </p:custDataLst>
          </p:nvPr>
        </p:nvPicPr>
        <p:blipFill>
          <a:blip r:embed="rId3"/>
          <a:stretch>
            <a:fillRect/>
          </a:stretch>
        </p:blipFill>
        <p:spPr>
          <a:xfrm>
            <a:off x="3012440" y="1490345"/>
            <a:ext cx="6160135" cy="4759325"/>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8.1 </a:t>
            </a:r>
            <a:r>
              <a:rPr lang="zh-CN" altLang="en-US"/>
              <a:t>结构与</a:t>
            </a:r>
            <a:r>
              <a:rPr lang="zh-CN" altLang="en-US"/>
              <a:t>联合</a:t>
            </a:r>
            <a:endParaRPr lang="zh-CN" altLang="en-US"/>
          </a:p>
        </p:txBody>
      </p:sp>
      <p:sp>
        <p:nvSpPr>
          <p:cNvPr id="3" name="Content Placeholder 2"/>
          <p:cNvSpPr>
            <a:spLocks noGrp="1"/>
          </p:cNvSpPr>
          <p:nvPr>
            <p:ph idx="1"/>
            <p:custDataLst>
              <p:tags r:id="rId2"/>
            </p:custDataLst>
          </p:nvPr>
        </p:nvSpPr>
        <p:spPr>
          <a:xfrm>
            <a:off x="608330" y="1490345"/>
            <a:ext cx="7096760" cy="4759325"/>
          </a:xfrm>
        </p:spPr>
        <p:txBody>
          <a:bodyPr/>
          <a:p>
            <a:r>
              <a:rPr lang="zh-CN" altLang="en-US">
                <a:solidFill>
                  <a:schemeClr val="tx1"/>
                </a:solidFill>
              </a:rPr>
              <a:t>先考虑</a:t>
            </a:r>
            <a:r>
              <a:rPr lang="en-US" altLang="zh-CN">
                <a:solidFill>
                  <a:schemeClr val="tx1"/>
                </a:solidFill>
              </a:rPr>
              <a:t> A C </a:t>
            </a:r>
            <a:r>
              <a:rPr lang="zh-CN" altLang="en-US">
                <a:solidFill>
                  <a:schemeClr val="tx1"/>
                </a:solidFill>
              </a:rPr>
              <a:t>两个选项，根据</a:t>
            </a:r>
            <a:r>
              <a:rPr lang="en-US" altLang="zh-CN">
                <a:solidFill>
                  <a:schemeClr val="tx1"/>
                </a:solidFill>
              </a:rPr>
              <a:t> struct </a:t>
            </a:r>
            <a:r>
              <a:rPr lang="zh-CN" altLang="en-US">
                <a:solidFill>
                  <a:schemeClr val="tx1"/>
                </a:solidFill>
              </a:rPr>
              <a:t>里面的数据对齐方式</a:t>
            </a:r>
            <a:r>
              <a:rPr lang="en-US" altLang="zh-CN">
                <a:solidFill>
                  <a:schemeClr val="tx1"/>
                </a:solidFill>
              </a:rPr>
              <a:t>，sizeof(long) = 8</a:t>
            </a:r>
            <a:r>
              <a:rPr lang="zh-CN" altLang="en-US">
                <a:solidFill>
                  <a:schemeClr val="tx1"/>
                </a:solidFill>
              </a:rPr>
              <a:t>，因此</a:t>
            </a:r>
            <a:r>
              <a:rPr lang="en-US" altLang="zh-CN">
                <a:solidFill>
                  <a:schemeClr val="tx1"/>
                </a:solidFill>
              </a:rPr>
              <a:t> x </a:t>
            </a:r>
            <a:r>
              <a:rPr lang="zh-CN" altLang="en-US">
                <a:solidFill>
                  <a:schemeClr val="tx1"/>
                </a:solidFill>
              </a:rPr>
              <a:t>的起始位置必须是</a:t>
            </a:r>
            <a:r>
              <a:rPr lang="en-US" altLang="zh-CN">
                <a:solidFill>
                  <a:schemeClr val="tx1"/>
                </a:solidFill>
              </a:rPr>
              <a:t> 8 </a:t>
            </a:r>
            <a:r>
              <a:rPr lang="zh-CN" altLang="en-US">
                <a:solidFill>
                  <a:schemeClr val="tx1"/>
                </a:solidFill>
              </a:rPr>
              <a:t>的倍数</a:t>
            </a:r>
            <a:r>
              <a:rPr lang="en-US" altLang="zh-CN">
                <a:solidFill>
                  <a:schemeClr val="tx1"/>
                </a:solidFill>
              </a:rPr>
              <a:t>。</a:t>
            </a:r>
            <a:endParaRPr lang="en-US" altLang="zh-CN">
              <a:solidFill>
                <a:schemeClr val="tx1"/>
              </a:solidFill>
            </a:endParaRPr>
          </a:p>
          <a:p>
            <a:pPr lvl="1"/>
            <a:r>
              <a:rPr lang="en-US" altLang="zh-CN">
                <a:solidFill>
                  <a:schemeClr val="tx1"/>
                </a:solidFill>
              </a:rPr>
              <a:t>c: 0</a:t>
            </a:r>
            <a:endParaRPr lang="en-US" altLang="zh-CN">
              <a:solidFill>
                <a:schemeClr val="tx1"/>
              </a:solidFill>
            </a:endParaRPr>
          </a:p>
          <a:p>
            <a:pPr lvl="1"/>
            <a:r>
              <a:rPr lang="en-US" altLang="zh-CN">
                <a:solidFill>
                  <a:schemeClr val="tx1"/>
                </a:solidFill>
              </a:rPr>
              <a:t>x: 8~15</a:t>
            </a:r>
            <a:endParaRPr lang="en-US" altLang="zh-CN">
              <a:solidFill>
                <a:schemeClr val="tx1"/>
              </a:solidFill>
            </a:endParaRPr>
          </a:p>
          <a:p>
            <a:pPr lvl="0"/>
            <a:endParaRPr lang="en-US" altLang="zh-CN">
              <a:solidFill>
                <a:schemeClr val="tx1"/>
              </a:solidFill>
            </a:endParaRPr>
          </a:p>
          <a:p>
            <a:pPr lvl="0"/>
            <a:r>
              <a:rPr lang="zh-CN" altLang="en-US">
                <a:solidFill>
                  <a:schemeClr val="tx1"/>
                </a:solidFill>
              </a:rPr>
              <a:t>因此</a:t>
            </a:r>
            <a:r>
              <a:rPr lang="en-US" altLang="zh-CN">
                <a:solidFill>
                  <a:schemeClr val="tx1"/>
                </a:solidFill>
              </a:rPr>
              <a:t> sizeof(struct S) = 16。A </a:t>
            </a:r>
            <a:r>
              <a:rPr lang="zh-CN" altLang="en-US">
                <a:solidFill>
                  <a:schemeClr val="tx1"/>
                </a:solidFill>
              </a:rPr>
              <a:t>选项正确</a:t>
            </a:r>
            <a:r>
              <a:rPr lang="en-US" altLang="zh-CN">
                <a:solidFill>
                  <a:schemeClr val="tx1"/>
                </a:solidFill>
              </a:rPr>
              <a:t>。</a:t>
            </a:r>
            <a:endParaRPr lang="en-US" altLang="zh-CN">
              <a:solidFill>
                <a:schemeClr val="tx1"/>
              </a:solidFill>
            </a:endParaRPr>
          </a:p>
          <a:p>
            <a:pPr lvl="0"/>
            <a:endParaRPr lang="en-US" altLang="zh-CN">
              <a:solidFill>
                <a:schemeClr val="tx1"/>
              </a:solidFill>
            </a:endParaRPr>
          </a:p>
          <a:p>
            <a:pPr lvl="0"/>
            <a:r>
              <a:rPr lang="zh-CN" altLang="en-US">
                <a:solidFill>
                  <a:schemeClr val="tx1"/>
                </a:solidFill>
              </a:rPr>
              <a:t>显然对于</a:t>
            </a:r>
            <a:r>
              <a:rPr lang="en-US" altLang="zh-CN">
                <a:solidFill>
                  <a:schemeClr val="tx1"/>
                </a:solidFill>
              </a:rPr>
              <a:t> struct，c </a:t>
            </a:r>
            <a:r>
              <a:rPr lang="zh-CN" altLang="en-US">
                <a:solidFill>
                  <a:schemeClr val="tx1"/>
                </a:solidFill>
              </a:rPr>
              <a:t>和</a:t>
            </a:r>
            <a:r>
              <a:rPr lang="en-US" altLang="zh-CN">
                <a:solidFill>
                  <a:schemeClr val="tx1"/>
                </a:solidFill>
              </a:rPr>
              <a:t> x </a:t>
            </a:r>
            <a:r>
              <a:rPr lang="zh-CN" altLang="en-US">
                <a:solidFill>
                  <a:schemeClr val="tx1"/>
                </a:solidFill>
              </a:rPr>
              <a:t>占用的存储空间是不同的</a:t>
            </a:r>
            <a:r>
              <a:rPr lang="en-US" altLang="zh-CN">
                <a:solidFill>
                  <a:schemeClr val="tx1"/>
                </a:solidFill>
              </a:rPr>
              <a:t>， C </a:t>
            </a:r>
            <a:r>
              <a:rPr lang="zh-CN" altLang="en-US">
                <a:solidFill>
                  <a:schemeClr val="tx1"/>
                </a:solidFill>
              </a:rPr>
              <a:t>错误</a:t>
            </a:r>
            <a:r>
              <a:rPr lang="en-US" altLang="zh-CN">
                <a:solidFill>
                  <a:schemeClr val="tx1"/>
                </a:solidFill>
              </a:rPr>
              <a:t>。</a:t>
            </a:r>
            <a:endParaRPr lang="en-US" altLang="zh-CN">
              <a:solidFill>
                <a:schemeClr val="tx1"/>
              </a:solidFill>
            </a:endParaRPr>
          </a:p>
        </p:txBody>
      </p:sp>
      <p:pic>
        <p:nvPicPr>
          <p:cNvPr id="4" name="Picture 3"/>
          <p:cNvPicPr>
            <a:picLocks noChangeAspect="1"/>
          </p:cNvPicPr>
          <p:nvPr/>
        </p:nvPicPr>
        <p:blipFill>
          <a:blip r:embed="rId3"/>
          <a:stretch>
            <a:fillRect/>
          </a:stretch>
        </p:blipFill>
        <p:spPr>
          <a:xfrm>
            <a:off x="8181975" y="1748155"/>
            <a:ext cx="2552700" cy="2038350"/>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8.1 </a:t>
            </a:r>
            <a:r>
              <a:rPr lang="zh-CN" altLang="en-US"/>
              <a:t>结构与</a:t>
            </a:r>
            <a:r>
              <a:rPr lang="zh-CN" altLang="en-US"/>
              <a:t>联合</a:t>
            </a:r>
            <a:endParaRPr lang="zh-CN" altLang="en-US"/>
          </a:p>
        </p:txBody>
      </p:sp>
      <p:sp>
        <p:nvSpPr>
          <p:cNvPr id="3" name="Content Placeholder 2"/>
          <p:cNvSpPr>
            <a:spLocks noGrp="1"/>
          </p:cNvSpPr>
          <p:nvPr>
            <p:ph idx="1"/>
            <p:custDataLst>
              <p:tags r:id="rId2"/>
            </p:custDataLst>
          </p:nvPr>
        </p:nvSpPr>
        <p:spPr>
          <a:xfrm>
            <a:off x="608330" y="1490345"/>
            <a:ext cx="7096760" cy="4759325"/>
          </a:xfrm>
        </p:spPr>
        <p:txBody>
          <a:bodyPr/>
          <a:p>
            <a:r>
              <a:rPr lang="zh-CN" altLang="en-US">
                <a:solidFill>
                  <a:schemeClr val="tx1"/>
                </a:solidFill>
              </a:rPr>
              <a:t>再看</a:t>
            </a:r>
            <a:r>
              <a:rPr lang="en-US" altLang="zh-CN">
                <a:solidFill>
                  <a:schemeClr val="tx1"/>
                </a:solidFill>
              </a:rPr>
              <a:t> B D </a:t>
            </a:r>
            <a:r>
              <a:rPr lang="zh-CN" altLang="en-US">
                <a:solidFill>
                  <a:schemeClr val="tx1"/>
                </a:solidFill>
              </a:rPr>
              <a:t>两个选项</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zh-CN" altLang="en-US">
                <a:solidFill>
                  <a:schemeClr val="tx1"/>
                </a:solidFill>
              </a:rPr>
              <a:t>对于</a:t>
            </a:r>
            <a:r>
              <a:rPr lang="en-US" altLang="zh-CN">
                <a:solidFill>
                  <a:schemeClr val="tx1"/>
                </a:solidFill>
              </a:rPr>
              <a:t> union，</a:t>
            </a:r>
            <a:r>
              <a:rPr lang="zh-CN" altLang="en-US">
                <a:solidFill>
                  <a:schemeClr val="tx1"/>
                </a:solidFill>
              </a:rPr>
              <a:t>两个变量占用的存储空间的起始地址是一样的</a:t>
            </a:r>
            <a:r>
              <a:rPr lang="en-US" altLang="zh-CN">
                <a:solidFill>
                  <a:schemeClr val="tx1"/>
                </a:solidFill>
              </a:rPr>
              <a:t>，</a:t>
            </a:r>
            <a:r>
              <a:rPr lang="zh-CN" altLang="en-US">
                <a:solidFill>
                  <a:schemeClr val="tx1"/>
                </a:solidFill>
              </a:rPr>
              <a:t>因此</a:t>
            </a:r>
            <a:r>
              <a:rPr lang="en-US" altLang="zh-CN">
                <a:solidFill>
                  <a:schemeClr val="tx1"/>
                </a:solidFill>
              </a:rPr>
              <a:t> D </a:t>
            </a:r>
            <a:r>
              <a:rPr lang="zh-CN" altLang="en-US">
                <a:solidFill>
                  <a:schemeClr val="tx1"/>
                </a:solidFill>
              </a:rPr>
              <a:t>选项正确</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zh-CN" altLang="en-US">
                <a:solidFill>
                  <a:schemeClr val="tx1"/>
                </a:solidFill>
              </a:rPr>
              <a:t>此时</a:t>
            </a:r>
            <a:r>
              <a:rPr lang="en-US" altLang="zh-CN">
                <a:solidFill>
                  <a:schemeClr val="tx1"/>
                </a:solidFill>
              </a:rPr>
              <a:t> unoin </a:t>
            </a:r>
            <a:r>
              <a:rPr lang="zh-CN" altLang="en-US">
                <a:solidFill>
                  <a:schemeClr val="tx1"/>
                </a:solidFill>
              </a:rPr>
              <a:t>的大小是两个变量大小的较大值</a:t>
            </a:r>
            <a:r>
              <a:rPr lang="en-US" altLang="zh-CN">
                <a:solidFill>
                  <a:schemeClr val="tx1"/>
                </a:solidFill>
              </a:rPr>
              <a:t>，</a:t>
            </a:r>
            <a:r>
              <a:rPr lang="zh-CN" altLang="en-US">
                <a:solidFill>
                  <a:schemeClr val="tx1"/>
                </a:solidFill>
              </a:rPr>
              <a:t>因此</a:t>
            </a:r>
            <a:r>
              <a:rPr lang="en-US" altLang="zh-CN">
                <a:solidFill>
                  <a:schemeClr val="tx1"/>
                </a:solidFill>
              </a:rPr>
              <a:t> sizeof(U) = max(sizeof(char), sizeof(x)) = 8，B </a:t>
            </a:r>
            <a:r>
              <a:rPr lang="zh-CN" altLang="en-US">
                <a:solidFill>
                  <a:schemeClr val="tx1"/>
                </a:solidFill>
              </a:rPr>
              <a:t>选项正确</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zh-CN" altLang="en-US">
                <a:solidFill>
                  <a:schemeClr val="tx1"/>
                </a:solidFill>
              </a:rPr>
              <a:t>最终选择</a:t>
            </a:r>
            <a:r>
              <a:rPr lang="en-US" altLang="zh-CN">
                <a:solidFill>
                  <a:schemeClr val="tx1"/>
                </a:solidFill>
              </a:rPr>
              <a:t> </a:t>
            </a:r>
            <a:r>
              <a:rPr lang="en-US" altLang="zh-CN">
                <a:solidFill>
                  <a:srgbClr val="FF0000"/>
                </a:solidFill>
              </a:rPr>
              <a:t>ABD</a:t>
            </a:r>
            <a:r>
              <a:rPr lang="en-US" altLang="zh-CN">
                <a:solidFill>
                  <a:schemeClr val="tx1"/>
                </a:solidFill>
              </a:rPr>
              <a:t>。</a:t>
            </a:r>
            <a:endParaRPr lang="en-US" altLang="zh-CN">
              <a:solidFill>
                <a:schemeClr val="tx1"/>
              </a:solidFill>
            </a:endParaRPr>
          </a:p>
        </p:txBody>
      </p:sp>
      <p:pic>
        <p:nvPicPr>
          <p:cNvPr id="5" name="Picture 4"/>
          <p:cNvPicPr>
            <a:picLocks noChangeAspect="1"/>
          </p:cNvPicPr>
          <p:nvPr/>
        </p:nvPicPr>
        <p:blipFill>
          <a:blip r:embed="rId3"/>
          <a:stretch>
            <a:fillRect/>
          </a:stretch>
        </p:blipFill>
        <p:spPr>
          <a:xfrm>
            <a:off x="8296910" y="1276350"/>
            <a:ext cx="2846705" cy="2314575"/>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8.1 </a:t>
            </a:r>
            <a:r>
              <a:rPr lang="zh-CN" altLang="en-US"/>
              <a:t>结构与</a:t>
            </a:r>
            <a:r>
              <a:rPr lang="zh-CN" altLang="en-US"/>
              <a:t>联合</a:t>
            </a:r>
            <a:endParaRPr lang="zh-CN" altLang="en-US"/>
          </a:p>
        </p:txBody>
      </p:sp>
      <p:sp>
        <p:nvSpPr>
          <p:cNvPr id="3" name="Content Placeholder 2"/>
          <p:cNvSpPr>
            <a:spLocks noGrp="1"/>
          </p:cNvSpPr>
          <p:nvPr>
            <p:ph idx="1"/>
            <p:custDataLst>
              <p:tags r:id="rId2"/>
            </p:custDataLst>
          </p:nvPr>
        </p:nvSpPr>
        <p:spPr>
          <a:xfrm>
            <a:off x="608330" y="1490345"/>
            <a:ext cx="10968355" cy="4759325"/>
          </a:xfrm>
        </p:spPr>
        <p:txBody>
          <a:bodyPr>
            <a:normAutofit fontScale="90000" lnSpcReduction="10000"/>
          </a:bodyPr>
          <a:p>
            <a:r>
              <a:rPr lang="zh-CN" altLang="en-US">
                <a:solidFill>
                  <a:schemeClr val="tx1"/>
                </a:solidFill>
              </a:rPr>
              <a:t>知识点回顾</a:t>
            </a:r>
            <a:r>
              <a:rPr lang="en-US" altLang="zh-CN">
                <a:solidFill>
                  <a:schemeClr val="tx1"/>
                </a:solidFill>
              </a:rPr>
              <a:t>：</a:t>
            </a:r>
            <a:endParaRPr lang="zh-CN" altLang="en-US">
              <a:solidFill>
                <a:schemeClr val="tx1"/>
              </a:solidFill>
            </a:endParaRPr>
          </a:p>
          <a:p>
            <a:endParaRPr lang="zh-CN" altLang="en-US">
              <a:solidFill>
                <a:schemeClr val="tx1"/>
              </a:solidFill>
            </a:endParaRPr>
          </a:p>
          <a:p>
            <a:r>
              <a:rPr lang="zh-CN" altLang="en-US">
                <a:solidFill>
                  <a:schemeClr val="tx1"/>
                </a:solidFill>
              </a:rPr>
              <a:t>结构体：成员分别存储。</a:t>
            </a:r>
            <a:endParaRPr lang="zh-CN" altLang="en-US">
              <a:solidFill>
                <a:schemeClr val="tx1"/>
              </a:solidFill>
            </a:endParaRPr>
          </a:p>
          <a:p>
            <a:r>
              <a:rPr lang="zh-CN" altLang="en-US">
                <a:solidFill>
                  <a:schemeClr val="tx1"/>
                </a:solidFill>
              </a:rPr>
              <a:t>成员按声明顺序排列，中间可能有填充，末尾也可能有填充。因此，结构体大小不一定等于各成员大小之和。</a:t>
            </a:r>
            <a:endParaRPr lang="zh-CN" altLang="en-US">
              <a:solidFill>
                <a:schemeClr val="tx1"/>
              </a:solidFill>
            </a:endParaRPr>
          </a:p>
          <a:p>
            <a:endParaRPr lang="en-US" altLang="en-US">
              <a:solidFill>
                <a:schemeClr val="tx1"/>
              </a:solidFill>
            </a:endParaRPr>
          </a:p>
          <a:p>
            <a:r>
              <a:rPr lang="zh-CN" altLang="en-US">
                <a:solidFill>
                  <a:schemeClr val="tx1"/>
                </a:solidFill>
              </a:rPr>
              <a:t>联合体：成员共享存储空间。</a:t>
            </a:r>
            <a:endParaRPr lang="zh-CN" altLang="en-US">
              <a:solidFill>
                <a:schemeClr val="tx1"/>
              </a:solidFill>
            </a:endParaRPr>
          </a:p>
          <a:p>
            <a:r>
              <a:rPr lang="zh-CN" altLang="en-US">
                <a:solidFill>
                  <a:schemeClr val="tx1"/>
                </a:solidFill>
              </a:rPr>
              <a:t>所有成员的起始地址相同，但各成员自身的大小可以不同。本题中，</a:t>
            </a:r>
            <a:r>
              <a:rPr lang="en-US" altLang="en-US">
                <a:solidFill>
                  <a:schemeClr val="tx1"/>
                </a:solidFill>
              </a:rPr>
              <a:t>c </a:t>
            </a:r>
            <a:r>
              <a:rPr lang="zh-CN" altLang="en-US">
                <a:solidFill>
                  <a:schemeClr val="tx1"/>
                </a:solidFill>
              </a:rPr>
              <a:t>使用共享空间的第 1 个字节，</a:t>
            </a:r>
            <a:r>
              <a:rPr lang="en-US" altLang="en-US">
                <a:solidFill>
                  <a:schemeClr val="tx1"/>
                </a:solidFill>
              </a:rPr>
              <a:t>x </a:t>
            </a:r>
            <a:r>
              <a:rPr lang="zh-CN" altLang="en-US">
                <a:solidFill>
                  <a:schemeClr val="tx1"/>
                </a:solidFill>
              </a:rPr>
              <a:t>使用全部 8 个字节。修改一个成员可能影响另一个成员所对应的存储内容。</a:t>
            </a:r>
            <a:endParaRPr lang="zh-CN" altLang="en-US">
              <a:solidFill>
                <a:schemeClr val="tx1"/>
              </a:solidFill>
            </a:endParaRPr>
          </a:p>
          <a:p>
            <a:endParaRPr lang="en-US" altLang="en-US">
              <a:solidFill>
                <a:schemeClr val="tx1"/>
              </a:solidFill>
            </a:endParaRPr>
          </a:p>
          <a:p>
            <a:r>
              <a:rPr lang="zh-CN" altLang="en-US">
                <a:solidFill>
                  <a:schemeClr val="tx1"/>
                </a:solidFill>
              </a:rPr>
              <a:t>计算大小时，要同时考虑容量和对齐。</a:t>
            </a:r>
            <a:endParaRPr lang="zh-CN" altLang="en-US">
              <a:solidFill>
                <a:schemeClr val="tx1"/>
              </a:solidFill>
            </a:endParaRPr>
          </a:p>
          <a:p>
            <a:r>
              <a:rPr lang="zh-CN" altLang="en-US">
                <a:solidFill>
                  <a:schemeClr val="tx1"/>
                </a:solidFill>
              </a:rPr>
              <a:t>在本题采用的默认对齐规则下，结构体与联合体的对齐要求都取成员对齐要求的最大值，总大小还要是该对齐值的整数倍。联合体的大小通常可按“最大成员大小，再按对齐要求向上取整”计算。</a:t>
            </a:r>
            <a:endParaRPr lang="zh-CN" altLang="en-US">
              <a:solidFill>
                <a:schemeClr val="tx1"/>
              </a:solidFill>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8.2 </a:t>
            </a:r>
            <a:r>
              <a:rPr lang="zh-CN" altLang="en-US"/>
              <a:t>防御技术</a:t>
            </a:r>
            <a:endParaRPr lang="zh-CN" alt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2137410"/>
            <a:ext cx="10968990" cy="3463925"/>
          </a:xfrm>
          <a:prstGeom prst="rect">
            <a:avLst/>
          </a:prstGeo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t>8.2 </a:t>
            </a:r>
            <a:r>
              <a:rPr lang="zh-CN" altLang="en-US"/>
              <a:t>防御技术</a:t>
            </a:r>
            <a:endParaRPr lang="zh-CN" altLang="en-US"/>
          </a:p>
        </p:txBody>
      </p:sp>
      <p:sp>
        <p:nvSpPr>
          <p:cNvPr id="3" name="Content Placeholder 2"/>
          <p:cNvSpPr>
            <a:spLocks noGrp="1"/>
          </p:cNvSpPr>
          <p:nvPr>
            <p:ph idx="1"/>
            <p:custDataLst>
              <p:tags r:id="rId2"/>
            </p:custDataLst>
          </p:nvPr>
        </p:nvSpPr>
        <p:spPr/>
        <p:txBody>
          <a:bodyPr>
            <a:normAutofit lnSpcReduction="10000"/>
          </a:bodyPr>
          <a:p>
            <a:r>
              <a:rPr lang="en-US" altLang="zh-CN">
                <a:solidFill>
                  <a:schemeClr val="tx1"/>
                </a:solidFill>
              </a:rPr>
              <a:t>A. </a:t>
            </a:r>
            <a:r>
              <a:rPr lang="zh-CN" altLang="en-US">
                <a:solidFill>
                  <a:schemeClr val="tx1"/>
                </a:solidFill>
              </a:rPr>
              <a:t>“栈金丝雀”是在栈中放置的一个保护值，通常位于局部缓冲区与保存的控制信息之间。函数返回前，程序会检查这个值是否被修改。</a:t>
            </a:r>
            <a:endParaRPr lang="en-US" altLang="en-US">
              <a:solidFill>
                <a:schemeClr val="tx1"/>
              </a:solidFill>
            </a:endParaRPr>
          </a:p>
          <a:p>
            <a:r>
              <a:rPr lang="zh-CN" altLang="en-US">
                <a:solidFill>
                  <a:schemeClr val="tx1"/>
                </a:solidFill>
              </a:rPr>
              <a:t>如果缓冲区溢出覆盖了金丝雀，检查就能发现异常，通常会终止程序。</a:t>
            </a:r>
            <a:endParaRPr lang="en-US" altLang="en-US">
              <a:solidFill>
                <a:schemeClr val="tx1"/>
              </a:solidFill>
            </a:endParaRPr>
          </a:p>
          <a:p>
            <a:r>
              <a:rPr lang="zh-CN" altLang="en-US">
                <a:solidFill>
                  <a:schemeClr val="tx1"/>
                </a:solidFill>
              </a:rPr>
              <a:t>但它只能检测部分溢出：没有覆盖金丝雀的越界写入，就可能无法被它发现。因此，选项中的“部分”是准确的。</a:t>
            </a:r>
            <a:endParaRPr lang="zh-CN" altLang="en-US">
              <a:solidFill>
                <a:schemeClr val="tx1"/>
              </a:solidFill>
            </a:endParaRPr>
          </a:p>
          <a:p>
            <a:endParaRPr lang="zh-CN" altLang="en-US">
              <a:solidFill>
                <a:schemeClr val="tx1"/>
              </a:solidFill>
            </a:endParaRPr>
          </a:p>
          <a:p>
            <a:r>
              <a:rPr lang="en-US" altLang="en-US">
                <a:solidFill>
                  <a:schemeClr val="tx1"/>
                </a:solidFill>
              </a:rPr>
              <a:t>B. ROP </a:t>
            </a:r>
            <a:r>
              <a:rPr lang="zh-CN" altLang="en-US">
                <a:solidFill>
                  <a:schemeClr val="tx1"/>
                </a:solidFill>
              </a:rPr>
              <a:t>会复用程序或已加载库中现有的可执行指令片段，组合出攻击者想要的行为。</a:t>
            </a:r>
            <a:endParaRPr lang="zh-CN" altLang="en-US">
              <a:solidFill>
                <a:schemeClr val="tx1"/>
              </a:solidFill>
            </a:endParaRPr>
          </a:p>
          <a:p>
            <a:r>
              <a:rPr lang="zh-CN" altLang="en-US">
                <a:solidFill>
                  <a:schemeClr val="tx1"/>
                </a:solidFill>
              </a:rPr>
              <a:t>不可执行栈禁止的是把栈中的数据作为指令执行。</a:t>
            </a:r>
            <a:r>
              <a:rPr lang="en-US" altLang="en-US">
                <a:solidFill>
                  <a:schemeClr val="tx1"/>
                </a:solidFill>
              </a:rPr>
              <a:t>ROP </a:t>
            </a:r>
            <a:r>
              <a:rPr lang="zh-CN" altLang="en-US">
                <a:solidFill>
                  <a:schemeClr val="tx1"/>
                </a:solidFill>
              </a:rPr>
              <a:t>执行的指令位于已有的可执行代码区域，因此不可执行栈无法单独阻止 </a:t>
            </a:r>
            <a:r>
              <a:rPr lang="en-US" altLang="en-US">
                <a:solidFill>
                  <a:schemeClr val="tx1"/>
                </a:solidFill>
              </a:rPr>
              <a:t>ROP。</a:t>
            </a:r>
            <a:endParaRPr lang="en-US" altLang="en-US">
              <a:solidFill>
                <a:schemeClr val="tx1"/>
              </a:solidFill>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t>8.2 </a:t>
            </a:r>
            <a:r>
              <a:rPr lang="zh-CN" altLang="en-US"/>
              <a:t>防御技术</a:t>
            </a:r>
            <a:endParaRPr lang="zh-CN" altLang="en-US"/>
          </a:p>
        </p:txBody>
      </p:sp>
      <p:sp>
        <p:nvSpPr>
          <p:cNvPr id="3" name="Content Placeholder 2"/>
          <p:cNvSpPr>
            <a:spLocks noGrp="1"/>
          </p:cNvSpPr>
          <p:nvPr>
            <p:ph idx="1"/>
            <p:custDataLst>
              <p:tags r:id="rId2"/>
            </p:custDataLst>
          </p:nvPr>
        </p:nvSpPr>
        <p:spPr/>
        <p:txBody>
          <a:bodyPr>
            <a:normAutofit/>
          </a:bodyPr>
          <a:p>
            <a:r>
              <a:rPr lang="en-US" altLang="en-US">
                <a:solidFill>
                  <a:schemeClr val="tx1"/>
                </a:solidFill>
              </a:rPr>
              <a:t>C. </a:t>
            </a:r>
            <a:r>
              <a:rPr lang="zh-CN" altLang="en-US">
                <a:solidFill>
                  <a:schemeClr val="tx1"/>
                </a:solidFill>
              </a:rPr>
              <a:t>栈地址随机化属于地址空间布局随机化的措施，使攻击者更难预测栈中数据的地址，从而增加攻击难度。</a:t>
            </a:r>
            <a:endParaRPr lang="en-US" altLang="en-US">
              <a:solidFill>
                <a:schemeClr val="tx1"/>
              </a:solidFill>
            </a:endParaRPr>
          </a:p>
          <a:p>
            <a:r>
              <a:rPr lang="zh-CN" altLang="en-US">
                <a:solidFill>
                  <a:schemeClr val="tx1"/>
                </a:solidFill>
              </a:rPr>
              <a:t>但是，地址随机化不会修复程序的越界写入问题。如果程序没有正确检查缓冲区边界，越界写入仍然可能发生。因此，“从根本上消除”的说法错误。</a:t>
            </a:r>
            <a:endParaRPr lang="zh-CN" altLang="en-US">
              <a:solidFill>
                <a:schemeClr val="tx1"/>
              </a:solidFill>
            </a:endParaRPr>
          </a:p>
          <a:p>
            <a:endParaRPr lang="en-US" altLang="zh-CN">
              <a:solidFill>
                <a:schemeClr val="tx1"/>
              </a:solidFill>
            </a:endParaRPr>
          </a:p>
          <a:p>
            <a:r>
              <a:rPr lang="en-US" altLang="zh-CN">
                <a:solidFill>
                  <a:schemeClr val="tx1"/>
                </a:solidFill>
              </a:rPr>
              <a:t>D. </a:t>
            </a:r>
            <a:r>
              <a:rPr lang="zh-CN" altLang="en-US">
                <a:solidFill>
                  <a:schemeClr val="tx1"/>
                </a:solidFill>
              </a:rPr>
              <a:t>不可执行栈限制的是栈内存的执行权限，并不禁止程序向栈中写入数据。</a:t>
            </a:r>
            <a:endParaRPr lang="zh-CN" altLang="en-US">
              <a:solidFill>
                <a:schemeClr val="tx1"/>
              </a:solidFill>
            </a:endParaRPr>
          </a:p>
          <a:p>
            <a:r>
              <a:rPr lang="zh-CN" altLang="en-US">
                <a:solidFill>
                  <a:schemeClr val="tx1"/>
                </a:solidFill>
              </a:rPr>
              <a:t>因此，存在漏洞时，缓冲区溢出仍然可能覆盖保存在栈中的返回地址。被修改后的返回地址还可能指向已有的可执行代码。</a:t>
            </a:r>
            <a:endParaRPr lang="zh-CN" altLang="en-US">
              <a:solidFill>
                <a:schemeClr val="tx1"/>
              </a:solidFill>
            </a:endParaRPr>
          </a:p>
          <a:p>
            <a:endParaRPr lang="zh-CN" altLang="en-US">
              <a:solidFill>
                <a:schemeClr val="tx1"/>
              </a:solidFill>
            </a:endParaRPr>
          </a:p>
          <a:p>
            <a:r>
              <a:rPr lang="zh-CN" altLang="en-US">
                <a:solidFill>
                  <a:schemeClr val="tx1"/>
                </a:solidFill>
              </a:rPr>
              <a:t>因此答案选择</a:t>
            </a:r>
            <a:r>
              <a:rPr lang="en-US" altLang="zh-CN">
                <a:solidFill>
                  <a:schemeClr val="tx1"/>
                </a:solidFill>
              </a:rPr>
              <a:t>：</a:t>
            </a:r>
            <a:r>
              <a:rPr lang="en-US" altLang="zh-CN">
                <a:solidFill>
                  <a:srgbClr val="FF0000"/>
                </a:solidFill>
              </a:rPr>
              <a:t>ABD</a:t>
            </a:r>
            <a:r>
              <a:rPr lang="en-US" altLang="zh-CN">
                <a:solidFill>
                  <a:schemeClr val="tx1"/>
                </a:solidFill>
              </a:rPr>
              <a:t>。</a:t>
            </a:r>
            <a:endParaRPr lang="en-US" altLang="zh-CN">
              <a:solidFill>
                <a:schemeClr val="tx1"/>
              </a:solidFill>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8.3 </a:t>
            </a:r>
            <a:r>
              <a:rPr lang="zh-CN" altLang="en-US"/>
              <a:t>缓冲区</a:t>
            </a:r>
            <a:r>
              <a:rPr lang="zh-CN" altLang="en-US"/>
              <a:t>攻击</a:t>
            </a:r>
            <a:endParaRPr lang="zh-CN" altLang="en-US"/>
          </a:p>
        </p:txBody>
      </p:sp>
      <p:pic>
        <p:nvPicPr>
          <p:cNvPr id="4" name="Content Placeholder 3"/>
          <p:cNvPicPr>
            <a:picLocks noChangeAspect="1"/>
          </p:cNvPicPr>
          <p:nvPr>
            <p:ph idx="1"/>
            <p:custDataLst>
              <p:tags r:id="rId2"/>
            </p:custDataLst>
          </p:nvPr>
        </p:nvPicPr>
        <p:blipFill>
          <a:blip r:embed="rId3"/>
          <a:stretch>
            <a:fillRect/>
          </a:stretch>
        </p:blipFill>
        <p:spPr>
          <a:xfrm>
            <a:off x="2327275" y="1153795"/>
            <a:ext cx="6205855" cy="1979295"/>
          </a:xfrm>
          <a:prstGeom prst="rect">
            <a:avLst/>
          </a:prstGeom>
        </p:spPr>
      </p:pic>
      <p:pic>
        <p:nvPicPr>
          <p:cNvPr id="5" name="Picture 4"/>
          <p:cNvPicPr>
            <a:picLocks noChangeAspect="1"/>
          </p:cNvPicPr>
          <p:nvPr/>
        </p:nvPicPr>
        <p:blipFill>
          <a:blip r:embed="rId4"/>
          <a:stretch>
            <a:fillRect/>
          </a:stretch>
        </p:blipFill>
        <p:spPr>
          <a:xfrm>
            <a:off x="2262505" y="2972435"/>
            <a:ext cx="7616190" cy="3427730"/>
          </a:xfrm>
          <a:prstGeom prst="rect">
            <a:avLst/>
          </a:prstGeom>
        </p:spPr>
      </p:pic>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8.3 </a:t>
            </a:r>
            <a:r>
              <a:rPr lang="zh-CN" altLang="en-US"/>
              <a:t>缓冲区</a:t>
            </a:r>
            <a:r>
              <a:rPr lang="zh-CN" altLang="en-US"/>
              <a:t>攻击</a:t>
            </a:r>
            <a:endParaRPr lang="zh-CN" altLang="en-US"/>
          </a:p>
        </p:txBody>
      </p:sp>
      <p:pic>
        <p:nvPicPr>
          <p:cNvPr id="6" name="Content Placeholder 5"/>
          <p:cNvPicPr>
            <a:picLocks noChangeAspect="1"/>
          </p:cNvPicPr>
          <p:nvPr>
            <p:ph idx="1"/>
            <p:custDataLst>
              <p:tags r:id="rId2"/>
            </p:custDataLst>
          </p:nvPr>
        </p:nvPicPr>
        <p:blipFill>
          <a:blip r:embed="rId3"/>
          <a:stretch>
            <a:fillRect/>
          </a:stretch>
        </p:blipFill>
        <p:spPr>
          <a:xfrm>
            <a:off x="1356995" y="1490345"/>
            <a:ext cx="9478645" cy="4999355"/>
          </a:xfrm>
          <a:prstGeom prst="rect">
            <a:avLst/>
          </a:prstGeom>
        </p:spPr>
      </p:pic>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8.3 </a:t>
            </a:r>
            <a:r>
              <a:rPr lang="zh-CN" altLang="en-US"/>
              <a:t>缓冲区攻击</a:t>
            </a:r>
            <a:endParaRPr lang="zh-CN" altLang="en-US"/>
          </a:p>
        </p:txBody>
      </p:sp>
      <p:sp>
        <p:nvSpPr>
          <p:cNvPr id="3" name="Content Placeholder 2"/>
          <p:cNvSpPr>
            <a:spLocks noGrp="1"/>
          </p:cNvSpPr>
          <p:nvPr>
            <p:ph idx="1"/>
            <p:custDataLst>
              <p:tags r:id="rId2"/>
            </p:custDataLst>
          </p:nvPr>
        </p:nvSpPr>
        <p:spPr>
          <a:xfrm>
            <a:off x="608330" y="1490345"/>
            <a:ext cx="5926455" cy="4759325"/>
          </a:xfrm>
        </p:spPr>
        <p:txBody>
          <a:bodyPr/>
          <a:p>
            <a:r>
              <a:rPr lang="zh-CN" altLang="en-US">
                <a:solidFill>
                  <a:schemeClr val="tx1"/>
                </a:solidFill>
              </a:rPr>
              <a:t>阅读这一段代码</a:t>
            </a:r>
            <a:r>
              <a:rPr lang="en-US" altLang="zh-CN">
                <a:solidFill>
                  <a:schemeClr val="tx1"/>
                </a:solidFill>
              </a:rPr>
              <a:t>。</a:t>
            </a:r>
            <a:endParaRPr lang="en-US" altLang="zh-CN">
              <a:solidFill>
                <a:schemeClr val="tx1"/>
              </a:solidFill>
            </a:endParaRPr>
          </a:p>
          <a:p>
            <a:r>
              <a:rPr lang="zh-CN" altLang="en-US">
                <a:solidFill>
                  <a:schemeClr val="tx1"/>
                </a:solidFill>
              </a:rPr>
              <a:t>在进入</a:t>
            </a:r>
            <a:r>
              <a:rPr lang="en-US" altLang="zh-CN">
                <a:solidFill>
                  <a:schemeClr val="tx1"/>
                </a:solidFill>
              </a:rPr>
              <a:t> read_input </a:t>
            </a:r>
            <a:r>
              <a:rPr lang="zh-CN" altLang="en-US">
                <a:solidFill>
                  <a:schemeClr val="tx1"/>
                </a:solidFill>
              </a:rPr>
              <a:t>之后</a:t>
            </a:r>
            <a:r>
              <a:rPr lang="en-US" altLang="zh-CN">
                <a:solidFill>
                  <a:schemeClr val="tx1"/>
                </a:solidFill>
              </a:rPr>
              <a:t>，</a:t>
            </a:r>
            <a:r>
              <a:rPr lang="zh-CN" altLang="en-US">
                <a:solidFill>
                  <a:schemeClr val="tx1"/>
                </a:solidFill>
              </a:rPr>
              <a:t>先把</a:t>
            </a:r>
            <a:r>
              <a:rPr lang="en-US" altLang="zh-CN">
                <a:solidFill>
                  <a:schemeClr val="tx1"/>
                </a:solidFill>
              </a:rPr>
              <a:t> %rsp </a:t>
            </a:r>
            <a:r>
              <a:rPr lang="zh-CN" altLang="en-US">
                <a:solidFill>
                  <a:schemeClr val="tx1"/>
                </a:solidFill>
              </a:rPr>
              <a:t>减了</a:t>
            </a:r>
            <a:r>
              <a:rPr lang="en-US" altLang="zh-CN">
                <a:solidFill>
                  <a:schemeClr val="tx1"/>
                </a:solidFill>
              </a:rPr>
              <a:t> 40，</a:t>
            </a:r>
            <a:r>
              <a:rPr lang="zh-CN" altLang="en-US">
                <a:solidFill>
                  <a:schemeClr val="tx1"/>
                </a:solidFill>
              </a:rPr>
              <a:t>然后赋值</a:t>
            </a:r>
            <a:r>
              <a:rPr lang="en-US" altLang="zh-CN">
                <a:solidFill>
                  <a:schemeClr val="tx1"/>
                </a:solidFill>
              </a:rPr>
              <a:t> %rdi </a:t>
            </a:r>
            <a:r>
              <a:rPr lang="zh-CN" altLang="en-US">
                <a:solidFill>
                  <a:schemeClr val="tx1"/>
                </a:solidFill>
              </a:rPr>
              <a:t>为</a:t>
            </a:r>
            <a:r>
              <a:rPr lang="en-US" altLang="zh-CN">
                <a:solidFill>
                  <a:schemeClr val="tx1"/>
                </a:solidFill>
              </a:rPr>
              <a:t> %rsp + 8。</a:t>
            </a:r>
            <a:endParaRPr lang="en-US" altLang="zh-CN">
              <a:solidFill>
                <a:schemeClr val="tx1"/>
              </a:solidFill>
            </a:endParaRPr>
          </a:p>
          <a:p>
            <a:r>
              <a:rPr lang="zh-CN" altLang="en-US">
                <a:solidFill>
                  <a:schemeClr val="tx1"/>
                </a:solidFill>
              </a:rPr>
              <a:t>因此在</a:t>
            </a:r>
            <a:r>
              <a:rPr lang="en-US" altLang="zh-CN">
                <a:solidFill>
                  <a:schemeClr val="tx1"/>
                </a:solidFill>
              </a:rPr>
              <a:t> call gets </a:t>
            </a:r>
            <a:r>
              <a:rPr lang="zh-CN" altLang="en-US">
                <a:solidFill>
                  <a:schemeClr val="tx1"/>
                </a:solidFill>
              </a:rPr>
              <a:t>的时候</a:t>
            </a:r>
            <a:r>
              <a:rPr lang="en-US" altLang="zh-CN">
                <a:solidFill>
                  <a:schemeClr val="tx1"/>
                </a:solidFill>
              </a:rPr>
              <a:t>，</a:t>
            </a:r>
            <a:r>
              <a:rPr lang="zh-CN" altLang="en-US">
                <a:solidFill>
                  <a:schemeClr val="tx1"/>
                </a:solidFill>
              </a:rPr>
              <a:t>传入的参数</a:t>
            </a:r>
            <a:r>
              <a:rPr lang="en-US" altLang="zh-CN">
                <a:solidFill>
                  <a:schemeClr val="tx1"/>
                </a:solidFill>
              </a:rPr>
              <a:t> %rdi </a:t>
            </a:r>
            <a:r>
              <a:rPr lang="zh-CN" altLang="en-US">
                <a:solidFill>
                  <a:schemeClr val="tx1"/>
                </a:solidFill>
              </a:rPr>
              <a:t>应该是</a:t>
            </a:r>
            <a:r>
              <a:rPr lang="en-US" altLang="zh-CN">
                <a:solidFill>
                  <a:schemeClr val="tx1"/>
                </a:solidFill>
              </a:rPr>
              <a:t> 0x1208 - 40 + 8 = </a:t>
            </a:r>
            <a:r>
              <a:rPr lang="en-US" altLang="zh-CN">
                <a:solidFill>
                  <a:srgbClr val="FF0000"/>
                </a:solidFill>
              </a:rPr>
              <a:t>0x11</a:t>
            </a:r>
            <a:r>
              <a:rPr lang="en-US" altLang="zh-CN">
                <a:solidFill>
                  <a:srgbClr val="FF0000"/>
                </a:solidFill>
              </a:rPr>
              <a:t>E8</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zh-CN" altLang="en-US">
                <a:solidFill>
                  <a:schemeClr val="tx1"/>
                </a:solidFill>
              </a:rPr>
              <a:t>第二问要求最多可以输入多少个</a:t>
            </a:r>
            <a:r>
              <a:rPr lang="en-US" altLang="zh-CN">
                <a:solidFill>
                  <a:schemeClr val="tx1"/>
                </a:solidFill>
              </a:rPr>
              <a:t> A。</a:t>
            </a:r>
            <a:r>
              <a:rPr lang="zh-CN" altLang="en-US">
                <a:solidFill>
                  <a:schemeClr val="tx1"/>
                </a:solidFill>
              </a:rPr>
              <a:t>注意返回起始地址和</a:t>
            </a:r>
            <a:r>
              <a:rPr lang="en-US" altLang="zh-CN">
                <a:solidFill>
                  <a:schemeClr val="tx1"/>
                </a:solidFill>
              </a:rPr>
              <a:t> buf </a:t>
            </a:r>
            <a:r>
              <a:rPr lang="zh-CN" altLang="en-US">
                <a:solidFill>
                  <a:schemeClr val="tx1"/>
                </a:solidFill>
              </a:rPr>
              <a:t>的首地址之间相差</a:t>
            </a:r>
            <a:r>
              <a:rPr lang="en-US" altLang="zh-CN">
                <a:solidFill>
                  <a:schemeClr val="tx1"/>
                </a:solidFill>
              </a:rPr>
              <a:t> 0x1208-0x11E8 = 32 </a:t>
            </a:r>
            <a:r>
              <a:rPr lang="zh-CN" altLang="en-US">
                <a:solidFill>
                  <a:schemeClr val="tx1"/>
                </a:solidFill>
              </a:rPr>
              <a:t>字节</a:t>
            </a:r>
            <a:r>
              <a:rPr lang="en-US" altLang="zh-CN">
                <a:solidFill>
                  <a:schemeClr val="tx1"/>
                </a:solidFill>
              </a:rPr>
              <a:t>。</a:t>
            </a:r>
            <a:r>
              <a:rPr lang="zh-CN" altLang="en-US">
                <a:solidFill>
                  <a:schemeClr val="tx1"/>
                </a:solidFill>
              </a:rPr>
              <a:t>因此从</a:t>
            </a:r>
            <a:r>
              <a:rPr lang="en-US" altLang="zh-CN">
                <a:solidFill>
                  <a:schemeClr val="tx1"/>
                </a:solidFill>
              </a:rPr>
              <a:t> buf </a:t>
            </a:r>
            <a:r>
              <a:rPr lang="zh-CN" altLang="en-US">
                <a:solidFill>
                  <a:schemeClr val="tx1"/>
                </a:solidFill>
              </a:rPr>
              <a:t>首地址开始偏移</a:t>
            </a:r>
            <a:r>
              <a:rPr lang="en-US" altLang="zh-CN">
                <a:solidFill>
                  <a:schemeClr val="tx1"/>
                </a:solidFill>
              </a:rPr>
              <a:t> 0～31 </a:t>
            </a:r>
            <a:r>
              <a:rPr lang="zh-CN" altLang="en-US">
                <a:solidFill>
                  <a:schemeClr val="tx1"/>
                </a:solidFill>
              </a:rPr>
              <a:t>的字节都可以被修改</a:t>
            </a:r>
            <a:r>
              <a:rPr lang="en-US" altLang="zh-CN">
                <a:solidFill>
                  <a:schemeClr val="tx1"/>
                </a:solidFill>
              </a:rPr>
              <a:t>。</a:t>
            </a:r>
            <a:endParaRPr lang="en-US" altLang="zh-CN">
              <a:solidFill>
                <a:schemeClr val="tx1"/>
              </a:solidFill>
            </a:endParaRPr>
          </a:p>
          <a:p>
            <a:r>
              <a:rPr lang="zh-CN" altLang="en-US">
                <a:solidFill>
                  <a:schemeClr val="tx1"/>
                </a:solidFill>
              </a:rPr>
              <a:t>注意末尾有</a:t>
            </a:r>
            <a:r>
              <a:rPr lang="en-US" altLang="zh-CN">
                <a:solidFill>
                  <a:schemeClr val="tx1"/>
                </a:solidFill>
              </a:rPr>
              <a:t> \0，</a:t>
            </a:r>
            <a:r>
              <a:rPr lang="zh-CN" altLang="en-US">
                <a:solidFill>
                  <a:schemeClr val="tx1"/>
                </a:solidFill>
              </a:rPr>
              <a:t>所以可以输入</a:t>
            </a:r>
            <a:r>
              <a:rPr lang="en-US" altLang="zh-CN">
                <a:solidFill>
                  <a:schemeClr val="tx1"/>
                </a:solidFill>
              </a:rPr>
              <a:t> </a:t>
            </a:r>
            <a:r>
              <a:rPr lang="en-US" altLang="zh-CN">
                <a:solidFill>
                  <a:srgbClr val="FF0000"/>
                </a:solidFill>
              </a:rPr>
              <a:t>31</a:t>
            </a:r>
            <a:r>
              <a:rPr lang="en-US" altLang="zh-CN">
                <a:solidFill>
                  <a:schemeClr val="tx1"/>
                </a:solidFill>
              </a:rPr>
              <a:t> </a:t>
            </a:r>
            <a:r>
              <a:rPr lang="zh-CN" altLang="en-US">
                <a:solidFill>
                  <a:schemeClr val="tx1"/>
                </a:solidFill>
              </a:rPr>
              <a:t>个</a:t>
            </a:r>
            <a:r>
              <a:rPr lang="en-US" altLang="zh-CN">
                <a:solidFill>
                  <a:schemeClr val="tx1"/>
                </a:solidFill>
              </a:rPr>
              <a:t> </a:t>
            </a:r>
            <a:r>
              <a:rPr lang="en-US" altLang="zh-CN">
                <a:solidFill>
                  <a:schemeClr val="tx1"/>
                </a:solidFill>
              </a:rPr>
              <a:t>A。</a:t>
            </a:r>
            <a:endParaRPr lang="en-US" altLang="zh-CN">
              <a:solidFill>
                <a:schemeClr val="tx1"/>
              </a:solidFill>
            </a:endParaRPr>
          </a:p>
        </p:txBody>
      </p:sp>
      <p:pic>
        <p:nvPicPr>
          <p:cNvPr id="6" name="Picture 5"/>
          <p:cNvPicPr>
            <a:picLocks noChangeAspect="1"/>
          </p:cNvPicPr>
          <p:nvPr/>
        </p:nvPicPr>
        <p:blipFill>
          <a:blip r:embed="rId3"/>
          <a:stretch>
            <a:fillRect/>
          </a:stretch>
        </p:blipFill>
        <p:spPr>
          <a:xfrm>
            <a:off x="6718935" y="868680"/>
            <a:ext cx="4457700" cy="1447800"/>
          </a:xfrm>
          <a:prstGeom prst="rect">
            <a:avLst/>
          </a:prstGeom>
        </p:spPr>
      </p:pic>
      <p:pic>
        <p:nvPicPr>
          <p:cNvPr id="7" name="Picture 6"/>
          <p:cNvPicPr>
            <a:picLocks noChangeAspect="1"/>
          </p:cNvPicPr>
          <p:nvPr/>
        </p:nvPicPr>
        <p:blipFill>
          <a:blip r:embed="rId4"/>
          <a:stretch>
            <a:fillRect/>
          </a:stretch>
        </p:blipFill>
        <p:spPr>
          <a:xfrm>
            <a:off x="6807200" y="3695065"/>
            <a:ext cx="4911725" cy="2056130"/>
          </a:xfrm>
          <a:prstGeom prst="rect">
            <a:avLst/>
          </a:prstGeom>
        </p:spPr>
      </p:pic>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8.3 </a:t>
            </a:r>
            <a:r>
              <a:rPr lang="zh-CN" altLang="en-US"/>
              <a:t>缓冲区攻击</a:t>
            </a:r>
            <a:endParaRPr lang="zh-CN" altLang="en-US"/>
          </a:p>
        </p:txBody>
      </p:sp>
      <p:sp>
        <p:nvSpPr>
          <p:cNvPr id="3" name="Content Placeholder 2"/>
          <p:cNvSpPr>
            <a:spLocks noGrp="1"/>
          </p:cNvSpPr>
          <p:nvPr>
            <p:ph idx="1"/>
            <p:custDataLst>
              <p:tags r:id="rId2"/>
            </p:custDataLst>
          </p:nvPr>
        </p:nvSpPr>
        <p:spPr>
          <a:xfrm>
            <a:off x="608330" y="1490345"/>
            <a:ext cx="9006840" cy="5040630"/>
          </a:xfrm>
        </p:spPr>
        <p:txBody>
          <a:bodyPr/>
          <a:p>
            <a:r>
              <a:rPr lang="zh-CN" altLang="en-US">
                <a:solidFill>
                  <a:schemeClr val="tx1"/>
                </a:solidFill>
              </a:rPr>
              <a:t>由于</a:t>
            </a:r>
            <a:r>
              <a:rPr lang="en-US" altLang="zh-CN">
                <a:solidFill>
                  <a:schemeClr val="tx1"/>
                </a:solidFill>
              </a:rPr>
              <a:t> x86-64 </a:t>
            </a:r>
            <a:r>
              <a:rPr lang="zh-CN" altLang="en-US">
                <a:solidFill>
                  <a:schemeClr val="tx1"/>
                </a:solidFill>
              </a:rPr>
              <a:t>采用小端存储</a:t>
            </a:r>
            <a:r>
              <a:rPr lang="en-US" altLang="zh-CN">
                <a:solidFill>
                  <a:schemeClr val="tx1"/>
                </a:solidFill>
              </a:rPr>
              <a:t>，</a:t>
            </a:r>
            <a:r>
              <a:rPr lang="zh-CN" altLang="en-US">
                <a:solidFill>
                  <a:schemeClr val="tx1"/>
                </a:solidFill>
              </a:rPr>
              <a:t>因此原本的地址分配是</a:t>
            </a:r>
            <a:r>
              <a:rPr lang="en-US" altLang="zh-CN">
                <a:solidFill>
                  <a:schemeClr val="tx1"/>
                </a:solidFill>
              </a:rPr>
              <a:t>：</a:t>
            </a:r>
            <a:endParaRPr lang="en-US" altLang="zh-CN">
              <a:solidFill>
                <a:schemeClr val="tx1"/>
              </a:solidFill>
            </a:endParaRPr>
          </a:p>
          <a:p>
            <a:endParaRPr lang="zh-CN" altLang="en-US">
              <a:solidFill>
                <a:schemeClr val="tx1"/>
              </a:solidFill>
            </a:endParaRPr>
          </a:p>
          <a:p>
            <a:r>
              <a:rPr lang="zh-CN" altLang="en-US">
                <a:solidFill>
                  <a:schemeClr val="tx1"/>
                </a:solidFill>
              </a:rPr>
              <a:t>地址：  </a:t>
            </a:r>
            <a:r>
              <a:rPr lang="en-US" altLang="zh-CN">
                <a:solidFill>
                  <a:schemeClr val="tx1"/>
                </a:solidFill>
              </a:rPr>
              <a:t> </a:t>
            </a:r>
            <a:r>
              <a:rPr lang="zh-CN" altLang="en-US">
                <a:solidFill>
                  <a:schemeClr val="tx1"/>
                </a:solidFill>
              </a:rPr>
              <a:t>0</a:t>
            </a:r>
            <a:r>
              <a:rPr lang="en-US" altLang="en-US">
                <a:solidFill>
                  <a:schemeClr val="tx1"/>
                </a:solidFill>
              </a:rPr>
              <a:t>x1208  0x1209  0x120A  0x120B  …  0x120F</a:t>
            </a:r>
            <a:endParaRPr lang="en-US" altLang="en-US">
              <a:solidFill>
                <a:schemeClr val="tx1"/>
              </a:solidFill>
            </a:endParaRPr>
          </a:p>
          <a:p>
            <a:r>
              <a:rPr lang="zh-CN" altLang="en-US">
                <a:solidFill>
                  <a:schemeClr val="tx1"/>
                </a:solidFill>
              </a:rPr>
              <a:t>原值：    </a:t>
            </a:r>
            <a:r>
              <a:rPr lang="en-US" altLang="zh-CN">
                <a:solidFill>
                  <a:schemeClr val="tx1"/>
                </a:solidFill>
              </a:rPr>
              <a:t>  </a:t>
            </a:r>
            <a:r>
              <a:rPr lang="en-US" altLang="en-US">
                <a:solidFill>
                  <a:schemeClr val="tx1"/>
                </a:solidFill>
              </a:rPr>
              <a:t>A5         12         40          00     …      00</a:t>
            </a:r>
            <a:endParaRPr lang="en-US" altLang="en-US">
              <a:solidFill>
                <a:schemeClr val="tx1"/>
              </a:solidFill>
            </a:endParaRPr>
          </a:p>
          <a:p>
            <a:endParaRPr lang="en-US" altLang="en-US">
              <a:solidFill>
                <a:schemeClr val="tx1"/>
              </a:solidFill>
            </a:endParaRPr>
          </a:p>
          <a:p>
            <a:r>
              <a:rPr lang="zh-CN" altLang="en-US">
                <a:solidFill>
                  <a:schemeClr val="tx1"/>
                </a:solidFill>
              </a:rPr>
              <a:t>如果多输入一个</a:t>
            </a:r>
            <a:r>
              <a:rPr lang="en-US" altLang="zh-CN">
                <a:solidFill>
                  <a:schemeClr val="tx1"/>
                </a:solidFill>
              </a:rPr>
              <a:t> A，</a:t>
            </a:r>
            <a:r>
              <a:rPr lang="zh-CN" altLang="en-US">
                <a:solidFill>
                  <a:schemeClr val="tx1"/>
                </a:solidFill>
              </a:rPr>
              <a:t>那么会把最低一个地址修改为</a:t>
            </a:r>
            <a:r>
              <a:rPr lang="en-US" altLang="zh-CN">
                <a:solidFill>
                  <a:schemeClr val="tx1"/>
                </a:solidFill>
              </a:rPr>
              <a:t> \0 </a:t>
            </a:r>
            <a:r>
              <a:rPr lang="zh-CN" altLang="en-US">
                <a:solidFill>
                  <a:schemeClr val="tx1"/>
                </a:solidFill>
              </a:rPr>
              <a:t>的</a:t>
            </a:r>
            <a:r>
              <a:rPr lang="en-US" altLang="zh-CN">
                <a:solidFill>
                  <a:schemeClr val="tx1"/>
                </a:solidFill>
              </a:rPr>
              <a:t> ascii </a:t>
            </a:r>
            <a:r>
              <a:rPr lang="zh-CN" altLang="en-US">
                <a:solidFill>
                  <a:schemeClr val="tx1"/>
                </a:solidFill>
              </a:rPr>
              <a:t>码也就是</a:t>
            </a:r>
            <a:r>
              <a:rPr lang="en-US" altLang="zh-CN">
                <a:solidFill>
                  <a:schemeClr val="tx1"/>
                </a:solidFill>
              </a:rPr>
              <a:t> 00。</a:t>
            </a:r>
            <a:endParaRPr lang="en-US" altLang="en-US">
              <a:solidFill>
                <a:schemeClr val="tx1"/>
              </a:solidFill>
            </a:endParaRPr>
          </a:p>
          <a:p>
            <a:endParaRPr lang="en-US" altLang="en-US">
              <a:solidFill>
                <a:schemeClr val="tx1"/>
              </a:solidFill>
            </a:endParaRPr>
          </a:p>
          <a:p>
            <a:r>
              <a:rPr lang="zh-CN" altLang="en-US">
                <a:solidFill>
                  <a:schemeClr val="tx1"/>
                </a:solidFill>
              </a:rPr>
              <a:t>修改后： </a:t>
            </a:r>
            <a:r>
              <a:rPr lang="en-US" altLang="zh-CN">
                <a:solidFill>
                  <a:schemeClr val="tx1"/>
                </a:solidFill>
              </a:rPr>
              <a:t> </a:t>
            </a:r>
            <a:r>
              <a:rPr lang="zh-CN" altLang="en-US">
                <a:solidFill>
                  <a:schemeClr val="tx1"/>
                </a:solidFill>
              </a:rPr>
              <a:t> 00      </a:t>
            </a:r>
            <a:r>
              <a:rPr lang="en-US" altLang="zh-CN">
                <a:solidFill>
                  <a:schemeClr val="tx1"/>
                </a:solidFill>
              </a:rPr>
              <a:t>   </a:t>
            </a:r>
            <a:r>
              <a:rPr lang="zh-CN" altLang="en-US">
                <a:solidFill>
                  <a:schemeClr val="tx1"/>
                </a:solidFill>
              </a:rPr>
              <a:t>12      </a:t>
            </a:r>
            <a:r>
              <a:rPr lang="en-US" altLang="zh-CN">
                <a:solidFill>
                  <a:schemeClr val="tx1"/>
                </a:solidFill>
              </a:rPr>
              <a:t>   </a:t>
            </a:r>
            <a:r>
              <a:rPr lang="zh-CN" altLang="en-US">
                <a:solidFill>
                  <a:schemeClr val="tx1"/>
                </a:solidFill>
              </a:rPr>
              <a:t>40     </a:t>
            </a:r>
            <a:r>
              <a:rPr lang="en-US" altLang="zh-CN">
                <a:solidFill>
                  <a:schemeClr val="tx1"/>
                </a:solidFill>
              </a:rPr>
              <a:t>    </a:t>
            </a:r>
            <a:r>
              <a:rPr lang="zh-CN" altLang="en-US">
                <a:solidFill>
                  <a:schemeClr val="tx1"/>
                </a:solidFill>
              </a:rPr>
              <a:t> 00  </a:t>
            </a:r>
            <a:r>
              <a:rPr lang="en-US" altLang="zh-CN">
                <a:solidFill>
                  <a:schemeClr val="tx1"/>
                </a:solidFill>
              </a:rPr>
              <a:t>  </a:t>
            </a:r>
            <a:r>
              <a:rPr lang="zh-CN" altLang="en-US">
                <a:solidFill>
                  <a:schemeClr val="tx1"/>
                </a:solidFill>
              </a:rPr>
              <a:t> …   </a:t>
            </a:r>
            <a:r>
              <a:rPr lang="en-US" altLang="zh-CN">
                <a:solidFill>
                  <a:schemeClr val="tx1"/>
                </a:solidFill>
              </a:rPr>
              <a:t>   </a:t>
            </a:r>
            <a:r>
              <a:rPr lang="zh-CN" altLang="en-US">
                <a:solidFill>
                  <a:schemeClr val="tx1"/>
                </a:solidFill>
              </a:rPr>
              <a:t>00</a:t>
            </a:r>
            <a:endParaRPr lang="zh-CN" altLang="en-US">
              <a:solidFill>
                <a:schemeClr val="tx1"/>
              </a:solidFill>
            </a:endParaRPr>
          </a:p>
          <a:p>
            <a:endParaRPr lang="zh-CN" altLang="en-US">
              <a:solidFill>
                <a:schemeClr val="tx1"/>
              </a:solidFill>
            </a:endParaRPr>
          </a:p>
          <a:p>
            <a:r>
              <a:rPr lang="zh-CN" altLang="en-US">
                <a:solidFill>
                  <a:schemeClr val="tx1"/>
                </a:solidFill>
              </a:rPr>
              <a:t>所以运行结束后会跳转到</a:t>
            </a:r>
            <a:r>
              <a:rPr lang="en-US" altLang="zh-CN">
                <a:solidFill>
                  <a:schemeClr val="tx1"/>
                </a:solidFill>
              </a:rPr>
              <a:t> </a:t>
            </a:r>
            <a:r>
              <a:rPr lang="en-US" altLang="zh-CN">
                <a:solidFill>
                  <a:srgbClr val="FF0000"/>
                </a:solidFill>
              </a:rPr>
              <a:t>0x401200</a:t>
            </a:r>
            <a:r>
              <a:rPr lang="en-US" altLang="zh-CN">
                <a:solidFill>
                  <a:schemeClr val="tx1"/>
                </a:solidFill>
              </a:rPr>
              <a:t>。</a:t>
            </a:r>
            <a:endParaRPr lang="en-US" altLang="zh-CN">
              <a:solidFill>
                <a:schemeClr val="tx1"/>
              </a:solidFill>
            </a:endParaRPr>
          </a:p>
        </p:txBody>
      </p:sp>
      <p:pic>
        <p:nvPicPr>
          <p:cNvPr id="7" name="Picture 6"/>
          <p:cNvPicPr>
            <a:picLocks noChangeAspect="1"/>
          </p:cNvPicPr>
          <p:nvPr/>
        </p:nvPicPr>
        <p:blipFill>
          <a:blip r:embed="rId3"/>
          <a:stretch>
            <a:fillRect/>
          </a:stretch>
        </p:blipFill>
        <p:spPr>
          <a:xfrm>
            <a:off x="7044690" y="407670"/>
            <a:ext cx="4532630" cy="1897380"/>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8.3 </a:t>
            </a:r>
            <a:r>
              <a:rPr lang="zh-CN" altLang="en-US"/>
              <a:t>缓冲区</a:t>
            </a:r>
            <a:r>
              <a:rPr lang="zh-CN" altLang="en-US"/>
              <a:t>攻击</a:t>
            </a:r>
            <a:endParaRPr lang="zh-CN" altLang="en-US"/>
          </a:p>
        </p:txBody>
      </p:sp>
      <p:sp>
        <p:nvSpPr>
          <p:cNvPr id="3" name="Content Placeholder 2"/>
          <p:cNvSpPr>
            <a:spLocks noGrp="1"/>
          </p:cNvSpPr>
          <p:nvPr>
            <p:ph idx="1"/>
            <p:custDataLst>
              <p:tags r:id="rId2"/>
            </p:custDataLst>
          </p:nvPr>
        </p:nvSpPr>
        <p:spPr/>
        <p:txBody>
          <a:bodyPr/>
          <a:p>
            <a:r>
              <a:rPr lang="zh-CN" altLang="en-US">
                <a:solidFill>
                  <a:schemeClr val="tx1"/>
                </a:solidFill>
              </a:rPr>
              <a:t>如果启用栈金丝雀</a:t>
            </a:r>
            <a:r>
              <a:rPr lang="en-US" altLang="zh-CN">
                <a:solidFill>
                  <a:schemeClr val="tx1"/>
                </a:solidFill>
              </a:rPr>
              <a:t>，</a:t>
            </a:r>
            <a:r>
              <a:rPr lang="zh-CN" altLang="en-US">
                <a:solidFill>
                  <a:schemeClr val="tx1"/>
                </a:solidFill>
              </a:rPr>
              <a:t>他可以在检测到金丝雀值被破坏之后</a:t>
            </a:r>
            <a:r>
              <a:rPr lang="en-US" altLang="zh-CN">
                <a:solidFill>
                  <a:schemeClr val="tx1"/>
                </a:solidFill>
              </a:rPr>
              <a:t>，</a:t>
            </a:r>
            <a:r>
              <a:rPr lang="zh-CN" altLang="en-US">
                <a:solidFill>
                  <a:schemeClr val="tx1"/>
                </a:solidFill>
              </a:rPr>
              <a:t>终止程序</a:t>
            </a:r>
            <a:r>
              <a:rPr lang="en-US" altLang="zh-CN">
                <a:solidFill>
                  <a:schemeClr val="tx1"/>
                </a:solidFill>
              </a:rPr>
              <a:t>。</a:t>
            </a:r>
            <a:endParaRPr lang="en-US" altLang="zh-CN">
              <a:solidFill>
                <a:schemeClr val="tx1"/>
              </a:solidFill>
            </a:endParaRPr>
          </a:p>
          <a:p>
            <a:r>
              <a:rPr lang="zh-CN" altLang="en-US">
                <a:solidFill>
                  <a:schemeClr val="tx1"/>
                </a:solidFill>
              </a:rPr>
              <a:t>但是金丝雀值存放在局部缓冲区与返回地址之间</a:t>
            </a:r>
            <a:r>
              <a:rPr lang="en-US" altLang="zh-CN">
                <a:solidFill>
                  <a:schemeClr val="tx1"/>
                </a:solidFill>
              </a:rPr>
              <a:t>。</a:t>
            </a:r>
            <a:r>
              <a:rPr lang="zh-CN" altLang="en-US">
                <a:solidFill>
                  <a:schemeClr val="tx1"/>
                </a:solidFill>
              </a:rPr>
              <a:t>因此连续的越界写入依旧可以覆盖了金丝雀值之后把返回地址也给覆盖了</a:t>
            </a:r>
            <a:r>
              <a:rPr lang="en-US" altLang="zh-CN">
                <a:solidFill>
                  <a:schemeClr val="tx1"/>
                </a:solidFill>
              </a:rPr>
              <a:t>。</a:t>
            </a:r>
            <a:r>
              <a:rPr lang="zh-CN" altLang="en-US">
                <a:solidFill>
                  <a:schemeClr val="tx1"/>
                </a:solidFill>
              </a:rPr>
              <a:t>所以答案为</a:t>
            </a:r>
            <a:r>
              <a:rPr lang="en-US" altLang="zh-CN">
                <a:solidFill>
                  <a:schemeClr val="tx1"/>
                </a:solidFill>
              </a:rPr>
              <a:t> </a:t>
            </a:r>
            <a:r>
              <a:rPr lang="zh-CN" altLang="en-US">
                <a:solidFill>
                  <a:srgbClr val="FF0000"/>
                </a:solidFill>
              </a:rPr>
              <a:t>否</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zh-CN" altLang="en-US">
                <a:solidFill>
                  <a:schemeClr val="tx1"/>
                </a:solidFill>
              </a:rPr>
              <a:t>金丝雀值不能阻止返回地址被修改</a:t>
            </a:r>
            <a:r>
              <a:rPr lang="en-US" altLang="zh-CN">
                <a:solidFill>
                  <a:schemeClr val="tx1"/>
                </a:solidFill>
              </a:rPr>
              <a:t>，</a:t>
            </a:r>
            <a:r>
              <a:rPr lang="zh-CN" altLang="en-US">
                <a:solidFill>
                  <a:schemeClr val="tx1"/>
                </a:solidFill>
              </a:rPr>
              <a:t>只是能在检测到被修改之后阻止返回</a:t>
            </a:r>
            <a:r>
              <a:rPr lang="en-US" altLang="zh-CN">
                <a:solidFill>
                  <a:schemeClr val="tx1"/>
                </a:solidFill>
              </a:rPr>
              <a:t>。</a:t>
            </a:r>
            <a:endParaRPr lang="en-US" altLang="zh-CN">
              <a:solidFill>
                <a:schemeClr val="tx1"/>
              </a:solidFill>
            </a:endParaRPr>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8.3 </a:t>
            </a:r>
            <a:r>
              <a:rPr lang="zh-CN" altLang="en-US"/>
              <a:t>缓冲区</a:t>
            </a:r>
            <a:r>
              <a:rPr lang="zh-CN" altLang="en-US"/>
              <a:t>攻击</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solidFill>
                  <a:schemeClr val="tx1"/>
                </a:solidFill>
              </a:rPr>
              <a:t>知识点回顾</a:t>
            </a:r>
            <a:r>
              <a:rPr lang="en-US" altLang="zh-CN">
                <a:solidFill>
                  <a:schemeClr val="tx1"/>
                </a:solidFill>
              </a:rPr>
              <a:t>：</a:t>
            </a:r>
            <a:endParaRPr lang="en-US" altLang="zh-CN">
              <a:solidFill>
                <a:schemeClr val="tx1"/>
              </a:solidFill>
            </a:endParaRPr>
          </a:p>
          <a:p>
            <a:endParaRPr lang="en-US" altLang="zh-CN">
              <a:solidFill>
                <a:schemeClr val="tx1"/>
              </a:solidFill>
            </a:endParaRPr>
          </a:p>
          <a:p>
            <a:r>
              <a:rPr lang="en-US" altLang="zh-CN">
                <a:solidFill>
                  <a:schemeClr val="tx1"/>
                </a:solidFill>
              </a:rPr>
              <a:t>call </a:t>
            </a:r>
            <a:r>
              <a:rPr lang="zh-CN" altLang="en-US">
                <a:solidFill>
                  <a:schemeClr val="tx1"/>
                </a:solidFill>
              </a:rPr>
              <a:t>与 </a:t>
            </a:r>
            <a:r>
              <a:rPr lang="en-US" altLang="zh-CN">
                <a:solidFill>
                  <a:schemeClr val="tx1"/>
                </a:solidFill>
              </a:rPr>
              <a:t>ret： </a:t>
            </a:r>
            <a:r>
              <a:rPr lang="zh-CN" altLang="en-US">
                <a:solidFill>
                  <a:schemeClr val="tx1"/>
                </a:solidFill>
              </a:rPr>
              <a:t>在这里，</a:t>
            </a:r>
            <a:r>
              <a:rPr lang="en-US" altLang="zh-CN">
                <a:solidFill>
                  <a:schemeClr val="tx1"/>
                </a:solidFill>
              </a:rPr>
              <a:t>call </a:t>
            </a:r>
            <a:r>
              <a:rPr lang="zh-CN" altLang="en-US">
                <a:solidFill>
                  <a:schemeClr val="tx1"/>
                </a:solidFill>
              </a:rPr>
              <a:t>将下一条指令的地址作为 8 字节返回地址压栈；</a:t>
            </a:r>
            <a:r>
              <a:rPr lang="en-US" altLang="zh-CN">
                <a:solidFill>
                  <a:schemeClr val="tx1"/>
                </a:solidFill>
              </a:rPr>
              <a:t>ret </a:t>
            </a:r>
            <a:r>
              <a:rPr lang="zh-CN" altLang="en-US">
                <a:solidFill>
                  <a:schemeClr val="tx1"/>
                </a:solidFill>
              </a:rPr>
              <a:t>从栈顶取出返回地址并跳转。</a:t>
            </a:r>
            <a:endParaRPr lang="zh-CN" altLang="en-US">
              <a:solidFill>
                <a:schemeClr val="tx1"/>
              </a:solidFill>
            </a:endParaRPr>
          </a:p>
          <a:p>
            <a:r>
              <a:rPr lang="zh-CN" altLang="en-US">
                <a:solidFill>
                  <a:schemeClr val="tx1"/>
                </a:solidFill>
              </a:rPr>
              <a:t>栈与缓冲区写入方向： 栈分配空间时 %</a:t>
            </a:r>
            <a:r>
              <a:rPr lang="en-US" altLang="zh-CN">
                <a:solidFill>
                  <a:schemeClr val="tx1"/>
                </a:solidFill>
              </a:rPr>
              <a:t>rsp </a:t>
            </a:r>
            <a:r>
              <a:rPr lang="zh-CN" altLang="en-US">
                <a:solidFill>
                  <a:schemeClr val="tx1"/>
                </a:solidFill>
              </a:rPr>
              <a:t>向低地址移动，但 </a:t>
            </a:r>
            <a:r>
              <a:rPr lang="en-US" altLang="zh-CN">
                <a:solidFill>
                  <a:schemeClr val="tx1"/>
                </a:solidFill>
              </a:rPr>
              <a:t>buf[0]、buf[1]…… </a:t>
            </a:r>
            <a:r>
              <a:rPr lang="zh-CN" altLang="en-US">
                <a:solidFill>
                  <a:schemeClr val="tx1"/>
                </a:solidFill>
              </a:rPr>
              <a:t>按地址递增排列，因此连续越界写入可能覆盖更高地址处的返回地址。</a:t>
            </a:r>
            <a:endParaRPr lang="zh-CN" altLang="en-US">
              <a:solidFill>
                <a:schemeClr val="tx1"/>
              </a:solidFill>
            </a:endParaRPr>
          </a:p>
          <a:p>
            <a:r>
              <a:rPr lang="zh-CN" altLang="en-US">
                <a:solidFill>
                  <a:schemeClr val="tx1"/>
                </a:solidFill>
              </a:rPr>
              <a:t>字符串结束符： 输入 </a:t>
            </a:r>
            <a:r>
              <a:rPr lang="en-US" altLang="zh-CN">
                <a:solidFill>
                  <a:schemeClr val="tx1"/>
                </a:solidFill>
              </a:rPr>
              <a:t>n </a:t>
            </a:r>
            <a:r>
              <a:rPr lang="zh-CN" altLang="en-US">
                <a:solidFill>
                  <a:schemeClr val="tx1"/>
                </a:solidFill>
              </a:rPr>
              <a:t>个普通字符，</a:t>
            </a:r>
            <a:r>
              <a:rPr lang="en-US" altLang="zh-CN">
                <a:solidFill>
                  <a:schemeClr val="tx1"/>
                </a:solidFill>
              </a:rPr>
              <a:t>gets </a:t>
            </a:r>
            <a:r>
              <a:rPr lang="zh-CN" altLang="en-US">
                <a:solidFill>
                  <a:schemeClr val="tx1"/>
                </a:solidFill>
              </a:rPr>
              <a:t>实际需要写入 </a:t>
            </a:r>
            <a:r>
              <a:rPr lang="en-US" altLang="zh-CN">
                <a:solidFill>
                  <a:schemeClr val="tx1"/>
                </a:solidFill>
              </a:rPr>
              <a:t>n + 1 </a:t>
            </a:r>
            <a:r>
              <a:rPr lang="zh-CN" altLang="en-US">
                <a:solidFill>
                  <a:schemeClr val="tx1"/>
                </a:solidFill>
              </a:rPr>
              <a:t>字节。第（3）问覆盖返回地址的是末尾的 '\0'，不是字符 </a:t>
            </a:r>
            <a:r>
              <a:rPr lang="en-US" altLang="zh-CN">
                <a:solidFill>
                  <a:schemeClr val="tx1"/>
                </a:solidFill>
              </a:rPr>
              <a:t>A。</a:t>
            </a:r>
            <a:endParaRPr lang="en-US" altLang="zh-CN">
              <a:solidFill>
                <a:schemeClr val="tx1"/>
              </a:solidFill>
            </a:endParaRPr>
          </a:p>
          <a:p>
            <a:r>
              <a:rPr lang="zh-CN" altLang="en-US">
                <a:solidFill>
                  <a:schemeClr val="tx1"/>
                </a:solidFill>
              </a:rPr>
              <a:t>小端存储： 返回地址最低地址处存放最低有效字节，因此将 </a:t>
            </a:r>
            <a:r>
              <a:rPr lang="en-US" altLang="zh-CN">
                <a:solidFill>
                  <a:schemeClr val="tx1"/>
                </a:solidFill>
              </a:rPr>
              <a:t>A5 </a:t>
            </a:r>
            <a:r>
              <a:rPr lang="zh-CN" altLang="en-US">
                <a:solidFill>
                  <a:schemeClr val="tx1"/>
                </a:solidFill>
              </a:rPr>
              <a:t>改成 00，会把 0</a:t>
            </a:r>
            <a:r>
              <a:rPr lang="en-US" altLang="zh-CN">
                <a:solidFill>
                  <a:schemeClr val="tx1"/>
                </a:solidFill>
              </a:rPr>
              <a:t>x4012A5 </a:t>
            </a:r>
            <a:r>
              <a:rPr lang="zh-CN" altLang="en-US">
                <a:solidFill>
                  <a:schemeClr val="tx1"/>
                </a:solidFill>
              </a:rPr>
              <a:t>改为 0</a:t>
            </a:r>
            <a:r>
              <a:rPr lang="en-US" altLang="zh-CN">
                <a:solidFill>
                  <a:schemeClr val="tx1"/>
                </a:solidFill>
              </a:rPr>
              <a:t>x401200。</a:t>
            </a:r>
            <a:endParaRPr lang="zh-CN" altLang="en-US">
              <a:solidFill>
                <a:schemeClr val="tx1"/>
              </a:solidFill>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0508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0508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BEAUTIFY_FLAG" val="#wm#"/>
  <p:tag name="KSO_WM_TEMPLATE_CATEGORY" val="custom"/>
  <p:tag name="KSO_WM_TEMPLATE_INDEX" val="2020508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0508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Helvetica Neue"/>
        <a:ea typeface=""/>
        <a:cs typeface=""/>
        <a:font script="Jpan" typeface="BIZ UDMincho"/>
        <a:font script="Hang" typeface="맑은 고딕"/>
        <a:font script="Hans" typeface="等线 Light"/>
        <a:font script="Hant" typeface="微軟正黑體"/>
        <a:font script="Arab" typeface="Geeza Pro"/>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elvetica Neue"/>
        <a:ea typeface=""/>
        <a:cs typeface=""/>
        <a:font script="Jpan" typeface="BIZ UDMincho"/>
        <a:font script="Hang" typeface="맑은 고딕"/>
        <a:font script="Hans" typeface="等线"/>
        <a:font script="Hant" typeface="微軟正黑體"/>
        <a:font script="Arab" typeface="Geeza Pro"/>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3132</Words>
  <Application>WPS 演示</Application>
  <PresentationFormat>Widescreen</PresentationFormat>
  <Paragraphs>155</Paragraphs>
  <Slides>22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22</vt:i4>
      </vt:variant>
    </vt:vector>
  </HeadingPairs>
  <TitlesOfParts>
    <vt:vector size="37" baseType="lpstr">
      <vt:lpstr>Arial</vt:lpstr>
      <vt:lpstr>宋体</vt:lpstr>
      <vt:lpstr>Wingdings</vt:lpstr>
      <vt:lpstr>Wingdings</vt:lpstr>
      <vt:lpstr>Helvetica Neue</vt:lpstr>
      <vt:lpstr>等线 Light</vt:lpstr>
      <vt:lpstr>汉仪中等线KW</vt:lpstr>
      <vt:lpstr>等线</vt:lpstr>
      <vt:lpstr>微软雅黑</vt:lpstr>
      <vt:lpstr>方正雅意黑 GB18030L2</vt:lpstr>
      <vt:lpstr>宋体</vt:lpstr>
      <vt:lpstr>Arial Unicode MS</vt:lpstr>
      <vt:lpstr>汉仪书宋二KW</vt:lpstr>
      <vt:lpstr>Calibri</vt:lpstr>
      <vt:lpstr>WPS</vt:lpstr>
      <vt:lpstr>ICS小测1 7-8讲 讲解</vt:lpstr>
      <vt:lpstr>7.1 数组</vt:lpstr>
      <vt:lpstr>7.1 数组</vt:lpstr>
      <vt:lpstr>7.1 数组</vt:lpstr>
      <vt:lpstr>7.2 结构体</vt:lpstr>
      <vt:lpstr>7.2 结构体</vt:lpstr>
      <vt:lpstr>7.2 结构体</vt:lpstr>
      <vt:lpstr>7.2 结构体</vt:lpstr>
      <vt:lpstr>7.2 结构体</vt:lpstr>
      <vt:lpstr>8.1 结构与联合</vt:lpstr>
      <vt:lpstr>8.1 结构与联合</vt:lpstr>
      <vt:lpstr>8.1 结构与联合</vt:lpstr>
      <vt:lpstr>8.1 结构与联合</vt:lpstr>
      <vt:lpstr>8.2 防御技术</vt:lpstr>
      <vt:lpstr>8.2 防御技术</vt:lpstr>
      <vt:lpstr>8.2 防御技术</vt:lpstr>
      <vt:lpstr>8.3 缓冲区攻击</vt:lpstr>
      <vt:lpstr>8.3 缓冲区攻击</vt:lpstr>
      <vt:lpstr>8.3 缓冲区攻击</vt:lpstr>
      <vt:lpstr>8.3 缓冲区攻击</vt:lpstr>
      <vt:lpstr>8.3 缓冲区攻击</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ICS小测1 7-8讲讲解</dc:title>
  <dc:creator>enucai</dc:creator>
  <cp:lastModifiedBy>wsyear</cp:lastModifiedBy>
  <cp:revision>86</cp:revision>
  <dcterms:created xsi:type="dcterms:W3CDTF">2026-10-13T09:06:01Z</dcterms:created>
  <dcterms:modified xsi:type="dcterms:W3CDTF">2026-10-13T09:06:01Z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2052-12.1.28496.28496</vt:lpwstr>
  </property>
  <property fmtid="{D5CDD505-2E9C-101B-9397-08002B2CF9AE}" pid="3" name="ICV">
    <vt:lpwstr>87DB69D9D15AA111E8C0CC6A5EBF32B6_41</vt:lpwstr>
  </property>
</Properties>
</file>