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82B41-C0AF-4EA4-979F-6E493735D8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D064E-22A3-4FB3-B98C-11AA3E6D3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96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D064E-22A3-4FB3-B98C-11AA3E6D3FA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323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BED5-9C69-AD2A-549C-5B262798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57388F-F1A6-5E90-5AF3-B6003BE4C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EAA658-6031-CA83-C3B4-514E60536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F8E3C9-B7BC-8FEC-0849-D349F3891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D064E-22A3-4FB3-B98C-11AA3E6D3FA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89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6E2F-5D13-564F-75AE-BEE673F9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F71776-A77F-DF36-474C-4157A1768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8AFFA1-9CB9-EB57-0CC5-BAB45FFE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EDE15-8B44-3018-B634-FFA3AF0F1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D064E-22A3-4FB3-B98C-11AA3E6D3FA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35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7E95-6366-634F-D1FF-C1A228B8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EA4A56-F1B6-56D0-B1CD-ADF63315E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2957B9-39E5-09A4-5E13-EEA1B1FBD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E70A86-3AB7-D55A-CB14-91A0942B8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D064E-22A3-4FB3-B98C-11AA3E6D3FA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464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64FBC-B3A1-5435-506A-81B634DB0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4D3BDB-92E9-76DA-1B72-3C586DA4D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850E7-0C36-055E-7BC8-A5772989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58D3B-867D-2537-04CC-6B5BEE9D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81E76-74E3-28C1-A3E4-17D76224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6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CB97C-57DE-9926-9477-1F6A330D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944AA-D7E3-A7B8-E282-BF7209EED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B951D-2718-9631-8C35-D5D0ABE9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ED318-7F83-94EE-891B-6AAC62A6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23C0B-B2EA-32F6-162C-50CFBE17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36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840C7-1455-6F32-465A-ED972611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E0C52C-C613-C927-F7AF-EFA84B16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4C65A-EFC9-85E2-5212-0E87F4C7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C4ECD-883B-9472-3594-DF0351E2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01542-A7C8-6341-1FA7-81227DEE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63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09F7D-7F2E-14A1-0442-A2EBEE9F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A028FF-14F8-DB85-55BA-26F7563BE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0E1B57-A5D9-4712-BD9E-79317AB18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C6197E-BE8E-A440-447E-10BA77DE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453C3F-6085-F220-F5B9-4ECF5CFE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9116CB-298C-A4B1-1A38-AFD6CC98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7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1FEB0-1765-8066-E778-CCAABBFF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CC80B8-8B6E-5856-148B-EB6E33517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A35AE-47E9-4C91-960E-FF7D9925B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149541-F378-84F9-563A-F0200E966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92AE10-3B39-A83B-BD2A-27FD35AB0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EEDD75-E06E-7BDA-F228-A79AA493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77E778-EE26-6292-76D9-C10B6E09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3681C5-82DE-59A8-6784-3A3B28B7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72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552C6-19B8-DF5B-85A7-2251763F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19C3C7-ABA4-21A7-602C-1B8D21AF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415A67-5CA3-E400-6C3F-98D90E17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A8D2AC-55EB-777F-3196-D67E1CCE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55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8D5B9B-02E0-A884-B8DF-DC9E2CBC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751729-0C07-ECAD-BB1F-8067F830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7432A-449E-1A6B-8D8E-98F83411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25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431B2-6D01-D878-C299-1C6592AC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C968E-6513-F72F-F0F3-EAC39F63B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14D72B-851B-E4CC-79E9-972556DD7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1142D-9A7A-AF88-C406-E22BD3FA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4E7DA4-D1C5-7733-471E-EF4AB4F8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F9C65D-48D1-90C2-CA88-C9DB76D0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65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3BB07-76BD-6292-0AFD-CE0A2D26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A9F256-E109-8799-8714-2C7AFF7FE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8CEDB4-1B04-6C8F-4556-7DD566EFB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D6CADD-B2DF-E79C-E85F-F00F1CC7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C1EFB4-CAAB-BC81-B33A-5297AA8D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3CB9A8-1B56-1990-9C0A-6E5886B7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15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DE3B5-2F81-9C8E-8D07-F289001E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E798D0-7E16-AE8C-3BC4-B17AA5DE8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9BA39-1B5B-AD16-ABA3-A149F236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88EBB-2543-56AC-C999-04AF0129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2EC32-DB9B-19C2-8C3C-D43F24A2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41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ECE3E7-ABF0-B056-2BA0-F2CBD7038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D37466-D4D4-CF4C-3C31-648CFED34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E90825-17CD-C479-976E-68AC7A23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FA6C5-316D-4CF8-2400-528DF040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6FBFE2-634A-5D22-6FBA-08E0B9ED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66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C65872-F819-54B4-FDCA-C5355F90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ECA4F-1862-201C-DA09-53A6A0458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4D659-DCCF-6417-D4C3-218EBADF5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778F9-1578-4B03-86E5-B6D11ED54A9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62A9F2-73B7-ECCF-1524-94F82A8A2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1CB47E-4DE1-F3F8-957B-36FA260EA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02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288FA-0F96-94BF-3466-650892941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机器级程序：数据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806645-DF36-242B-BCBF-3E4CE11584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2026.9.30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7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34A6D-A75B-C1E5-69EB-6A39CBF5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一维数组分配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4E23E-14C5-E221-0EBD-4ACD9FB7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A[L]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，会在内存中分配一段连续的，长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 byte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指针类型的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取决于机器是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位还是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起始位置对齐。如下，其中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的倍数。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short s[5];          // 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 5 = 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s+0   s+1   s+2   s+3   s+4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├───┼───┼───┼───┼─────┤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B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x     x+2   x+4   x+6   x+8</a:t>
            </a:r>
          </a:p>
        </p:txBody>
      </p:sp>
    </p:spTree>
    <p:extLst>
      <p:ext uri="{BB962C8B-B14F-4D97-AF65-F5344CB8AC3E}">
        <p14:creationId xmlns:p14="http://schemas.microsoft.com/office/powerpoint/2010/main" val="153796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8438-5DE6-6AF0-8A2B-3EF16C9F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4A0E3-B9BB-DC1D-B62E-C793F334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53BA18-3B5E-B94A-BE32-2E38660C9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取地址可以使用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val+i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取值可以使用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], *(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val+i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get_digit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zip_dig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z, int digit) { return z[digit]; }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ASM: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z, 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rsi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digit</a:t>
            </a: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movl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(%rdi,%rsi,4),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#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Mem[z + 4*digit]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#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z[digit]</a:t>
            </a:r>
          </a:p>
        </p:txBody>
      </p:sp>
    </p:spTree>
    <p:extLst>
      <p:ext uri="{BB962C8B-B14F-4D97-AF65-F5344CB8AC3E}">
        <p14:creationId xmlns:p14="http://schemas.microsoft.com/office/powerpoint/2010/main" val="359040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61C3-E290-D288-8F1A-477DC7F0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DCE01-8DA3-E488-0E21-BEC0B1A3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二维数组：行优先存储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9DAD8-2832-CD38-8EC2-3D29D4DE4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A[R][C]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，会在内存中分配一段连续的，长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R*C*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 byte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C+j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开始的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byte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M[3][4] = {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{ 11, 12, 13, 14 },   // M[0]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21, 22, 23, 24 },   // M[1]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{ 31, 32, 33, 34 },   // M[2]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实际存储为：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11 12 13 14 21 22 23 24 31 32 33 34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更高维度的数组类似。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87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F4B4-AFC2-B77D-2922-206617C9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F5A3A-4AA9-6082-C738-868D4107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不同的优先存储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37D57-D4F4-5E44-5CE7-3AE821AAE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行优先：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（列表）、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Pascal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列优先：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（默认）、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原因：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设计用于科学计算，矩阵采用列向量形式存储。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Julia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的列优先，以保证与既有数值库的兼容和性能。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71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FA40-9D2B-B51D-617D-73E48151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C3EE4-91BE-9AD3-AE46-8430644F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多层级数组访问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8AB9D-C360-5513-2477-8DDF9AE6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zip_dig cmu = { 1, 5, 2, 1, 3 };</a:t>
            </a:r>
          </a:p>
          <a:p>
            <a:r>
              <a:rPr lang="da-DK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zip_dig mit = { 0, 2, 1, 3, 9 };</a:t>
            </a:r>
          </a:p>
          <a:p>
            <a:r>
              <a:rPr lang="da-DK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zip_dig ucb = { 9, 4, 7, 2, 0 };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*univ[3] = {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cmu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ucb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那么访问数组的第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digit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列的计算方式为：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Mem[Mem[univ+8*index]+4*digit]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需要访问两次内存，因为不连续。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14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A4E5-8FEA-207B-5BE1-00573B9D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FDFA9-9B47-71AA-E186-ACF2731A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变长数组访问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A4E5CC-BE43-8C1C-7BA5-6FE147EF4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GCC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扩展中支持如下写法：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var_ele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size_t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n, int a[n][n],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size_t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size_t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j) {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][j];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必须保证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在形参表里早于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GCC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能推出每行长度。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n in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 in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rsi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 in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rcx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imulq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# n*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leaq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(%rsi,%rdi,4),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# a + 4*n*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movl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(%rax,%rcx,4), %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# a + 4*n*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+ 4*j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神奇的是在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g++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下无法通过编译。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3077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A4AF-1E5E-BE0B-B2C5-A7771C62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7DA87-9A61-C301-CCA1-DBF5ED704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结构体存放的基本原则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44EB2-6A98-67CF-6992-FE5548858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zh-CN" dirty="0"/>
              <a:t>编译器把结构体视为一块连续</a:t>
            </a:r>
            <a:r>
              <a:rPr lang="zh-CN" altLang="en-US" dirty="0"/>
              <a:t>存储</a:t>
            </a:r>
            <a:r>
              <a:rPr lang="zh-CN" altLang="zh-CN" dirty="0"/>
              <a:t>，足够放下所有字段。</a:t>
            </a:r>
            <a:endParaRPr lang="en-US" altLang="zh-CN" dirty="0"/>
          </a:p>
          <a:p>
            <a:pPr lvl="0"/>
            <a:r>
              <a:rPr lang="en-US" altLang="zh-CN" dirty="0"/>
              <a:t>C </a:t>
            </a:r>
            <a:r>
              <a:rPr lang="zh-CN" altLang="en-US" dirty="0"/>
              <a:t>标准规定字段在内存中按声明顺序出现，即使换顺序能更紧凑，编译器也不会自动重排</a:t>
            </a:r>
            <a:endParaRPr lang="en-US" altLang="zh-CN" dirty="0"/>
          </a:p>
          <a:p>
            <a:pPr lvl="0"/>
            <a:r>
              <a:rPr lang="zh-CN" altLang="en-US" dirty="0"/>
              <a:t>字段的偏移、整个结构体的大小，都由编译器在编译期根据对齐规则确定。</a:t>
            </a:r>
            <a:endParaRPr lang="en-US" altLang="zh-CN" dirty="0"/>
          </a:p>
          <a:p>
            <a:pPr lvl="0"/>
            <a:r>
              <a:rPr lang="zh-CN" altLang="en-US" dirty="0"/>
              <a:t>汇编层面只有</a:t>
            </a:r>
            <a:r>
              <a:rPr lang="en-US" altLang="zh-CN" dirty="0"/>
              <a:t>“</a:t>
            </a:r>
            <a:r>
              <a:rPr lang="zh-CN" altLang="en-US" dirty="0"/>
              <a:t>基址 </a:t>
            </a:r>
            <a:r>
              <a:rPr lang="en-US" altLang="zh-CN" dirty="0"/>
              <a:t>+ </a:t>
            </a:r>
            <a:r>
              <a:rPr lang="zh-CN" altLang="en-US" dirty="0"/>
              <a:t>字段偏移</a:t>
            </a:r>
            <a:r>
              <a:rPr lang="en-US" altLang="zh-CN" dirty="0"/>
              <a:t>”</a:t>
            </a:r>
            <a:r>
              <a:rPr lang="zh-CN" altLang="en-US" dirty="0"/>
              <a:t>的内存读写，没有 </a:t>
            </a:r>
            <a:r>
              <a:rPr lang="en-US" altLang="zh-CN" dirty="0"/>
              <a:t>r-&gt;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这种语法。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39858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E2A8-6979-53A5-346E-000EA38E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806BC-265E-CCB7-9DA7-1B5B9B2E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例子：遍历链表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0D99D58-A96A-E49C-1F43-61AC50B05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571625"/>
            <a:ext cx="4133850" cy="18573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3FBDDD-21AA-12F5-FDBD-0163D209B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47700"/>
            <a:ext cx="4772025" cy="3238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8F33E9-A134-3B40-D520-305BE8ED6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3867150"/>
            <a:ext cx="88392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5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8E4E-07AE-66E5-227A-A7AF285A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83116-47FE-0E91-190F-EC572EA8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F5FC3-55B1-E387-E345-6C3A27F3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一个 </a:t>
            </a:r>
            <a:r>
              <a:rPr lang="en-US" altLang="zh-CN" dirty="0"/>
              <a:t>K </a:t>
            </a:r>
            <a:r>
              <a:rPr lang="zh-CN" altLang="en-US" dirty="0"/>
              <a:t>字节的数据类型，起始地址必须是 </a:t>
            </a:r>
            <a:r>
              <a:rPr lang="en-US" altLang="zh-CN" dirty="0"/>
              <a:t>K </a:t>
            </a:r>
            <a:r>
              <a:rPr lang="zh-CN" altLang="en-US" dirty="0"/>
              <a:t>的倍数。</a:t>
            </a:r>
            <a:endParaRPr lang="en-US" altLang="zh-CN" dirty="0"/>
          </a:p>
          <a:p>
            <a:pPr lvl="0"/>
            <a:r>
              <a:rPr lang="zh-CN" altLang="en-US" dirty="0"/>
              <a:t>原因：不对齐可能导致拿取一个数据需要访问两次内存，有时会直接报错。</a:t>
            </a:r>
            <a:endParaRPr lang="en-US" altLang="zh-CN" dirty="0"/>
          </a:p>
          <a:p>
            <a:pPr lvl="0"/>
            <a:r>
              <a:rPr lang="zh-CN" altLang="en-US" dirty="0"/>
              <a:t>结构体作为一个整体，也有自己的对齐要求 </a:t>
            </a:r>
            <a:r>
              <a:rPr lang="en-US" altLang="zh-CN" dirty="0"/>
              <a:t>K</a:t>
            </a:r>
            <a:r>
              <a:rPr lang="zh-CN" altLang="en-US" dirty="0"/>
              <a:t>。</a:t>
            </a:r>
            <a:r>
              <a:rPr lang="en-US" altLang="zh-CN" dirty="0"/>
              <a:t>K </a:t>
            </a:r>
            <a:r>
              <a:rPr lang="zh-CN" altLang="en-US" dirty="0"/>
              <a:t>等于所有字段中最大的对齐要求。结构体的起始地址和 </a:t>
            </a:r>
            <a:r>
              <a:rPr lang="en-US" altLang="zh-CN" dirty="0" err="1"/>
              <a:t>sizeof</a:t>
            </a:r>
            <a:r>
              <a:rPr lang="en-US" altLang="zh-CN" dirty="0"/>
              <a:t> </a:t>
            </a:r>
            <a:r>
              <a:rPr lang="zh-CN" altLang="en-US" dirty="0"/>
              <a:t>都必须是 </a:t>
            </a:r>
            <a:r>
              <a:rPr lang="en-US" altLang="zh-CN" dirty="0"/>
              <a:t>K </a:t>
            </a:r>
            <a:r>
              <a:rPr lang="zh-CN" altLang="en-US" dirty="0"/>
              <a:t>的倍数。</a:t>
            </a:r>
            <a:endParaRPr lang="en-US" altLang="zh-CN" dirty="0"/>
          </a:p>
          <a:p>
            <a:pPr lvl="0"/>
            <a:r>
              <a:rPr lang="zh-CN" altLang="en-US" dirty="0"/>
              <a:t>因此把大类型排前面可以有效减少对齐产生的浪费。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80599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C4676-D277-4330-9365-DF3DAFAF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4DFD1-C587-CFA3-80D1-F43F42B7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对齐：练习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10FB0B7-1E82-1BC6-2567-E19C4A3BF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974" y="1848643"/>
            <a:ext cx="4552871" cy="410448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3A8D845-7FC8-7070-36F7-A63989EC3F8E}"/>
              </a:ext>
            </a:extLst>
          </p:cNvPr>
          <p:cNvSpPr txBox="1">
            <a:spLocks/>
          </p:cNvSpPr>
          <p:nvPr/>
        </p:nvSpPr>
        <p:spPr>
          <a:xfrm>
            <a:off x="7019924" y="1825625"/>
            <a:ext cx="43338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sizeof</a:t>
            </a:r>
            <a:r>
              <a:rPr lang="en-US" altLang="zh-CN" dirty="0"/>
              <a:t>(Outer)=?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28193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AECB8-2451-AE82-6A9C-44751D77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2B851-AA0B-3863-165C-98EA4FD8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对齐：练习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D6693C4-653B-2E97-2572-205BC7217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974" y="1848643"/>
            <a:ext cx="4552871" cy="410448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EAEC76C-5CC4-DA3C-8623-070E65367EE2}"/>
              </a:ext>
            </a:extLst>
          </p:cNvPr>
          <p:cNvSpPr txBox="1">
            <a:spLocks/>
          </p:cNvSpPr>
          <p:nvPr/>
        </p:nvSpPr>
        <p:spPr>
          <a:xfrm>
            <a:off x="7019924" y="1825625"/>
            <a:ext cx="43338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sizeof</a:t>
            </a:r>
            <a:r>
              <a:rPr lang="en-US" altLang="zh-CN" dirty="0"/>
              <a:t>(Outer)=32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71754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A5AE-8C42-4F0A-4CB9-3E33BBD6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C5EE-EA06-AC06-838D-8B977B58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offsetof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查看各元素偏移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2CD2C00-A63D-43FA-9C39-0AB9646BC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1690688"/>
            <a:ext cx="56388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91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27EA-2FFC-1C48-16AE-8A2F9399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2D0F8-2592-E4C3-5E10-F52098E6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拓展：结构体传参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返回值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023A5F-22A4-31F0-207F-DA45F2A2C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结构体传参并非全部走栈，当结构体大小 </a:t>
            </a:r>
            <a:r>
              <a:rPr lang="en-US" altLang="zh-CN" dirty="0"/>
              <a:t>&lt;=16 </a:t>
            </a:r>
            <a:r>
              <a:rPr lang="zh-CN" altLang="en-US" dirty="0"/>
              <a:t>字节并且 </a:t>
            </a:r>
            <a:r>
              <a:rPr lang="en-US" altLang="zh-CN" dirty="0"/>
              <a:t>8 </a:t>
            </a:r>
            <a:r>
              <a:rPr lang="zh-CN" altLang="en-US" dirty="0"/>
              <a:t>个字节一组内部全是整数或浮点时走寄存器。</a:t>
            </a:r>
            <a:endParaRPr lang="en-US" altLang="zh-CN" dirty="0"/>
          </a:p>
          <a:p>
            <a:r>
              <a:rPr lang="zh-CN" altLang="en-US" dirty="0"/>
              <a:t>当结构体传参走栈时，</a:t>
            </a:r>
            <a:r>
              <a:rPr lang="en-US" altLang="zh-CN" dirty="0"/>
              <a:t>caller </a:t>
            </a:r>
            <a:r>
              <a:rPr lang="zh-CN" altLang="en-US" dirty="0"/>
              <a:t>把参数在栈上复制一份，</a:t>
            </a:r>
            <a:r>
              <a:rPr lang="en-US" altLang="zh-CN" dirty="0"/>
              <a:t>callee </a:t>
            </a:r>
            <a:r>
              <a:rPr lang="zh-CN" altLang="en-US" dirty="0"/>
              <a:t>通过 </a:t>
            </a:r>
            <a:r>
              <a:rPr lang="en-US" altLang="zh-CN" dirty="0"/>
              <a:t>%</a:t>
            </a:r>
            <a:r>
              <a:rPr lang="en-US" altLang="zh-CN" dirty="0" err="1"/>
              <a:t>rsp</a:t>
            </a:r>
            <a:r>
              <a:rPr lang="en-US" altLang="zh-CN" dirty="0"/>
              <a:t>+</a:t>
            </a:r>
            <a:r>
              <a:rPr lang="zh-CN" altLang="en-US" dirty="0"/>
              <a:t>偏移访问。</a:t>
            </a:r>
            <a:endParaRPr lang="en-US" altLang="zh-CN" dirty="0"/>
          </a:p>
          <a:p>
            <a:r>
              <a:rPr lang="zh-CN" altLang="en-US" dirty="0"/>
              <a:t>结构体返回值也并非全部走栈，符合上述条件会通过寄存器返回。</a:t>
            </a:r>
            <a:endParaRPr lang="en-US" altLang="zh-CN" dirty="0"/>
          </a:p>
          <a:p>
            <a:r>
              <a:rPr lang="zh-CN" altLang="en-US" dirty="0"/>
              <a:t>当结构体返回值走栈时，</a:t>
            </a:r>
            <a:r>
              <a:rPr lang="en-US" altLang="zh-CN" dirty="0"/>
              <a:t>caller </a:t>
            </a:r>
            <a:r>
              <a:rPr lang="zh-CN" altLang="en-US" dirty="0"/>
              <a:t>在栈上开缓冲区，并把缓冲区指针传给 </a:t>
            </a:r>
            <a:r>
              <a:rPr lang="en-US" altLang="zh-CN" dirty="0"/>
              <a:t>callee</a:t>
            </a:r>
            <a:r>
              <a:rPr lang="zh-CN" altLang="en-US" dirty="0"/>
              <a:t>。</a:t>
            </a:r>
            <a:r>
              <a:rPr lang="en-US" altLang="zh-CN" dirty="0"/>
              <a:t>callee </a:t>
            </a:r>
            <a:r>
              <a:rPr lang="zh-CN" altLang="en-US" dirty="0"/>
              <a:t>直接通过指针写入。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8480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62D7-15FB-AC89-8313-99FB8643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6E8F3-A0C9-3943-210E-CC0D2638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浮点数的机器级编程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7714C-ED50-6585-28DB-5E13508AD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浮点数有 </a:t>
            </a:r>
            <a:r>
              <a:rPr lang="en-US" altLang="zh-CN" dirty="0"/>
              <a:t>16 </a:t>
            </a:r>
            <a:r>
              <a:rPr lang="zh-CN" altLang="en-US" dirty="0"/>
              <a:t>个寄存器 </a:t>
            </a:r>
            <a:r>
              <a:rPr lang="en-US" altLang="zh-CN" dirty="0"/>
              <a:t>%xmm0~%xmm15</a:t>
            </a:r>
            <a:r>
              <a:rPr lang="zh-CN" altLang="en-US" dirty="0"/>
              <a:t>。每个寄存器有 </a:t>
            </a:r>
            <a:r>
              <a:rPr lang="en-US" altLang="zh-CN" dirty="0"/>
              <a:t>16 </a:t>
            </a:r>
            <a:r>
              <a:rPr lang="zh-CN" altLang="en-US" dirty="0"/>
              <a:t>字节。</a:t>
            </a:r>
            <a:endParaRPr lang="en-US" altLang="zh-CN" dirty="0"/>
          </a:p>
          <a:p>
            <a:r>
              <a:rPr lang="zh-CN" altLang="en-US" dirty="0"/>
              <a:t>汇编语言：以加法为例：</a:t>
            </a:r>
            <a:endParaRPr lang="en-US" altLang="zh-CN" dirty="0"/>
          </a:p>
          <a:p>
            <a:r>
              <a:rPr lang="en-US" altLang="zh-CN" dirty="0"/>
              <a:t>add</a:t>
            </a:r>
            <a:r>
              <a:rPr lang="zh-CN" altLang="zh-CN" dirty="0"/>
              <a:t>{s|p}{s|d} = {Scalar|Packed} {Single|Double}。</a:t>
            </a:r>
            <a:endParaRPr lang="en-US" altLang="zh-CN" dirty="0"/>
          </a:p>
          <a:p>
            <a:r>
              <a:rPr lang="zh-CN" altLang="en-US" dirty="0"/>
              <a:t>例：</a:t>
            </a:r>
            <a:endParaRPr lang="en-US" altLang="zh-CN" dirty="0"/>
          </a:p>
          <a:p>
            <a:r>
              <a:rPr lang="en-US" altLang="zh-CN" dirty="0"/>
              <a:t>float </a:t>
            </a:r>
            <a:r>
              <a:rPr lang="en-US" altLang="zh-CN" dirty="0" err="1"/>
              <a:t>fadd</a:t>
            </a:r>
            <a:r>
              <a:rPr lang="en-US" altLang="zh-CN" dirty="0"/>
              <a:t>(float x, float y) { return x + y; }</a:t>
            </a:r>
          </a:p>
          <a:p>
            <a:r>
              <a:rPr lang="en-US" altLang="zh-CN" dirty="0" err="1"/>
              <a:t>fadd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addss</a:t>
            </a:r>
            <a:r>
              <a:rPr lang="en-US" altLang="zh-CN" dirty="0"/>
              <a:t> %xmm1, %xmm0     # xmm0 = xmm0 + xmm1</a:t>
            </a:r>
            <a:r>
              <a:rPr lang="zh-CN" altLang="en-US" dirty="0"/>
              <a:t>（</a:t>
            </a:r>
            <a:r>
              <a:rPr lang="en-US" altLang="zh-CN" dirty="0"/>
              <a:t>float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3540930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4E1B-EEDE-3BC1-E97F-66FC8CAF4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F1573-43D1-B338-75EB-3002385A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浮点数的机器级编程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401787-6504-1672-E8B9-86EF90C31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参数寄存器：</a:t>
            </a:r>
            <a:r>
              <a:rPr lang="en-US" altLang="zh-CN" dirty="0"/>
              <a:t>%xmm0 ~ %xmm7</a:t>
            </a:r>
            <a:r>
              <a:rPr lang="zh-CN" altLang="en-US" dirty="0"/>
              <a:t>，第 </a:t>
            </a:r>
            <a:r>
              <a:rPr lang="en-US" altLang="zh-CN" dirty="0"/>
              <a:t>9 </a:t>
            </a:r>
            <a:r>
              <a:rPr lang="zh-CN" altLang="en-US" dirty="0"/>
              <a:t>个起走栈。</a:t>
            </a:r>
            <a:r>
              <a:rPr lang="zh-CN" altLang="zh-CN" dirty="0"/>
              <a:t>返回值寄存器</a:t>
            </a:r>
            <a:r>
              <a:rPr lang="zh-CN" altLang="en-US" dirty="0"/>
              <a:t>：</a:t>
            </a:r>
            <a:r>
              <a:rPr lang="en-US" altLang="zh-CN" dirty="0"/>
              <a:t>%xmm0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寄存器全部 </a:t>
            </a:r>
            <a:r>
              <a:rPr lang="en-US" altLang="zh-CN" dirty="0"/>
              <a:t>caller-saved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混合传参：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4127A4-4045-FA2E-0272-0F0CE66DF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4001294"/>
            <a:ext cx="4057650" cy="1514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130FB5-BAE3-70AE-8888-5E195532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75" y="3753643"/>
            <a:ext cx="50482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2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1435</Words>
  <Application>Microsoft Office PowerPoint</Application>
  <PresentationFormat>宽屏</PresentationFormat>
  <Paragraphs>93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微软雅黑</vt:lpstr>
      <vt:lpstr>Arial</vt:lpstr>
      <vt:lpstr>Office 主题​​</vt:lpstr>
      <vt:lpstr>机器级程序：数据</vt:lpstr>
      <vt:lpstr>一维数组分配</vt:lpstr>
      <vt:lpstr>数组访问</vt:lpstr>
      <vt:lpstr>二维数组：行优先存储</vt:lpstr>
      <vt:lpstr>扩展:不同的优先存储</vt:lpstr>
      <vt:lpstr>多层级数组访问</vt:lpstr>
      <vt:lpstr>变长数组访问</vt:lpstr>
      <vt:lpstr>结构体存放的基本原则</vt:lpstr>
      <vt:lpstr>例子：遍历链表</vt:lpstr>
      <vt:lpstr>对齐</vt:lpstr>
      <vt:lpstr>对齐：练习</vt:lpstr>
      <vt:lpstr>对齐：练习</vt:lpstr>
      <vt:lpstr>用 offsetof 查看各元素偏移</vt:lpstr>
      <vt:lpstr>拓展：结构体传参/返回值</vt:lpstr>
      <vt:lpstr>浮点数的机器级编程</vt:lpstr>
      <vt:lpstr>浮点数的机器级编程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心童 方</dc:creator>
  <cp:lastModifiedBy>心童 方</cp:lastModifiedBy>
  <cp:revision>107</cp:revision>
  <dcterms:created xsi:type="dcterms:W3CDTF">2026-09-30T02:28:41Z</dcterms:created>
  <dcterms:modified xsi:type="dcterms:W3CDTF">2026-09-30T08:43:06Z</dcterms:modified>
</cp:coreProperties>
</file>