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82B41-C0AF-4EA4-979F-6E493735D8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D064E-22A3-4FB3-B98C-11AA3E6D3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96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64FBC-B3A1-5435-506A-81B634DB0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4D3BDB-92E9-76DA-1B72-3C586DA4D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850E7-0C36-055E-7BC8-A5772989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58D3B-867D-2537-04CC-6B5BEE9D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81E76-74E3-28C1-A3E4-17D76224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CB97C-57DE-9926-9477-1F6A330D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944AA-D7E3-A7B8-E282-BF7209EED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B951D-2718-9631-8C35-D5D0ABE9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ED318-7F83-94EE-891B-6AAC62A6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23C0B-B2EA-32F6-162C-50CFBE17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36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840C7-1455-6F32-465A-ED9726117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0C52C-C613-C927-F7AF-EFA84B16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4C65A-EFC9-85E2-5212-0E87F4C7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C4ECD-883B-9472-3594-DF0351E2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01542-A7C8-6341-1FA7-81227DEE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63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09F7D-7F2E-14A1-0442-A2EBEE9F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028FF-14F8-DB85-55BA-26F7563BE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0E1B57-A5D9-4712-BD9E-79317AB18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C6197E-BE8E-A440-447E-10BA77DE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453C3F-6085-F220-F5B9-4ECF5CFE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9116CB-298C-A4B1-1A38-AFD6CC98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7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1FEB0-1765-8066-E778-CCAABBFF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CC80B8-8B6E-5856-148B-EB6E33517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A35AE-47E9-4C91-960E-FF7D9925B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149541-F378-84F9-563A-F0200E966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92AE10-3B39-A83B-BD2A-27FD35AB0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EEDD75-E06E-7BDA-F228-A79AA493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77E778-EE26-6292-76D9-C10B6E09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3681C5-82DE-59A8-6784-3A3B28B7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72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552C6-19B8-DF5B-85A7-2251763F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19C3C7-ABA4-21A7-602C-1B8D21AF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415A67-5CA3-E400-6C3F-98D90E17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A8D2AC-55EB-777F-3196-D67E1CCE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5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8D5B9B-02E0-A884-B8DF-DC9E2CBC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751729-0C07-ECAD-BB1F-8067F830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7432A-449E-1A6B-8D8E-98F83411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25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431B2-6D01-D878-C299-1C6592AC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C968E-6513-F72F-F0F3-EAC39F63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14D72B-851B-E4CC-79E9-972556DD7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1142D-9A7A-AF88-C406-E22BD3FA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4E7DA4-D1C5-7733-471E-EF4AB4F8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F9C65D-48D1-90C2-CA88-C9DB76D0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65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3BB07-76BD-6292-0AFD-CE0A2D26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A9F256-E109-8799-8714-2C7AFF7FE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8CEDB4-1B04-6C8F-4556-7DD566EFB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6CADD-B2DF-E79C-E85F-F00F1CC7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C1EFB4-CAAB-BC81-B33A-5297AA8D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3CB9A8-1B56-1990-9C0A-6E5886B7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15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DE3B5-2F81-9C8E-8D07-F289001E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E798D0-7E16-AE8C-3BC4-B17AA5DE8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9BA39-1B5B-AD16-ABA3-A149F236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88EBB-2543-56AC-C999-04AF0129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2EC32-DB9B-19C2-8C3C-D43F24A2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41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ECE3E7-ABF0-B056-2BA0-F2CBD7038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D37466-D4D4-CF4C-3C31-648CFED34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E90825-17CD-C479-976E-68AC7A23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FA6C5-316D-4CF8-2400-528DF040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6FBFE2-634A-5D22-6FBA-08E0B9ED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6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C65872-F819-54B4-FDCA-C5355F90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ECA4F-1862-201C-DA09-53A6A0458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4D659-DCCF-6417-D4C3-218EBADF5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778F9-1578-4B03-86E5-B6D11ED54A9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62A9F2-73B7-ECCF-1524-94F82A8A2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CB47E-4DE1-F3F8-957B-36FA260EA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FC562-5A4D-4D21-8DD7-ED10DBC2F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02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288FA-0F96-94BF-3466-650892941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806645-DF36-242B-BCBF-3E4CE11584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2026.10.27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7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34A6D-A75B-C1E5-69EB-6A39CBF5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 to PIPE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4E23E-14C5-E221-0EBD-4ACD9FB7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delay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）：每条指令执行完毕需要的时间。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吞吐量（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throughput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）：每秒能执行的指令条数。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9592B6-9A97-F02B-57B4-9A1C2E0E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4" y="3429000"/>
            <a:ext cx="5110162" cy="17380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31151D-C37A-4E7D-6549-F9837644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3521124"/>
            <a:ext cx="6157912" cy="178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6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05B0-CC8E-E157-B1DA-5F8C8AA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DF3E2-B7E8-7912-31A0-A4A91916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 vs SEQ+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AF917F8-7754-CA87-4D2C-ED252E9D3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0357" y="1362806"/>
            <a:ext cx="3588509" cy="5152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35DF88-FE7C-3F37-736C-2303E51C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17" y="241160"/>
            <a:ext cx="4241883" cy="63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3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25B-EC43-11F5-F5B4-BD96D0C3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53276-9F61-8E6C-8C11-D2867355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SEQ+ vs PIPE-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AE88E3-2797-3A6B-CA3C-A0029F40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79" y="1276141"/>
            <a:ext cx="3470811" cy="5216734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9EFD05-2B5C-9FE3-7243-E996F1FE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FD5E7F-F807-C39E-BD8B-0975A9A3B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39" y="157445"/>
            <a:ext cx="5202446" cy="65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9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CB6C-A065-283D-E1A5-AB2C5FBE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1EADD-6390-32BE-E8DD-41809EE3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SEQ+ vs PIPE-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1421F3-B7CC-22B7-F154-1774DDFA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9119" cy="4351338"/>
          </a:xfrm>
        </p:spPr>
        <p:txBody>
          <a:bodyPr/>
          <a:lstStyle/>
          <a:p>
            <a:r>
              <a:rPr lang="en-US" altLang="zh-CN" dirty="0"/>
              <a:t>PIPE- </a:t>
            </a:r>
            <a:r>
              <a:rPr lang="zh-CN" altLang="en-US" dirty="0"/>
              <a:t>基本可以看作在 </a:t>
            </a:r>
            <a:r>
              <a:rPr lang="en-US" altLang="zh-CN" dirty="0"/>
              <a:t>SEQ+ </a:t>
            </a:r>
            <a:r>
              <a:rPr lang="zh-CN" altLang="en-US" dirty="0"/>
              <a:t>上插入了 </a:t>
            </a:r>
            <a:r>
              <a:rPr lang="en-US" altLang="zh-CN" dirty="0"/>
              <a:t>F,D,E,M,W </a:t>
            </a:r>
            <a:r>
              <a:rPr lang="zh-CN" altLang="en-US" dirty="0"/>
              <a:t>五个阶段寄存器，三个不同之处：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增加了 </a:t>
            </a:r>
            <a:r>
              <a:rPr lang="en-US" altLang="zh-CN" dirty="0"/>
              <a:t>Predict PC </a:t>
            </a:r>
            <a:r>
              <a:rPr lang="zh-CN" altLang="en-US" dirty="0"/>
              <a:t>模块。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增加了 </a:t>
            </a:r>
            <a:r>
              <a:rPr lang="en-US" altLang="zh-CN" dirty="0"/>
              <a:t>Select A </a:t>
            </a:r>
            <a:r>
              <a:rPr lang="zh-CN" altLang="en-US" dirty="0"/>
              <a:t>模块。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将 </a:t>
            </a:r>
            <a:r>
              <a:rPr lang="en-US" altLang="zh-CN" dirty="0" err="1"/>
              <a:t>valE</a:t>
            </a:r>
            <a:r>
              <a:rPr lang="en-US" altLang="zh-CN" dirty="0"/>
              <a:t> </a:t>
            </a:r>
            <a:r>
              <a:rPr lang="zh-CN" altLang="en-US" dirty="0"/>
              <a:t>写回放到了 </a:t>
            </a:r>
            <a:r>
              <a:rPr lang="en-US" altLang="zh-CN" dirty="0"/>
              <a:t>M </a:t>
            </a:r>
            <a:r>
              <a:rPr lang="zh-CN" altLang="en-US" dirty="0"/>
              <a:t>阶段结束后，写端口冲突时 </a:t>
            </a:r>
            <a:r>
              <a:rPr lang="en-US" altLang="zh-CN" dirty="0" err="1"/>
              <a:t>valM</a:t>
            </a:r>
            <a:r>
              <a:rPr lang="en-US" altLang="zh-CN" dirty="0"/>
              <a:t> </a:t>
            </a:r>
            <a:r>
              <a:rPr lang="zh-CN" altLang="en-US" dirty="0"/>
              <a:t>端口仍然优先。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3F7C5D-C253-9191-735D-CD3968C6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83" y="157445"/>
            <a:ext cx="5202446" cy="65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3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4F6D-5B4B-D580-28D9-ED2D1234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44FB5-6ECC-4C0B-8CF8-13FBB3F7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命名规则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9BBD14-A99D-0F58-600C-400DEBE4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9119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/>
              <a:t>S_Field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zh-CN" altLang="zh-CN" dirty="0"/>
              <a:t>保存在 S 流水线寄存器中的</a:t>
            </a:r>
            <a:r>
              <a:rPr lang="zh-CN" altLang="en-US" dirty="0"/>
              <a:t>值，每个时钟周期内不会改变。</a:t>
            </a:r>
            <a:endParaRPr lang="en-US" altLang="zh-CN" dirty="0"/>
          </a:p>
          <a:p>
            <a:r>
              <a:rPr lang="en-US" altLang="zh-CN" dirty="0" err="1"/>
              <a:t>s_Field</a:t>
            </a:r>
            <a:r>
              <a:rPr lang="en-US" altLang="zh-CN" dirty="0"/>
              <a:t> </a:t>
            </a:r>
            <a:r>
              <a:rPr lang="zh-CN" altLang="en-US" dirty="0"/>
              <a:t>没有存储功能，输出随着输入变化而改变。</a:t>
            </a:r>
            <a:endParaRPr lang="en-US" altLang="zh-CN" dirty="0"/>
          </a:p>
          <a:p>
            <a:r>
              <a:rPr lang="zh-CN" altLang="en-US" dirty="0"/>
              <a:t>流水线设计要求：去掉所有形如 </a:t>
            </a:r>
            <a:r>
              <a:rPr lang="en-US" altLang="zh-CN" dirty="0" err="1"/>
              <a:t>S_Field</a:t>
            </a:r>
            <a:r>
              <a:rPr lang="en-US" altLang="zh-CN" dirty="0"/>
              <a:t> </a:t>
            </a:r>
            <a:r>
              <a:rPr lang="zh-CN" altLang="en-US" dirty="0"/>
              <a:t>的寄存器后电路不能形成环。</a:t>
            </a:r>
            <a:endParaRPr lang="en-US" altLang="zh-CN" dirty="0"/>
          </a:p>
          <a:p>
            <a:r>
              <a:rPr lang="zh-CN" altLang="en-US" dirty="0"/>
              <a:t>同时，最后稳定的值可以看作在这个 </a:t>
            </a:r>
            <a:r>
              <a:rPr lang="en-US" altLang="zh-CN" dirty="0"/>
              <a:t>DAG </a:t>
            </a:r>
            <a:r>
              <a:rPr lang="zh-CN" altLang="en-US" dirty="0"/>
              <a:t>上沿拓扑序计算的值。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EE09A80-5AFE-4694-D95A-8376D20B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83" y="157445"/>
            <a:ext cx="5202446" cy="65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3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3E640-0811-9DC3-B925-85F99C10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EE4FA-3D4C-1943-F1A5-861869EA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Hazard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EFE9D7-62FC-D0FF-BC67-13E87278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14850" cy="4351338"/>
          </a:xfrm>
        </p:spPr>
        <p:txBody>
          <a:bodyPr/>
          <a:lstStyle/>
          <a:p>
            <a:r>
              <a:rPr lang="zh-CN" altLang="en-US" dirty="0"/>
              <a:t>在两条指令之间插入三个 </a:t>
            </a:r>
            <a:r>
              <a:rPr lang="en-US" altLang="zh-CN" dirty="0" err="1"/>
              <a:t>nop</a:t>
            </a:r>
            <a:r>
              <a:rPr lang="en-US" altLang="zh-CN" dirty="0"/>
              <a:t> </a:t>
            </a:r>
            <a:r>
              <a:rPr lang="zh-CN" altLang="en-US" dirty="0"/>
              <a:t>可以解决问题。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748945-C1EE-F7E2-AC27-508FFB0A3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70" y="571500"/>
            <a:ext cx="701203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7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BDC3-DA00-BD5B-AB3B-0E5659604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073F0-524A-2EFA-D4AC-29FA74DE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Stall  &amp; Bubble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229F621-71F4-5F4D-1DA0-17E16ED1E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6925" y="916201"/>
            <a:ext cx="5686876" cy="2655674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C534DC7E-36A5-9907-2E16-8FBFE04F29E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Stall</a:t>
            </a:r>
            <a:r>
              <a:rPr lang="zh-CN" altLang="en-US" dirty="0"/>
              <a:t>：在下一时钟周期让某条指令停留在某个阶段。</a:t>
            </a:r>
            <a:endParaRPr lang="en-US" altLang="zh-CN" dirty="0"/>
          </a:p>
          <a:p>
            <a:r>
              <a:rPr lang="en-US" altLang="zh-CN" dirty="0"/>
              <a:t>Bubble</a:t>
            </a:r>
            <a:r>
              <a:rPr lang="zh-CN" altLang="en-US" dirty="0"/>
              <a:t>：在下一时钟周期将某个阶段的指令改变为类似 </a:t>
            </a:r>
            <a:r>
              <a:rPr lang="en-US" altLang="zh-CN" dirty="0" err="1"/>
              <a:t>nop</a:t>
            </a:r>
            <a:r>
              <a:rPr lang="en-US" altLang="zh-CN" dirty="0"/>
              <a:t> </a:t>
            </a:r>
            <a:r>
              <a:rPr lang="zh-CN" altLang="en-US" dirty="0"/>
              <a:t>的状态。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FAD4B733-B9B0-5631-6CCD-FC778B40E3AE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3523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923C-9748-AE56-5CF5-66F08FC7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6713B-E989-D5F3-82A2-FE782432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9F73571A-3567-117C-7A88-3305565A734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3FFBE213-4EBB-A2BA-2A68-BA8EB3319251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B165B46-A8C5-C9C5-8AC1-8A443EFFD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4075" y="1530350"/>
            <a:ext cx="5782699" cy="4351338"/>
          </a:xfrm>
          <a:prstGeom prst="rect">
            <a:avLst/>
          </a:prstGeom>
        </p:spPr>
      </p:pic>
      <p:sp>
        <p:nvSpPr>
          <p:cNvPr id="9" name="内容占位符 3">
            <a:extLst>
              <a:ext uri="{FF2B5EF4-FFF2-40B4-BE49-F238E27FC236}">
                <a16:creationId xmlns:a16="http://schemas.microsoft.com/office/drawing/2014/main" id="{988CD8FF-B15F-BCBB-5865-E6F9173CF6C6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 </a:t>
            </a:r>
            <a:r>
              <a:rPr lang="zh-CN" altLang="en-US" dirty="0"/>
              <a:t>阶段需要的值在 </a:t>
            </a:r>
            <a:r>
              <a:rPr lang="en-US" altLang="zh-CN" dirty="0"/>
              <a:t>E or M </a:t>
            </a:r>
            <a:r>
              <a:rPr lang="zh-CN" altLang="en-US" dirty="0"/>
              <a:t>阶段结束之前就计算</a:t>
            </a:r>
            <a:r>
              <a:rPr lang="en-US" altLang="zh-CN" dirty="0"/>
              <a:t>/</a:t>
            </a:r>
            <a:r>
              <a:rPr lang="zh-CN" altLang="en-US" dirty="0"/>
              <a:t>访问出来了，不必等到写回寄存器再从寄存器中读取。</a:t>
            </a:r>
            <a:endParaRPr lang="en-US" altLang="zh-CN" dirty="0"/>
          </a:p>
          <a:p>
            <a:r>
              <a:rPr lang="zh-CN" altLang="en-US" dirty="0"/>
              <a:t>不同指令写同意寄存器时，距离更近的结果优先级更高。（原版 </a:t>
            </a:r>
            <a:r>
              <a:rPr lang="en-US" altLang="zh-CN" dirty="0" err="1"/>
              <a:t>archlab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计算：转发无需停滞流水线。</a:t>
            </a:r>
            <a:endParaRPr lang="en-US" altLang="zh-CN" dirty="0"/>
          </a:p>
          <a:p>
            <a:r>
              <a:rPr lang="zh-CN" altLang="en-US" dirty="0"/>
              <a:t>从内存中加载（</a:t>
            </a:r>
            <a:r>
              <a:rPr lang="en-US" altLang="zh-CN" dirty="0"/>
              <a:t>IMRMOVQ, IPOPQ</a:t>
            </a:r>
            <a:r>
              <a:rPr lang="zh-CN" altLang="en-US" dirty="0"/>
              <a:t>）紧接使用：</a:t>
            </a:r>
            <a:r>
              <a:rPr lang="en-US" altLang="zh-CN" dirty="0"/>
              <a:t>D </a:t>
            </a:r>
            <a:r>
              <a:rPr lang="zh-CN" altLang="en-US" dirty="0"/>
              <a:t>和 </a:t>
            </a:r>
            <a:r>
              <a:rPr lang="en-US" altLang="zh-CN" dirty="0"/>
              <a:t>M </a:t>
            </a:r>
            <a:r>
              <a:rPr lang="zh-CN" altLang="en-US" dirty="0"/>
              <a:t>相距 </a:t>
            </a:r>
            <a:r>
              <a:rPr lang="en-US" altLang="zh-CN" dirty="0"/>
              <a:t>2 </a:t>
            </a:r>
            <a:r>
              <a:rPr lang="zh-CN" altLang="en-US" dirty="0"/>
              <a:t>阶段，需要 </a:t>
            </a:r>
            <a:r>
              <a:rPr lang="en-US" altLang="zh-CN" dirty="0"/>
              <a:t>stall </a:t>
            </a:r>
            <a:r>
              <a:rPr lang="zh-CN" altLang="en-US" dirty="0"/>
              <a:t>一个阶段。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652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FFBE-9C92-759E-31CE-66580BF8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BC22-4E6E-305B-CFD9-F7C4E069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19E36958-52B4-B1C9-88A3-1FC6A1B4E7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52D0412C-972E-2760-A665-711539ABC48B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F0588F90-44EA-E66F-557E-6BCABD28C1AC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588CE3-40BD-59CC-7816-75A294E7D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zh-CN" altLang="en-US" dirty="0"/>
              <a:t>加上转发的电路就得到了最终的 </a:t>
            </a:r>
            <a:r>
              <a:rPr lang="en-US" altLang="zh-CN" dirty="0"/>
              <a:t>PIPE </a:t>
            </a:r>
            <a:r>
              <a:rPr lang="zh-CN" altLang="en-US" dirty="0"/>
              <a:t>结构。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2BF7AD-B7C6-42AE-084C-884AB4F99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7" y="92075"/>
            <a:ext cx="47339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3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E9E6-C387-E7D1-7E20-5B6BD5C8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CD476-274B-964D-753E-FF411547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Control hazard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3DDD754F-E178-F9FD-924B-BC5093AC24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F73BFCD0-63BA-189F-CED6-7DF6804CFEF5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FF08767B-2292-F927-3A87-578E71B058DB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6C4753-4CE7-E515-0FDF-6916D04A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zh-CN" altLang="en-US" dirty="0"/>
              <a:t>流水线无法确定下一条指令的地址。</a:t>
            </a:r>
            <a:endParaRPr lang="en-US" altLang="zh-CN" dirty="0"/>
          </a:p>
          <a:p>
            <a:r>
              <a:rPr lang="en-US" altLang="zh-CN" dirty="0"/>
              <a:t>RET</a:t>
            </a:r>
            <a:r>
              <a:rPr lang="zh-CN" altLang="en-US" dirty="0"/>
              <a:t>：需要访问栈，要等到 </a:t>
            </a:r>
            <a:r>
              <a:rPr lang="en-US" altLang="zh-CN" dirty="0"/>
              <a:t>M </a:t>
            </a:r>
            <a:r>
              <a:rPr lang="zh-CN" altLang="en-US" dirty="0"/>
              <a:t>阶段执行结束。插入三个 </a:t>
            </a:r>
            <a:r>
              <a:rPr lang="en-US" altLang="zh-CN" dirty="0"/>
              <a:t>bubble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JX</a:t>
            </a:r>
            <a:r>
              <a:rPr lang="zh-CN" altLang="en-US" dirty="0"/>
              <a:t>：需要条件码。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081588-9E94-0B44-C1A7-FFF86910A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7" y="92075"/>
            <a:ext cx="47339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5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E1B5E-D2D6-D0BB-09D6-417FBC89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C3744-A80C-5847-2398-E53520FA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分支预测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B4D03481-5282-2AC7-26E7-2B2BB852842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5250F5F-0B5F-CE1B-7A2C-E8BA5CEDA137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5B59E8D4-4632-F56E-799D-FC8AFDA0BD92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972441-2C37-6BC4-8DC5-5C12CC751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r>
              <a:rPr lang="en-US" altLang="zh-CN" dirty="0" err="1"/>
              <a:t>predPC</a:t>
            </a:r>
            <a:r>
              <a:rPr lang="en-US" altLang="zh-CN" dirty="0"/>
              <a:t> </a:t>
            </a:r>
            <a:r>
              <a:rPr lang="zh-CN" altLang="en-US" dirty="0"/>
              <a:t>总是预测选择了条件分支，成功率约为 </a:t>
            </a:r>
            <a:r>
              <a:rPr lang="en-US" altLang="zh-CN" dirty="0"/>
              <a:t>60%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反向选择：分支地址比下一条地址低就预测选择，否则预测不选择。成功率约为 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数据来源：</a:t>
            </a:r>
            <a:r>
              <a:rPr lang="en-US" altLang="zh-CN" dirty="0"/>
              <a:t>CSAPP</a:t>
            </a:r>
            <a:r>
              <a:rPr lang="zh-CN" altLang="en-US" dirty="0"/>
              <a:t>🤔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FAB156-7D3A-898A-F2CD-66D8A640C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7" y="92075"/>
            <a:ext cx="47339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94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EBD4-5943-8225-8DC5-B1B5B7F4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64F8E-FA77-8290-AB89-D75F7959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错误消除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67FD04E2-904C-A72B-1756-7280F3A9905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842B7453-43F4-5E08-7421-7F0C36341BCD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4D712D53-893E-9C2D-C633-646A8302596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33BDF1-64BD-56C5-F701-5348CE0C3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当处理器在 </a:t>
            </a:r>
            <a:r>
              <a:rPr lang="en-US" altLang="zh-CN" dirty="0"/>
              <a:t>E </a:t>
            </a:r>
            <a:r>
              <a:rPr lang="zh-CN" altLang="en-US" dirty="0"/>
              <a:t>阶段发现分支预测错误时，需要消除 </a:t>
            </a:r>
            <a:r>
              <a:rPr lang="en-US" altLang="zh-CN" dirty="0"/>
              <a:t>F, D </a:t>
            </a:r>
            <a:r>
              <a:rPr lang="zh-CN" altLang="en-US" dirty="0"/>
              <a:t>两个阶段错误指令的影响。在下一周期的 </a:t>
            </a:r>
            <a:r>
              <a:rPr lang="en-US" altLang="zh-CN" dirty="0"/>
              <a:t>D, E </a:t>
            </a:r>
            <a:r>
              <a:rPr lang="zh-CN" altLang="en-US" dirty="0"/>
              <a:t>均 </a:t>
            </a:r>
            <a:r>
              <a:rPr lang="en-US" altLang="zh-CN" dirty="0"/>
              <a:t>bubble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同时，下一周期正确的地址已经通过 </a:t>
            </a:r>
            <a:r>
              <a:rPr lang="en-US" altLang="zh-CN" dirty="0"/>
              <a:t>Select A </a:t>
            </a:r>
            <a:r>
              <a:rPr lang="zh-CN" altLang="en-US" dirty="0"/>
              <a:t>存储在 </a:t>
            </a:r>
            <a:r>
              <a:rPr lang="en-US" altLang="zh-CN" dirty="0" err="1"/>
              <a:t>valA</a:t>
            </a:r>
            <a:r>
              <a:rPr lang="en-US" altLang="zh-CN" dirty="0"/>
              <a:t> </a:t>
            </a:r>
            <a:r>
              <a:rPr lang="zh-CN" altLang="en-US" dirty="0"/>
              <a:t>中传到了 </a:t>
            </a:r>
            <a:r>
              <a:rPr lang="en-US" altLang="zh-CN" dirty="0"/>
              <a:t>M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5A9878-7309-A76D-78AC-D45B9758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547693"/>
            <a:ext cx="7581900" cy="281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2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6FB7-89A8-1EC4-92BC-D5E98DAA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948A8-9D79-7C9F-F3D8-99DB59CD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37F04D59-A6E9-11A7-705F-10F858D04B5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10582A8B-F8A5-553E-BF81-54BB1E8C4411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1CA8B33C-9DC2-6759-C070-D1898FC6603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C4C342-5621-BD75-1CB8-C934C5F4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5244C5-F0F4-697A-EE07-B4E86578E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2062162"/>
            <a:ext cx="79248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63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A65A-B683-46B6-02FC-83B6BC97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490C2-6C28-3B0E-924F-F8853763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控制总结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81D51DA7-7F47-B5F6-313E-6CFF24DB6C2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EACAA7E2-599F-9FDA-DF7A-1CD3ECB6436E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69F1C117-874B-00E6-8AFA-51CF196D9426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8947C4-5BBB-6A27-6CD6-BD163646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CEAD92-AC47-DC1F-E208-A051059A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843088"/>
            <a:ext cx="10791825" cy="29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9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17C9-44B1-E99D-3FCD-6CA4D086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FCAD8-957A-2E4F-6333-6C4A8D5F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特殊情况的控制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C5146371-DF38-C6EB-AC3F-15EAFB02046C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D7479F2E-7D4A-F8A1-49F0-909C5858E170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199BB5-E72B-6312-3218-72AB1997A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432300"/>
            <a:ext cx="10363200" cy="993775"/>
          </a:xfrm>
        </p:spPr>
        <p:txBody>
          <a:bodyPr>
            <a:normAutofit/>
          </a:bodyPr>
          <a:lstStyle/>
          <a:p>
            <a:r>
              <a:rPr lang="zh-CN" altLang="en-US" dirty="0"/>
              <a:t>实现的时候对于同一阶段，不 </a:t>
            </a:r>
            <a:r>
              <a:rPr lang="en-US" altLang="zh-CN" dirty="0"/>
              <a:t>stall </a:t>
            </a:r>
            <a:r>
              <a:rPr lang="zh-CN" altLang="en-US" dirty="0"/>
              <a:t>的情况下才能 </a:t>
            </a:r>
            <a:r>
              <a:rPr lang="en-US" altLang="zh-CN" dirty="0"/>
              <a:t>bubble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E3DD79-7E63-72FB-ED64-DF5E7D2A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5284788"/>
            <a:ext cx="7934325" cy="838200"/>
          </a:xfrm>
          <a:prstGeom prst="rect">
            <a:avLst/>
          </a:prstGeom>
        </p:spPr>
      </p:pic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4682F6E-CE79-0ED8-FAFE-E195BCD33423}"/>
              </a:ext>
            </a:extLst>
          </p:cNvPr>
          <p:cNvSpPr txBox="1">
            <a:spLocks/>
          </p:cNvSpPr>
          <p:nvPr/>
        </p:nvSpPr>
        <p:spPr>
          <a:xfrm>
            <a:off x="990600" y="1742282"/>
            <a:ext cx="103632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从内存中加载到  </a:t>
            </a:r>
            <a:r>
              <a:rPr lang="en-US" altLang="zh-CN" dirty="0"/>
              <a:t>%</a:t>
            </a:r>
            <a:r>
              <a:rPr lang="en-US" altLang="zh-CN" dirty="0" err="1"/>
              <a:t>rsp</a:t>
            </a:r>
            <a:r>
              <a:rPr lang="zh-CN" altLang="en-US" dirty="0"/>
              <a:t>，下一条指令 </a:t>
            </a:r>
            <a:r>
              <a:rPr lang="en-US" altLang="zh-CN" dirty="0"/>
              <a:t>ret</a:t>
            </a:r>
            <a:r>
              <a:rPr lang="zh-CN" altLang="en-US" dirty="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8BB1BB-3BA9-16EB-ECC4-3874D0A0A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6" y="2319338"/>
            <a:ext cx="9169817" cy="20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1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9721F-14DD-7C43-C74D-AA519418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45CF0-366D-2566-8E58-8692D2D2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小练习</a:t>
            </a: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918B5FB2-0BFC-D30A-DE67-26A2FFD309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0076867D-1C33-03E3-16B5-157D99A321C3}"/>
              </a:ext>
            </a:extLst>
          </p:cNvPr>
          <p:cNvSpPr txBox="1">
            <a:spLocks/>
          </p:cNvSpPr>
          <p:nvPr/>
        </p:nvSpPr>
        <p:spPr>
          <a:xfrm>
            <a:off x="6096000" y="3549650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60669597-10B8-1B64-6BDA-0AF64EE961C7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03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ACF267B-EE44-0389-6ADB-7DC519B86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6339" y="1809029"/>
            <a:ext cx="6715661" cy="2998642"/>
          </a:xfrm>
          <a:prstGeom prst="rect">
            <a:avLst/>
          </a:prstGeom>
        </p:spPr>
      </p:pic>
      <p:sp>
        <p:nvSpPr>
          <p:cNvPr id="7" name="内容占位符 3">
            <a:extLst>
              <a:ext uri="{FF2B5EF4-FFF2-40B4-BE49-F238E27FC236}">
                <a16:creationId xmlns:a16="http://schemas.microsoft.com/office/drawing/2014/main" id="{FBD27D9A-E648-F770-93EA-B5D6C9280EF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右图是 </a:t>
            </a:r>
            <a:r>
              <a:rPr lang="en-US" altLang="zh-CN" dirty="0"/>
              <a:t>PIPE </a:t>
            </a:r>
            <a:r>
              <a:rPr lang="zh-CN" altLang="en-US" dirty="0"/>
              <a:t>的实现的一部分。其余实现和正常的 </a:t>
            </a:r>
            <a:r>
              <a:rPr lang="en-US" altLang="zh-CN" dirty="0"/>
              <a:t>PIPE </a:t>
            </a:r>
            <a:r>
              <a:rPr lang="zh-CN" altLang="en-US" dirty="0"/>
              <a:t>一样。</a:t>
            </a:r>
            <a:endParaRPr lang="en-US" altLang="zh-CN" dirty="0"/>
          </a:p>
          <a:p>
            <a:r>
              <a:rPr lang="zh-CN" altLang="en-US" dirty="0"/>
              <a:t>那么 </a:t>
            </a:r>
            <a:r>
              <a:rPr lang="en-US" altLang="zh-CN" dirty="0"/>
              <a:t>Y86-64 </a:t>
            </a:r>
            <a:r>
              <a:rPr lang="zh-CN" altLang="en-US" dirty="0"/>
              <a:t>程序：</a:t>
            </a:r>
            <a:endParaRPr lang="en-US" altLang="zh-CN" dirty="0"/>
          </a:p>
          <a:p>
            <a:r>
              <a:rPr lang="en-US" altLang="zh-CN" dirty="0" err="1"/>
              <a:t>popq</a:t>
            </a:r>
            <a:r>
              <a:rPr lang="en-US" altLang="zh-CN" dirty="0"/>
              <a:t> %</a:t>
            </a:r>
            <a:r>
              <a:rPr lang="en-US" altLang="zh-CN" dirty="0" err="1"/>
              <a:t>rsp</a:t>
            </a:r>
            <a:endParaRPr lang="en-US" altLang="zh-CN" dirty="0"/>
          </a:p>
          <a:p>
            <a:r>
              <a:rPr lang="en-US" altLang="zh-CN" dirty="0" err="1"/>
              <a:t>addq</a:t>
            </a:r>
            <a:r>
              <a:rPr lang="en-US" altLang="zh-CN" dirty="0"/>
              <a:t> %</a:t>
            </a:r>
            <a:r>
              <a:rPr lang="en-US" altLang="zh-CN" dirty="0" err="1"/>
              <a:t>rsp</a:t>
            </a:r>
            <a:r>
              <a:rPr lang="en-US" altLang="zh-CN" dirty="0"/>
              <a:t>, %</a:t>
            </a:r>
            <a:r>
              <a:rPr lang="en-US" altLang="zh-CN" dirty="0" err="1"/>
              <a:t>rdi</a:t>
            </a:r>
            <a:endParaRPr lang="en-US" altLang="zh-CN" dirty="0"/>
          </a:p>
          <a:p>
            <a:r>
              <a:rPr lang="zh-CN" altLang="en-US" dirty="0"/>
              <a:t>的结果正确吗？为什么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83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783</Words>
  <Application>Microsoft Office PowerPoint</Application>
  <PresentationFormat>宽屏</PresentationFormat>
  <Paragraphs>51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Office 主题​​</vt:lpstr>
      <vt:lpstr>PIPELINE</vt:lpstr>
      <vt:lpstr>SEQ to PIPE</vt:lpstr>
      <vt:lpstr>SEQ vs SEQ+</vt:lpstr>
      <vt:lpstr>SEQ+ vs PIPE-</vt:lpstr>
      <vt:lpstr>SEQ+ vs PIPE-</vt:lpstr>
      <vt:lpstr>PIPE- 命名规则</vt:lpstr>
      <vt:lpstr>Data Hazard</vt:lpstr>
      <vt:lpstr>Stall  &amp; Bubble</vt:lpstr>
      <vt:lpstr>转发</vt:lpstr>
      <vt:lpstr>PIPE</vt:lpstr>
      <vt:lpstr>Control hazard</vt:lpstr>
      <vt:lpstr>分支预测</vt:lpstr>
      <vt:lpstr>错误消除</vt:lpstr>
      <vt:lpstr>拓展：RET 预测</vt:lpstr>
      <vt:lpstr>控制总结</vt:lpstr>
      <vt:lpstr>特殊情况的控制</vt:lpstr>
      <vt:lpstr>小练习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心童 方</dc:creator>
  <cp:lastModifiedBy>心童 方</cp:lastModifiedBy>
  <cp:revision>237</cp:revision>
  <dcterms:created xsi:type="dcterms:W3CDTF">2026-09-30T02:28:41Z</dcterms:created>
  <dcterms:modified xsi:type="dcterms:W3CDTF">2026-10-28T07:42:10Z</dcterms:modified>
</cp:coreProperties>
</file>