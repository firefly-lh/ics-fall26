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658"/>
  </p:normalViewPr>
  <p:slideViewPr>
    <p:cSldViewPr snapToGrid="0">
      <p:cViewPr varScale="1">
        <p:scale>
          <a:sx n="93" d="100"/>
          <a:sy n="93" d="100"/>
        </p:scale>
        <p:origin x="15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B6F4FAB-BF43-414A-B1B4-1F3DF63A059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Lab：本地连接课程实验环境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306266-038A-414E-84FB-1C5256EAADC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D64B9-D214-4629-9E2A-ED6366DCCAF4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0AE54-6A81-44FC-9B1B-14BABF68A44F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课程提供 Linux 节点，本机通过 SSH 连接和编辑远程代码。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ABABD-5CF7-4ABB-B770-9901CDA7E5D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今天跟着完成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E354AB-D324-4B89-B5C8-EC6DC3FC53D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58AC32-4882-4DF4-93E9-101DEE1E3268}"/>
              </a:ext>
            </a:extLst>
          </p:cNvPr>
          <p:cNvSpPr>
            <a:spLocks noGrp="1"/>
          </p:cNvSpPr>
          <p:nvPr/>
        </p:nvSpPr>
        <p:spPr>
          <a:xfrm>
            <a:off x="1228725" y="3333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生成或使用本机密钥，把公钥添加到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036DB-7675-401F-8A7A-45198CD97CB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AB7AD-2E93-4240-BCC2-828CE73868C9}"/>
              </a:ext>
            </a:extLst>
          </p:cNvPr>
          <p:cNvSpPr>
            <a:spLocks noGrp="1"/>
          </p:cNvSpPr>
          <p:nvPr/>
        </p:nvSpPr>
        <p:spPr>
          <a:xfrm>
            <a:off x="1228725" y="4095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在本机终端通过 SSH 登录自己的节点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51822-0D7E-4BCA-82FD-D35859A8EDD7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4A8B95-3F25-4C29-992B-1DBACFF86B97}"/>
              </a:ext>
            </a:extLst>
          </p:cNvPr>
          <p:cNvSpPr>
            <a:spLocks noGrp="1"/>
          </p:cNvSpPr>
          <p:nvPr/>
        </p:nvSpPr>
        <p:spPr>
          <a:xfrm>
            <a:off x="1228725" y="4857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用本地 VS Code 打开远程项目，运行 C 程序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B08D3C-B18A-4BCC-BCE6-97BD14DEE19E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课前安装：VS Code、Remote-SSH 扩展、SSH 客户端</a:t>
            </a:r>
          </a:p>
        </p:txBody>
      </p:sp>
    </p:spTree>
    <p:extLst>
      <p:ext uri="{BB962C8B-B14F-4D97-AF65-F5344CB8AC3E}">
        <p14:creationId xmlns:p14="http://schemas.microsoft.com/office/powerpoint/2010/main" val="119651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DA559F9-87AA-4D3B-BC49-C8D89710413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本机、终端、SSH 与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D6DE89-7759-4EEE-B90A-BF038CAAF18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00D63-1C2B-49BB-BC1F-B895DBD370D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19250"/>
          <a:ext cx="10972800" cy="31813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3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在哪里打开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用来做什么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Windows：PowerShell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macOS：终端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输入命令、查看输出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在本机终端执行 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验证身份，连接远程节点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VS Code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在自己的电脑上打开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SSH 编辑远程项目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87C9D46-0DD5-4403-A738-A5DB6C6EF680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连接前：命令在本机执行。连接后：命令在远程节点执行。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42A7C-53B8-4D43-BA09-8AF04D371942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本机显示编辑器界面，远程节点保存代码、编译和运行。</a:t>
            </a:r>
          </a:p>
        </p:txBody>
      </p:sp>
    </p:spTree>
    <p:extLst>
      <p:ext uri="{BB962C8B-B14F-4D97-AF65-F5344CB8AC3E}">
        <p14:creationId xmlns:p14="http://schemas.microsoft.com/office/powerpoint/2010/main" val="82304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D361B4D-10E6-4E14-BD05-023C9D17A48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公钥登录：一对密钥，各有用途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C4E92C-0379-42B7-9ACB-609559AE12B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BF35B-96D9-4895-810E-8A4222D21C3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704975"/>
          <a:ext cx="10972800" cy="2381250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放在哪里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留在自己的电脑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私钥，用于证明身份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id_ed25519.pub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公钥内容添加到 XLab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节点用它验证登录者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34BBDD2-074D-470C-A4F0-4FE1C498FDB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上传 .pub 公钥，私钥不要上传或发给别人。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2DA63-3360-456C-B393-20821C04872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校园统一认证：登录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网站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SSH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Linux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4717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DB8C1B8-A316-44BD-8FCE-AF97297C454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在本机生成 SSH 密钥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ADD2E3-FA24-401A-A492-AA51AF9A9D6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AEDD66-F1CA-4F07-9DCF-628AF0C161C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D9A33-8F31-4909-B7B7-E013610AEC5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12001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D3207-E353-49E5-8A4F-F9274F24469E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10553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-V</a:t>
            </a:r>
          </a:p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ssh-keygen -t ed25519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D83338-2BFB-44AA-8992-F3DE9F6B395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DE2E77-23AB-446E-A45F-E798A02083AE}"/>
              </a:ext>
            </a:extLst>
          </p:cNvPr>
          <p:cNvSpPr>
            <a:spLocks noGrp="1"/>
          </p:cNvSpPr>
          <p:nvPr/>
        </p:nvSpPr>
        <p:spPr>
          <a:xfrm>
            <a:off x="1228725" y="320992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保存位置：没有同名文件时，按 Enter 使用默认路径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5675B-C7B8-469F-8AAD-C9DD10B6BDA3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43C0E4-1D97-4735-A324-089E4349E143}"/>
              </a:ext>
            </a:extLst>
          </p:cNvPr>
          <p:cNvSpPr>
            <a:spLocks noGrp="1"/>
          </p:cNvSpPr>
          <p:nvPr/>
        </p:nvSpPr>
        <p:spPr>
          <a:xfrm>
            <a:off x="1228725" y="40576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若出现 Overwrite：输入 n，保留已有密钥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B5BC68-F4AD-4EC8-8354-FFC478DA7BF8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837AEA-D640-4E3A-A58A-B8AD4D72DCBD}"/>
              </a:ext>
            </a:extLst>
          </p:cNvPr>
          <p:cNvSpPr>
            <a:spLocks noGrp="1"/>
          </p:cNvSpPr>
          <p:nvPr/>
        </p:nvSpPr>
        <p:spPr>
          <a:xfrm>
            <a:off x="1228725" y="49053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提示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设置保护私钥的口令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passphrase，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直接回车（共两次）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6784DD-645B-40E7-A2AF-08F66A0F8140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15CC5"/>
                </a:solidFill>
                <a:latin typeface="Consolas"/>
                <a:ea typeface="Consolas"/>
                <a:cs typeface="Consolas"/>
              </a:rPr>
              <a:t>生成两个文件：~/.ssh/id_ed25519 和 ~/.ssh/id_ed25519.pub</a:t>
            </a:r>
          </a:p>
        </p:txBody>
      </p:sp>
    </p:spTree>
    <p:extLst>
      <p:ext uri="{BB962C8B-B14F-4D97-AF65-F5344CB8AC3E}">
        <p14:creationId xmlns:p14="http://schemas.microsoft.com/office/powerpoint/2010/main" val="9168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86E1CE4-E2B9-42A4-BBFB-37D09EC4C3B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登录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Lab，找到课程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6A7489-691D-4DCC-83E0-47FC73B4DE3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2113C-2DFF-4DFA-9B4C-60A92414DAF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621" y="1428750"/>
            <a:ext cx="5727982" cy="4495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F5FA2A-37E1-42C5-BB09-A59DC7CA9E14}"/>
              </a:ext>
            </a:extLst>
          </p:cNvPr>
          <p:cNvSpPr>
            <a:spLocks noGrp="1"/>
          </p:cNvSpPr>
          <p:nvPr/>
        </p:nvSpPr>
        <p:spPr>
          <a:xfrm>
            <a:off x="7381875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EE1E3-289A-4995-B3FC-7A18CADD2D8B}"/>
              </a:ext>
            </a:extLst>
          </p:cNvPr>
          <p:cNvSpPr>
            <a:spLocks noGrp="1"/>
          </p:cNvSpPr>
          <p:nvPr/>
        </p:nvSpPr>
        <p:spPr>
          <a:xfrm>
            <a:off x="8001000" y="18478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 xlab.pku.edu.cn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A70EAC-600D-402E-9AE1-A4A795B07A26}"/>
              </a:ext>
            </a:extLst>
          </p:cNvPr>
          <p:cNvSpPr>
            <a:spLocks noGrp="1"/>
          </p:cNvSpPr>
          <p:nvPr/>
        </p:nvSpPr>
        <p:spPr>
          <a:xfrm>
            <a:off x="7381875" y="2914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6A110-1B1C-4DD6-B3AB-2E21E9E60EE9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北京大学统一身份认证登录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CE12C-0773-4A7D-8252-1079A2AF9E42}"/>
              </a:ext>
            </a:extLst>
          </p:cNvPr>
          <p:cNvSpPr>
            <a:spLocks noGrp="1"/>
          </p:cNvSpPr>
          <p:nvPr/>
        </p:nvSpPr>
        <p:spPr>
          <a:xfrm>
            <a:off x="7381875" y="3981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28B772-D826-43B8-A064-7EEE21FF2E0E}"/>
              </a:ext>
            </a:extLst>
          </p:cNvPr>
          <p:cNvSpPr>
            <a:spLocks noGrp="1"/>
          </p:cNvSpPr>
          <p:nvPr/>
        </p:nvSpPr>
        <p:spPr>
          <a:xfrm>
            <a:off x="8001000" y="39814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在「我的节点」找到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计算机系统导论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8C556F-D9D6-4EC3-891B-92A9D8FFBC59}"/>
              </a:ext>
            </a:extLst>
          </p:cNvPr>
          <p:cNvSpPr>
            <a:spLocks noGrp="1"/>
          </p:cNvSpPr>
          <p:nvPr/>
        </p:nvSpPr>
        <p:spPr>
          <a:xfrm>
            <a:off x="7381875" y="5391150"/>
            <a:ext cx="4048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看不到课程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向助教确认名单或加入方式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注意：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xLab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autolab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都在校园网内，需要连接校园网或者登录北大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vpn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endParaRPr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468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065FDD3-53BC-441E-B267-B46D0913882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把本机公钥添加到 XLab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81F00-E0A5-43EA-A10E-8D5E5DCEB47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BF6526-3D30-41B8-BE07-D892DE07C6CE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01412"/>
            <a:ext cx="4800600" cy="37029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A73E5A-6BA5-4993-905C-36B6DBECAB76}"/>
              </a:ext>
            </a:extLst>
          </p:cNvPr>
          <p:cNvSpPr>
            <a:spLocks noGrp="1"/>
          </p:cNvSpPr>
          <p:nvPr/>
        </p:nvSpPr>
        <p:spPr>
          <a:xfrm>
            <a:off x="5867400" y="1666875"/>
            <a:ext cx="5572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在本机终端读取公钥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2B87B-9966-4131-B318-BA64E07D5476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569595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3AE797-A74D-4747-A48E-43793029F793}"/>
              </a:ext>
            </a:extLst>
          </p:cNvPr>
          <p:cNvSpPr>
            <a:spLocks noGrp="1"/>
          </p:cNvSpPr>
          <p:nvPr/>
        </p:nvSpPr>
        <p:spPr>
          <a:xfrm>
            <a:off x="6076950" y="25050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cat ~/.ssh/id_ed25519.pub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B9FA7-07BF-4B17-9888-C0CAF6CD0D0B}"/>
              </a:ext>
            </a:extLst>
          </p:cNvPr>
          <p:cNvSpPr>
            <a:spLocks noGrp="1"/>
          </p:cNvSpPr>
          <p:nvPr/>
        </p:nvSpPr>
        <p:spPr>
          <a:xfrm>
            <a:off x="5867400" y="3600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4606D7-1109-4B6A-81BD-0581AE6935B4}"/>
              </a:ext>
            </a:extLst>
          </p:cNvPr>
          <p:cNvSpPr>
            <a:spLocks noGrp="1"/>
          </p:cNvSpPr>
          <p:nvPr/>
        </p:nvSpPr>
        <p:spPr>
          <a:xfrm>
            <a:off x="6486525" y="360045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复制输出的一整行公钥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7700ED-E729-477A-921D-847007B3B38A}"/>
              </a:ext>
            </a:extLst>
          </p:cNvPr>
          <p:cNvSpPr>
            <a:spLocks noGrp="1"/>
          </p:cNvSpPr>
          <p:nvPr/>
        </p:nvSpPr>
        <p:spPr>
          <a:xfrm>
            <a:off x="5867400" y="44291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0AF57-2301-4601-816A-EC6DD9212E9A}"/>
              </a:ext>
            </a:extLst>
          </p:cNvPr>
          <p:cNvSpPr>
            <a:spLocks noGrp="1"/>
          </p:cNvSpPr>
          <p:nvPr/>
        </p:nvSpPr>
        <p:spPr>
          <a:xfrm>
            <a:off x="6486525" y="4429125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右上角账户，填写名称和公钥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149255-A701-4FFF-9147-582AB0238996}"/>
              </a:ext>
            </a:extLst>
          </p:cNvPr>
          <p:cNvSpPr>
            <a:spLocks noGrp="1"/>
          </p:cNvSpPr>
          <p:nvPr/>
        </p:nvSpPr>
        <p:spPr>
          <a:xfrm>
            <a:off x="5867400" y="52578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03F83-83C1-446D-9393-858AB99F47A4}"/>
              </a:ext>
            </a:extLst>
          </p:cNvPr>
          <p:cNvSpPr>
            <a:spLocks noGrp="1"/>
          </p:cNvSpPr>
          <p:nvPr/>
        </p:nvSpPr>
        <p:spPr>
          <a:xfrm>
            <a:off x="6486525" y="525780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点击「添加公钥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163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08E13A-9FC9-4A60-8D71-DCF27A0CD5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新建课程节点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18D66F-5D21-4F01-BE89-49244EB39C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E344E-E3BB-403C-B2A6-5C4436337D9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6483" y="1438275"/>
            <a:ext cx="3630585" cy="47910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1E94F21-48E6-4230-B8AD-DD34F6C342FA}"/>
              </a:ext>
            </a:extLst>
          </p:cNvPr>
          <p:cNvSpPr>
            <a:spLocks noGrp="1"/>
          </p:cNvSpPr>
          <p:nvPr/>
        </p:nvSpPr>
        <p:spPr>
          <a:xfrm>
            <a:off x="5381625" y="16383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A4615-F3A7-41DD-A4CE-10C2093C545E}"/>
              </a:ext>
            </a:extLst>
          </p:cNvPr>
          <p:cNvSpPr>
            <a:spLocks noGrp="1"/>
          </p:cNvSpPr>
          <p:nvPr/>
        </p:nvSpPr>
        <p:spPr>
          <a:xfrm>
            <a:off x="6000750" y="1638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名称：默认 ics-2026-lab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41479-1048-4BCA-A3E6-B7890D256BE5}"/>
              </a:ext>
            </a:extLst>
          </p:cNvPr>
          <p:cNvSpPr>
            <a:spLocks noGrp="1"/>
          </p:cNvSpPr>
          <p:nvPr/>
        </p:nvSpPr>
        <p:spPr>
          <a:xfrm>
            <a:off x="5381625" y="2533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3E616-ECDD-4CEE-BFC4-9271586999E2}"/>
              </a:ext>
            </a:extLst>
          </p:cNvPr>
          <p:cNvSpPr>
            <a:spLocks noGrp="1"/>
          </p:cNvSpPr>
          <p:nvPr/>
        </p:nvSpPr>
        <p:spPr>
          <a:xfrm>
            <a:off x="6000750" y="25336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镜像：选择 ics-2026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47D412-4602-407D-BB5C-C2EA1E766214}"/>
              </a:ext>
            </a:extLst>
          </p:cNvPr>
          <p:cNvSpPr>
            <a:spLocks noGrp="1"/>
          </p:cNvSpPr>
          <p:nvPr/>
        </p:nvSpPr>
        <p:spPr>
          <a:xfrm>
            <a:off x="5381625" y="34290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62D5D7-8AE2-488E-BE20-C5455FE85B7E}"/>
              </a:ext>
            </a:extLst>
          </p:cNvPr>
          <p:cNvSpPr>
            <a:spLocks noGrp="1"/>
          </p:cNvSpPr>
          <p:nvPr/>
        </p:nvSpPr>
        <p:spPr>
          <a:xfrm>
            <a:off x="6000750" y="34290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规格保留默认，数据盘留空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9B00C-F987-44F2-8B2B-8601804E4C78}"/>
              </a:ext>
            </a:extLst>
          </p:cNvPr>
          <p:cNvSpPr>
            <a:spLocks noGrp="1"/>
          </p:cNvSpPr>
          <p:nvPr/>
        </p:nvSpPr>
        <p:spPr>
          <a:xfrm>
            <a:off x="5381625" y="43243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E1196-95BD-44B9-A98A-7F1CB93D209E}"/>
              </a:ext>
            </a:extLst>
          </p:cNvPr>
          <p:cNvSpPr>
            <a:spLocks noGrp="1"/>
          </p:cNvSpPr>
          <p:nvPr/>
        </p:nvSpPr>
        <p:spPr>
          <a:xfrm>
            <a:off x="6000750" y="43243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勾选「立即启动」，等待运行中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3564FC-7016-407A-AF0E-F2FFC9E548CE}"/>
              </a:ext>
            </a:extLst>
          </p:cNvPr>
          <p:cNvSpPr>
            <a:spLocks noGrp="1"/>
          </p:cNvSpPr>
          <p:nvPr/>
        </p:nvSpPr>
        <p:spPr>
          <a:xfrm>
            <a:off x="6000750" y="5467350"/>
            <a:ext cx="5457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账户里已添加的公钥会用于节点登录。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已有节点的同学直接继续连接。</a:t>
            </a:r>
          </a:p>
        </p:txBody>
      </p:sp>
    </p:spTree>
    <p:extLst>
      <p:ext uri="{BB962C8B-B14F-4D97-AF65-F5344CB8AC3E}">
        <p14:creationId xmlns:p14="http://schemas.microsoft.com/office/powerpoint/2010/main" val="177990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1CBDAF6-72BB-42B7-AD08-75EB80143D3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节点卡片：本地连接入口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25D2E5-9518-44F3-864A-62DC68BB9AD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6B7A83-492C-42F0-8D3E-D5B76D2F818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01193"/>
            <a:ext cx="10972800" cy="335081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0206E62-73EB-46FD-BF70-E7E449395D2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复制 SSH 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E24E7D-F364-4570-86F8-3FA1A7D1891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23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粘贴到本机终端，保留自己的端口和用户名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201AE2-6718-4674-9CD9-56E3ADF29AFB}"/>
              </a:ext>
            </a:extLst>
          </p:cNvPr>
          <p:cNvSpPr>
            <a:spLocks noGrp="1"/>
          </p:cNvSpPr>
          <p:nvPr/>
        </p:nvSpPr>
        <p:spPr>
          <a:xfrm>
            <a:off x="6686550" y="5324475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「打开 VS Code」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07955-E8FA-44FA-A6AB-946EBFD31EEA}"/>
              </a:ext>
            </a:extLst>
          </p:cNvPr>
          <p:cNvSpPr>
            <a:spLocks noGrp="1"/>
          </p:cNvSpPr>
          <p:nvPr/>
        </p:nvSpPr>
        <p:spPr>
          <a:xfrm>
            <a:off x="6686550" y="5810250"/>
            <a:ext cx="4714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安装 Remote-SSH 后，打开本地编辑器</a:t>
            </a:r>
          </a:p>
        </p:txBody>
      </p:sp>
    </p:spTree>
    <p:extLst>
      <p:ext uri="{BB962C8B-B14F-4D97-AF65-F5344CB8AC3E}">
        <p14:creationId xmlns:p14="http://schemas.microsoft.com/office/powerpoint/2010/main" val="112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014C86-5676-4B0C-8C1B-246041621AA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从本机终端首次 SSH 登录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8A284F-E8CC-489B-918A-A35E8346693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8628C0-9D95-49B3-84D2-783BC8A91BF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23BF6C-265A-41B8-8671-D87CA9B8E64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 PowerShell / Terminal 粘贴自己的完整命令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07F01D-63A4-4860-819B-36C9C7B74FF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97280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F00B0-1B20-4B36-B05A-C273EDC35BF8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105537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-p &lt;你的端口&gt; &lt;你的用户名&gt;@&lt;课程IP&gt;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698649651"/>
              </p:ext>
            </p:extLst>
          </p:nvPr>
        </p:nvGraphicFramePr>
        <p:xfrm>
          <a:off x="609600" y="3581400"/>
          <a:ext cx="10972800" cy="2305052"/>
        </p:xfrm>
        <a:graphic>
          <a:graphicData uri="http://schemas.openxmlformats.org/drawingml/2006/table">
            <a:tbl>
              <a:tblPr/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首次连接时可能看到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如何处理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Are you sure ...?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yes，按 Enter 继续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passphrase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输入自己给私钥设置的口令（如果设置了，默认是不需要）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出现远程命令提示符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连接成功，可以开始输入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Linux </a:t>
                      </a:r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D9BDC0-EB97-43C9-B915-DC07F3109D5E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85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尖括号表示说明字段。实际操作直接复制自己卡片中的命令。</a:t>
            </a:r>
          </a:p>
        </p:txBody>
      </p:sp>
    </p:spTree>
    <p:extLst>
      <p:ext uri="{BB962C8B-B14F-4D97-AF65-F5344CB8AC3E}">
        <p14:creationId xmlns:p14="http://schemas.microsoft.com/office/powerpoint/2010/main" val="11113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ED216E-ABD7-48E2-92E8-8F96DB3F12A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确认远程位置，创建练习目录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CD400E-DB34-4CB2-94EC-B6CCA3D16C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8C9AD6-7207-4347-80A4-645F5C28FF9D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EDF05-77A0-4315-8381-3177F9AB92D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905625" cy="33909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CD0C5-E8F4-4193-94FC-A5F89E3B454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486525" cy="308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uname -m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mkdir -p ~/ics-2026/xlab-intro-demo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~/ics-2026/xlab-intro-demo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A2389-F43D-428B-B8A4-2E68A8903F94}"/>
              </a:ext>
            </a:extLst>
          </p:cNvPr>
          <p:cNvSpPr>
            <a:spLocks noGrp="1"/>
          </p:cNvSpPr>
          <p:nvPr/>
        </p:nvSpPr>
        <p:spPr>
          <a:xfrm>
            <a:off x="8029575" y="1762125"/>
            <a:ext cx="35528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  当前用户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     当前目录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      文件列表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     切换目录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F6F3F1-5947-4266-8D8D-904B3D0276AE}"/>
              </a:ext>
            </a:extLst>
          </p:cNvPr>
          <p:cNvSpPr>
            <a:spLocks noGrp="1"/>
          </p:cNvSpPr>
          <p:nvPr/>
        </p:nvSpPr>
        <p:spPr>
          <a:xfrm>
            <a:off x="8029575" y="3857625"/>
            <a:ext cx="349567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~  远程家目录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.. 上一级目录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Tab 补全文件名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8D8777-190D-4BB2-8945-F494E7F4AD4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输入 exit 可退出 SSH，回到本机终端。</a:t>
            </a:r>
          </a:p>
        </p:txBody>
      </p:sp>
    </p:spTree>
    <p:extLst>
      <p:ext uri="{BB962C8B-B14F-4D97-AF65-F5344CB8AC3E}">
        <p14:creationId xmlns:p14="http://schemas.microsoft.com/office/powerpoint/2010/main" val="150679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2EE86C-C7B5-459E-9050-4B2E3FCEA67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Code：连接同一个节点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165C68-ACF2-40A6-B956-F64E7E80EDF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976CD-0AB1-4A2B-90A8-91F0B59F48C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2F22D9-552C-4253-BEAB-BA3E36D186E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本机已安装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Code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Microsoft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Remote-SSH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endParaRPr sz="21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EA7CA-9F3B-4B6A-AC03-C147EED95EE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667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F1 打开命令面板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3E05BA-A23A-4775-928B-F5CAD07401A7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F0A0F-7EAD-41BC-9581-EE457DD082B2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Add New SSH Host...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6B3519-67E6-4987-8798-2E47C5AEF27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粘贴刚才成功的完整 ssh 命令，保存到自己的 SSH 配置文件。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03EF6D-764B-45FD-8C4D-7ADECE48AE2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1C105-3297-4639-9636-ABA32C50289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Connect to Host...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802FB-0A72-4870-9CDD-206AFBC59E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选择刚添加的主机。询问远端系统时选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Linux，等待连接完成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后续可以直接网页一键点击打开</a:t>
            </a:r>
            <a:endParaRPr sz="195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6909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9ECD041-8BA9-4CC8-A81E-54CDFE67AD4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的工作目录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672E79-CE11-4A98-8B3C-A7CA9E1A8C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975A2C-E39E-4E9F-8CFA-FB08ED0F9A1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ECD158-BFE0-49F9-BF5B-E78732E8F4F7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打开文件夹，就是把这个目录作为项目范围。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1D019-FC55-4104-8F9E-25C5110A314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文件列表、搜索和项目配置围绕这个目录，相关文件放在一起。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D6A9-F360-4C46-8770-237AB97533EC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XLab 默认打开课程目录：~/ics-2026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F64E5-C707-4375-A01B-E7C79F32C63C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便于组织课程实验，也避免编辑器索引整个家目录。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237B3-659B-48E3-80CE-B1C4266A62CB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卡片「目录」→「更改…」→ 进入练习目录 →「在此打开」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B2F22C-6CA1-479F-B035-80392EB9EC80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保存后，再点「打开 VS Code」；该节点会记住选定的目录。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8854FE-E178-4BD0-A1DE-FDD3013E3DAF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手动 Remote-SSH：连接后用 File &gt; Open Folder 打开远程练习目录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380F7D-DD9F-4665-95CC-295799BEECF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905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F03A87-8772-468F-9BA2-7EED1F34B7C1}"/>
              </a:ext>
            </a:extLst>
          </p:cNvPr>
          <p:cNvSpPr>
            <a:spLocks noGrp="1"/>
          </p:cNvSpPr>
          <p:nvPr/>
        </p:nvSpPr>
        <p:spPr>
          <a:xfrm>
            <a:off x="819150" y="5981700"/>
            <a:ext cx="10553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/home/&lt;你的用户名&gt;/ics-2026/xlab-intro-demo</a:t>
            </a:r>
          </a:p>
        </p:txBody>
      </p:sp>
    </p:spTree>
    <p:extLst>
      <p:ext uri="{BB962C8B-B14F-4D97-AF65-F5344CB8AC3E}">
        <p14:creationId xmlns:p14="http://schemas.microsoft.com/office/powerpoint/2010/main" val="201754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CB9E40E-6C1D-4054-8A79-A11A6288C26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在本地 VS Code 编辑 hello.c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5CCFF-A973-4B36-ADA4-11D4770DCBD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202EE-EDB7-4D19-86AD-C88F8000C54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67D3D9-CC6D-46E7-AAB3-1512AE29044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7143750" cy="33051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685D34-4D9A-4985-99D6-8992052F4D88}"/>
              </a:ext>
            </a:extLst>
          </p:cNvPr>
          <p:cNvSpPr>
            <a:spLocks noGrp="1"/>
          </p:cNvSpPr>
          <p:nvPr/>
        </p:nvSpPr>
        <p:spPr>
          <a:xfrm>
            <a:off x="819150" y="1895475"/>
            <a:ext cx="67246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#include &lt;stdio.h&gt;</a:t>
            </a:r>
          </a:p>
          <a:p>
            <a:endParaRPr sz="2325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printf("Hello, ICS!\n");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9B87BC-1D2F-4A56-B886-15AC8639989B}"/>
              </a:ext>
            </a:extLst>
          </p:cNvPr>
          <p:cNvSpPr>
            <a:spLocks noGrp="1"/>
          </p:cNvSpPr>
          <p:nvPr/>
        </p:nvSpPr>
        <p:spPr>
          <a:xfrm>
            <a:off x="8239125" y="18669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100AB9-85C2-44DA-B5F3-F9804D92F933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Explorer 中新建 hello.c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13FDE9-FD2E-45F1-8EEF-21EB4D8560DD}"/>
              </a:ext>
            </a:extLst>
          </p:cNvPr>
          <p:cNvSpPr>
            <a:spLocks noGrp="1"/>
          </p:cNvSpPr>
          <p:nvPr/>
        </p:nvSpPr>
        <p:spPr>
          <a:xfrm>
            <a:off x="8239125" y="30765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BB2C68-6109-4163-97D9-2CA39D984220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输入代码并保存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8FC86-A76D-4B85-81DB-BF223FEF5EB2}"/>
              </a:ext>
            </a:extLst>
          </p:cNvPr>
          <p:cNvSpPr>
            <a:spLocks noGrp="1"/>
          </p:cNvSpPr>
          <p:nvPr/>
        </p:nvSpPr>
        <p:spPr>
          <a:xfrm>
            <a:off x="8239125" y="42862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5CD250-7E34-45AD-BFB0-AC21F2220AB3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确认文件位于远程项目目录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3AC04F-265E-45C8-86BE-EAA53AAFC500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保存：Ctrl+S（Windows / Linux）  或  Cmd+S（macOS）</a:t>
            </a:r>
          </a:p>
        </p:txBody>
      </p:sp>
    </p:spTree>
    <p:extLst>
      <p:ext uri="{BB962C8B-B14F-4D97-AF65-F5344CB8AC3E}">
        <p14:creationId xmlns:p14="http://schemas.microsoft.com/office/powerpoint/2010/main" val="212028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0F8235A-AFB6-4741-8EA2-15F1DB4507D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在远程终端编译并运行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B57CE-4736-4BE2-B0E6-27DFB4CBF0E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55C48-F50C-423C-9A76-7767DB774C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BAAEA-3C22-4EAD-BC46-E7F128E913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菜单：Terminal &gt; New Terminal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54C06F-14F7-4F85-B5FA-45EEE8C3428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972800" cy="20002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F217B-80E5-4840-AE9C-07E99D9408C3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05537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gcc -Wall -Wextra hello.c -o hello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./hello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2FF0C7-7ADF-41A4-BABB-F5CCAF162907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预期输出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0E41B-5248-4466-9273-1CBA5A7ECCB4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5238750" cy="7905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F3FAA6-9415-4506-9342-5E9108E185C1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8196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Hello, ICS!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D9D78A-EA20-4184-900D-1F087D962EA2}"/>
              </a:ext>
            </a:extLst>
          </p:cNvPr>
          <p:cNvSpPr>
            <a:spLocks noGrp="1"/>
          </p:cNvSpPr>
          <p:nvPr/>
        </p:nvSpPr>
        <p:spPr>
          <a:xfrm>
            <a:off x="6600825" y="5124450"/>
            <a:ext cx="4905375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修改问候语后，保存、重新编译，</a:t>
            </a:r>
          </a:p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再运行一次，观察输出变化。</a:t>
            </a:r>
          </a:p>
        </p:txBody>
      </p:sp>
    </p:spTree>
    <p:extLst>
      <p:ext uri="{BB962C8B-B14F-4D97-AF65-F5344CB8AC3E}">
        <p14:creationId xmlns:p14="http://schemas.microsoft.com/office/powerpoint/2010/main" val="22122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A2F961E-669E-4FB0-8324-2C9F3A75EFB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保存文件，下次继续连接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E7CDBD-E87D-4DC9-8D9B-83D5F5895DB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6D2D9-B23A-413E-9809-8E4CD727799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57350"/>
          <a:ext cx="10972800" cy="3105150"/>
        </p:xfrm>
        <a:graphic>
          <a:graphicData uri="http://schemas.openxmlformats.org/drawingml/2006/table">
            <a:tbl>
              <a:tblPr/>
              <a:tblGrid>
                <a:gridCol w="3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操作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记住什么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~/ics-2026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保存个人代码，重置节点后保留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/lec 与 /lec/submit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课程资料与个人收集目录，提交按课程要求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exit / 关闭远程连接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结束连接，已保存的文件仍在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 / 重置节点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停止会终止进程，重置会恢复系统盘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CFBB2E0-FE6B-434C-8E93-43876A1FA429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下次用本地 SSH 或 VS Code Remote-SSH 连接原来的节点。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2DFD9C-F6E6-4A7F-9EF7-1C4191FCE56D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重要代码自己另存副本。平台没有用户备份和快照。</a:t>
            </a:r>
          </a:p>
        </p:txBody>
      </p:sp>
    </p:spTree>
    <p:extLst>
      <p:ext uri="{BB962C8B-B14F-4D97-AF65-F5344CB8AC3E}">
        <p14:creationId xmlns:p14="http://schemas.microsoft.com/office/powerpoint/2010/main" val="78030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D8BA978-6CEB-4060-92AD-73FA6DE43D9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完成检查：试用本地连接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178AD-BC06-45CF-8858-C2A48E2C539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2EEDA7-6BB2-4A36-993F-B7CDF1B7ED2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6CDF0-60B1-4911-ACE1-11E302926182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30675-78FB-43B6-A316-A18083A06DDE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 SSH 能登录自己的节点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9258C8-DBC3-4877-A82F-D6373B8AEF24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5CD551-F7A4-4A56-9A31-626665B6542A}"/>
              </a:ext>
            </a:extLst>
          </p:cNvPr>
          <p:cNvSpPr>
            <a:spLocks noGrp="1"/>
          </p:cNvSpPr>
          <p:nvPr/>
        </p:nvSpPr>
        <p:spPr>
          <a:xfrm>
            <a:off x="1228725" y="29241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 VS Code 左下角显示 SSH 连接状态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5E8140-605E-4381-B0AC-AEF7A13533B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F9922-05D6-4C7A-B00A-5983BE4CBDC2}"/>
              </a:ext>
            </a:extLst>
          </p:cNvPr>
          <p:cNvSpPr>
            <a:spLocks noGrp="1"/>
          </p:cNvSpPr>
          <p:nvPr/>
        </p:nvSpPr>
        <p:spPr>
          <a:xfrm>
            <a:off x="1228725" y="400050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远程项目中有 hello.c，程序输出 Hello, ICS!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8C2C-FF83-4794-8C4C-71C6C06712B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108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求助时提供：完整命令、错误文本、当前处于本机还是远程。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777784-7477-42C2-919E-43476A39CB2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4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2F0B6A9-51F4-4086-8EA8-749605F7D2E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附录：网页工具与临时替代入口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E4DCAB-96EC-432A-96FC-B762959BFB3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F0DB2D-D386-4729-87AB-7694408F470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433173"/>
            <a:ext cx="8229600" cy="275365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4509866-7601-4D12-8541-0BBC7450E327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网页终端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直接输入远程命令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0081A-FF9E-4C1E-A416-8F2AFAFFCF20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33362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在浏览器打开 VS Code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编辑远程文件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F16EE4-2D65-4943-B3F5-07181FAFED8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与本地连接访问同一节点、同一项目。随后继续完成本地连接练习。</a:t>
            </a:r>
          </a:p>
        </p:txBody>
      </p:sp>
    </p:spTree>
    <p:extLst>
      <p:ext uri="{BB962C8B-B14F-4D97-AF65-F5344CB8AC3E}">
        <p14:creationId xmlns:p14="http://schemas.microsoft.com/office/powerpoint/2010/main" val="19410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15236BE-C50B-49AC-854D-41488A149EF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附录：先排 SSH，再排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AA74F-0F52-4312-9002-669C7FB8A3F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6AC943-84E4-44FB-BC02-701529A3C1D0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638300"/>
          <a:ext cx="10972800" cy="3324228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0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ssh 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本机是否安装 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timed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校园网络、自己的 IP / 端口、节点状态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Permission denied (publickey)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用户名、公钥是否同步、是否使用对应私钥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主机密钥变化警告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先向助教核实，不直接关闭主机校验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成功，VS Code 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扩展、输出日志、Server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E0B6CF-3896-4525-9E7F-E6A35450C913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使用非默认密钥时，在连接命令中指定实际私钥路径：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BFBF4E-8DC9-42C4-ADC6-39B76F9FE62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6096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5870E5-CB37-4DE3-9E3E-2CDBF0193EF6}"/>
              </a:ext>
            </a:extLst>
          </p:cNvPr>
          <p:cNvSpPr>
            <a:spLocks noGrp="1"/>
          </p:cNvSpPr>
          <p:nvPr/>
        </p:nvSpPr>
        <p:spPr>
          <a:xfrm>
            <a:off x="819150" y="5953125"/>
            <a:ext cx="10553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-i &lt;私钥路径&gt; -p &lt;端口&gt; &lt;用户名&gt;@&lt;课程IP&gt;</a:t>
            </a:r>
          </a:p>
        </p:txBody>
      </p:sp>
    </p:spTree>
    <p:extLst>
      <p:ext uri="{BB962C8B-B14F-4D97-AF65-F5344CB8AC3E}">
        <p14:creationId xmlns:p14="http://schemas.microsoft.com/office/powerpoint/2010/main" val="1607643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816</Words>
  <Application>Microsoft Macintosh PowerPoint</Application>
  <DocSecurity>0</DocSecurity>
  <PresentationFormat>宽屏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远航 孙</cp:lastModifiedBy>
  <cp:revision>33</cp:revision>
  <dcterms:created xsi:type="dcterms:W3CDTF">2026-09-12T21:49:48Z</dcterms:created>
  <dcterms:modified xsi:type="dcterms:W3CDTF">2026-09-13T04:01:56Z</dcterms:modified>
</cp:coreProperties>
</file>